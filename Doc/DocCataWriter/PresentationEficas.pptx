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50" r:id="rId2"/>
    <p:sldMasterId id="2147483674" r:id="rId3"/>
  </p:sldMasterIdLst>
  <p:notesMasterIdLst>
    <p:notesMasterId r:id="rId48"/>
  </p:notesMasterIdLst>
  <p:sldIdLst>
    <p:sldId id="308" r:id="rId4"/>
    <p:sldId id="256" r:id="rId5"/>
    <p:sldId id="356" r:id="rId6"/>
    <p:sldId id="361" r:id="rId7"/>
    <p:sldId id="357" r:id="rId8"/>
    <p:sldId id="358" r:id="rId9"/>
    <p:sldId id="359" r:id="rId10"/>
    <p:sldId id="351" r:id="rId11"/>
    <p:sldId id="354" r:id="rId12"/>
    <p:sldId id="362" r:id="rId13"/>
    <p:sldId id="363" r:id="rId14"/>
    <p:sldId id="364" r:id="rId15"/>
    <p:sldId id="371" r:id="rId16"/>
    <p:sldId id="372" r:id="rId17"/>
    <p:sldId id="373" r:id="rId18"/>
    <p:sldId id="374" r:id="rId19"/>
    <p:sldId id="375" r:id="rId20"/>
    <p:sldId id="379" r:id="rId21"/>
    <p:sldId id="378" r:id="rId22"/>
    <p:sldId id="377" r:id="rId23"/>
    <p:sldId id="352" r:id="rId24"/>
    <p:sldId id="353" r:id="rId25"/>
    <p:sldId id="268" r:id="rId26"/>
    <p:sldId id="266" r:id="rId27"/>
    <p:sldId id="267" r:id="rId28"/>
    <p:sldId id="310" r:id="rId29"/>
    <p:sldId id="309" r:id="rId30"/>
    <p:sldId id="314" r:id="rId31"/>
    <p:sldId id="311" r:id="rId32"/>
    <p:sldId id="335" r:id="rId33"/>
    <p:sldId id="336" r:id="rId34"/>
    <p:sldId id="315" r:id="rId35"/>
    <p:sldId id="345" r:id="rId36"/>
    <p:sldId id="327" r:id="rId37"/>
    <p:sldId id="328" r:id="rId38"/>
    <p:sldId id="337" r:id="rId39"/>
    <p:sldId id="329" r:id="rId40"/>
    <p:sldId id="344" r:id="rId41"/>
    <p:sldId id="343" r:id="rId42"/>
    <p:sldId id="346" r:id="rId43"/>
    <p:sldId id="342" r:id="rId44"/>
    <p:sldId id="347" r:id="rId45"/>
    <p:sldId id="313" r:id="rId46"/>
    <p:sldId id="340" r:id="rId47"/>
  </p:sldIdLst>
  <p:sldSz cx="9144000" cy="6858000" type="screen4x3"/>
  <p:notesSz cx="7559675" cy="10691813"/>
  <p:defaultTextStyle>
    <a:defPPr>
      <a:defRPr lang="en-GB"/>
    </a:defPPr>
    <a:lvl1pPr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DADEB"/>
    <a:srgbClr val="DADAF6"/>
    <a:srgbClr val="0070C0"/>
    <a:srgbClr val="BAE6FF"/>
    <a:srgbClr val="451900"/>
    <a:srgbClr val="8FDFFF"/>
    <a:srgbClr val="E7F6FF"/>
    <a:srgbClr val="EEFFCC"/>
    <a:srgbClr val="F1F2DA"/>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2F4DEF-C184-43A5-A413-A8FBF2991739}" v="470" dt="2020-08-24T14:21:28.842"/>
    <p1510:client id="{2A34DBEA-E519-4787-7EF2-B95D9AA504B8}" v="8" dt="2020-08-27T12:14:54.624"/>
    <p1510:client id="{899445CB-04F0-41EF-9E76-E679D0030C7A}" v="103" dt="2020-08-24T14:16:53.119"/>
    <p1510:client id="{985CB2AE-32BC-4A8D-893B-67D56D853B39}" v="205" dt="2020-08-25T15:06:05.674"/>
    <p1510:client id="{C0104E80-543F-43A0-2E21-3E83EE2BE64E}" v="3" dt="2020-08-27T08:41:10.949"/>
    <p1510:client id="{C6945E7A-FAB2-468E-8F0B-2FFEC5FACB15}" v="18" dt="2020-08-25T07:30:17.175"/>
    <p1510:client id="{E858F8E6-2121-451B-B290-E84E7A832607}" v="24" dt="2020-08-25T14:35:34.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43" autoAdjust="0"/>
    <p:restoredTop sz="94660" autoAdjust="0"/>
  </p:normalViewPr>
  <p:slideViewPr>
    <p:cSldViewPr snapToGrid="0">
      <p:cViewPr varScale="1">
        <p:scale>
          <a:sx n="82" d="100"/>
          <a:sy n="82" d="100"/>
        </p:scale>
        <p:origin x="1704" y="2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YOLLE Eric" userId="S::eric.fayolle@edf.fr::eb4260e9-6060-4c0b-922d-c72c0c6afe3e" providerId="AD" clId="Web-{252F4DEF-C184-43A5-A413-A8FBF2991739}"/>
    <pc:docChg chg="modSld">
      <pc:chgData name="FAYOLLE Eric" userId="S::eric.fayolle@edf.fr::eb4260e9-6060-4c0b-922d-c72c0c6afe3e" providerId="AD" clId="Web-{252F4DEF-C184-43A5-A413-A8FBF2991739}" dt="2020-08-24T14:21:28.842" v="466" actId="14100"/>
      <pc:docMkLst>
        <pc:docMk/>
      </pc:docMkLst>
      <pc:sldChg chg="modSp">
        <pc:chgData name="FAYOLLE Eric" userId="S::eric.fayolle@edf.fr::eb4260e9-6060-4c0b-922d-c72c0c6afe3e" providerId="AD" clId="Web-{252F4DEF-C184-43A5-A413-A8FBF2991739}" dt="2020-08-24T13:56:56.864" v="106" actId="20577"/>
        <pc:sldMkLst>
          <pc:docMk/>
          <pc:sldMk cId="0" sldId="257"/>
        </pc:sldMkLst>
        <pc:spChg chg="mod">
          <ac:chgData name="FAYOLLE Eric" userId="S::eric.fayolle@edf.fr::eb4260e9-6060-4c0b-922d-c72c0c6afe3e" providerId="AD" clId="Web-{252F4DEF-C184-43A5-A413-A8FBF2991739}" dt="2020-08-24T13:56:56.864" v="106" actId="20577"/>
          <ac:spMkLst>
            <pc:docMk/>
            <pc:sldMk cId="0" sldId="257"/>
            <ac:spMk id="16389" creationId="{00000000-0000-0000-0000-000000000000}"/>
          </ac:spMkLst>
        </pc:spChg>
      </pc:sldChg>
      <pc:sldChg chg="modSp">
        <pc:chgData name="FAYOLLE Eric" userId="S::eric.fayolle@edf.fr::eb4260e9-6060-4c0b-922d-c72c0c6afe3e" providerId="AD" clId="Web-{252F4DEF-C184-43A5-A413-A8FBF2991739}" dt="2020-08-24T13:55:35.644" v="75" actId="20577"/>
        <pc:sldMkLst>
          <pc:docMk/>
          <pc:sldMk cId="0" sldId="265"/>
        </pc:sldMkLst>
        <pc:spChg chg="mod">
          <ac:chgData name="FAYOLLE Eric" userId="S::eric.fayolle@edf.fr::eb4260e9-6060-4c0b-922d-c72c0c6afe3e" providerId="AD" clId="Web-{252F4DEF-C184-43A5-A413-A8FBF2991739}" dt="2020-08-24T13:55:35.644" v="75" actId="20577"/>
          <ac:spMkLst>
            <pc:docMk/>
            <pc:sldMk cId="0" sldId="265"/>
            <ac:spMk id="6147" creationId="{00000000-0000-0000-0000-000000000000}"/>
          </ac:spMkLst>
        </pc:spChg>
      </pc:sldChg>
      <pc:sldChg chg="modSp">
        <pc:chgData name="FAYOLLE Eric" userId="S::eric.fayolle@edf.fr::eb4260e9-6060-4c0b-922d-c72c0c6afe3e" providerId="AD" clId="Web-{252F4DEF-C184-43A5-A413-A8FBF2991739}" dt="2020-08-24T14:12:33.520" v="419" actId="20577"/>
        <pc:sldMkLst>
          <pc:docMk/>
          <pc:sldMk cId="2225221604" sldId="309"/>
        </pc:sldMkLst>
        <pc:spChg chg="mod">
          <ac:chgData name="FAYOLLE Eric" userId="S::eric.fayolle@edf.fr::eb4260e9-6060-4c0b-922d-c72c0c6afe3e" providerId="AD" clId="Web-{252F4DEF-C184-43A5-A413-A8FBF2991739}" dt="2020-08-24T14:12:33.520" v="419" actId="20577"/>
          <ac:spMkLst>
            <pc:docMk/>
            <pc:sldMk cId="2225221604" sldId="309"/>
            <ac:spMk id="6147" creationId="{00000000-0000-0000-0000-000000000000}"/>
          </ac:spMkLst>
        </pc:spChg>
      </pc:sldChg>
      <pc:sldChg chg="modSp">
        <pc:chgData name="FAYOLLE Eric" userId="S::eric.fayolle@edf.fr::eb4260e9-6060-4c0b-922d-c72c0c6afe3e" providerId="AD" clId="Web-{252F4DEF-C184-43A5-A413-A8FBF2991739}" dt="2020-08-24T14:15:48.711" v="432" actId="20577"/>
        <pc:sldMkLst>
          <pc:docMk/>
          <pc:sldMk cId="2646412910" sldId="310"/>
        </pc:sldMkLst>
        <pc:spChg chg="mod">
          <ac:chgData name="FAYOLLE Eric" userId="S::eric.fayolle@edf.fr::eb4260e9-6060-4c0b-922d-c72c0c6afe3e" providerId="AD" clId="Web-{252F4DEF-C184-43A5-A413-A8FBF2991739}" dt="2020-08-24T14:15:48.711" v="432" actId="20577"/>
          <ac:spMkLst>
            <pc:docMk/>
            <pc:sldMk cId="2646412910" sldId="310"/>
            <ac:spMk id="8194" creationId="{00000000-0000-0000-0000-000000000000}"/>
          </ac:spMkLst>
        </pc:spChg>
      </pc:sldChg>
      <pc:sldChg chg="modSp">
        <pc:chgData name="FAYOLLE Eric" userId="S::eric.fayolle@edf.fr::eb4260e9-6060-4c0b-922d-c72c0c6afe3e" providerId="AD" clId="Web-{252F4DEF-C184-43A5-A413-A8FBF2991739}" dt="2020-08-24T14:20:55.904" v="465" actId="20577"/>
        <pc:sldMkLst>
          <pc:docMk/>
          <pc:sldMk cId="554761310" sldId="311"/>
        </pc:sldMkLst>
        <pc:spChg chg="mod">
          <ac:chgData name="FAYOLLE Eric" userId="S::eric.fayolle@edf.fr::eb4260e9-6060-4c0b-922d-c72c0c6afe3e" providerId="AD" clId="Web-{252F4DEF-C184-43A5-A413-A8FBF2991739}" dt="2020-08-24T14:20:55.904" v="465" actId="20577"/>
          <ac:spMkLst>
            <pc:docMk/>
            <pc:sldMk cId="554761310" sldId="311"/>
            <ac:spMk id="6147" creationId="{00000000-0000-0000-0000-000000000000}"/>
          </ac:spMkLst>
        </pc:spChg>
      </pc:sldChg>
      <pc:sldChg chg="modSp">
        <pc:chgData name="FAYOLLE Eric" userId="S::eric.fayolle@edf.fr::eb4260e9-6060-4c0b-922d-c72c0c6afe3e" providerId="AD" clId="Web-{252F4DEF-C184-43A5-A413-A8FBF2991739}" dt="2020-08-24T14:21:28.842" v="466" actId="14100"/>
        <pc:sldMkLst>
          <pc:docMk/>
          <pc:sldMk cId="2840274023" sldId="313"/>
        </pc:sldMkLst>
        <pc:spChg chg="mod">
          <ac:chgData name="FAYOLLE Eric" userId="S::eric.fayolle@edf.fr::eb4260e9-6060-4c0b-922d-c72c0c6afe3e" providerId="AD" clId="Web-{252F4DEF-C184-43A5-A413-A8FBF2991739}" dt="2020-08-24T14:21:28.842" v="466" actId="14100"/>
          <ac:spMkLst>
            <pc:docMk/>
            <pc:sldMk cId="2840274023" sldId="313"/>
            <ac:spMk id="65" creationId="{00000000-0000-0000-0000-000000000000}"/>
          </ac:spMkLst>
        </pc:spChg>
      </pc:sldChg>
      <pc:sldChg chg="modSp">
        <pc:chgData name="FAYOLLE Eric" userId="S::eric.fayolle@edf.fr::eb4260e9-6060-4c0b-922d-c72c0c6afe3e" providerId="AD" clId="Web-{252F4DEF-C184-43A5-A413-A8FBF2991739}" dt="2020-08-24T14:15:31.227" v="425" actId="20577"/>
        <pc:sldMkLst>
          <pc:docMk/>
          <pc:sldMk cId="512479267" sldId="314"/>
        </pc:sldMkLst>
        <pc:spChg chg="mod">
          <ac:chgData name="FAYOLLE Eric" userId="S::eric.fayolle@edf.fr::eb4260e9-6060-4c0b-922d-c72c0c6afe3e" providerId="AD" clId="Web-{252F4DEF-C184-43A5-A413-A8FBF2991739}" dt="2020-08-24T14:15:31.227" v="425" actId="20577"/>
          <ac:spMkLst>
            <pc:docMk/>
            <pc:sldMk cId="512479267" sldId="314"/>
            <ac:spMk id="18435" creationId="{00000000-0000-0000-0000-000000000000}"/>
          </ac:spMkLst>
        </pc:spChg>
      </pc:sldChg>
    </pc:docChg>
  </pc:docChgLst>
  <pc:docChgLst>
    <pc:chgData name="NOYRET Pascale" userId="S::pascale.noyret@edf.fr::7c6b93f9-8085-44fb-a784-ff9be5b7a1bc" providerId="AD" clId="Web-{C6945E7A-FAB2-468E-8F0B-2FFEC5FACB15}"/>
    <pc:docChg chg="addSld delSld modSld sldOrd">
      <pc:chgData name="NOYRET Pascale" userId="S::pascale.noyret@edf.fr::7c6b93f9-8085-44fb-a784-ff9be5b7a1bc" providerId="AD" clId="Web-{C6945E7A-FAB2-468E-8F0B-2FFEC5FACB15}" dt="2020-08-25T07:30:17.143" v="16" actId="1076"/>
      <pc:docMkLst>
        <pc:docMk/>
      </pc:docMkLst>
      <pc:sldChg chg="ord">
        <pc:chgData name="NOYRET Pascale" userId="S::pascale.noyret@edf.fr::7c6b93f9-8085-44fb-a784-ff9be5b7a1bc" providerId="AD" clId="Web-{C6945E7A-FAB2-468E-8F0B-2FFEC5FACB15}" dt="2020-08-25T07:28:40.238" v="1"/>
        <pc:sldMkLst>
          <pc:docMk/>
          <pc:sldMk cId="1473577521" sldId="315"/>
        </pc:sldMkLst>
      </pc:sldChg>
      <pc:sldChg chg="delSp modSp">
        <pc:chgData name="NOYRET Pascale" userId="S::pascale.noyret@edf.fr::7c6b93f9-8085-44fb-a784-ff9be5b7a1bc" providerId="AD" clId="Web-{C6945E7A-FAB2-468E-8F0B-2FFEC5FACB15}" dt="2020-08-25T07:30:17.143" v="16" actId="1076"/>
        <pc:sldMkLst>
          <pc:docMk/>
          <pc:sldMk cId="207752666" sldId="326"/>
        </pc:sldMkLst>
        <pc:spChg chg="mod">
          <ac:chgData name="NOYRET Pascale" userId="S::pascale.noyret@edf.fr::7c6b93f9-8085-44fb-a784-ff9be5b7a1bc" providerId="AD" clId="Web-{C6945E7A-FAB2-468E-8F0B-2FFEC5FACB15}" dt="2020-08-25T07:28:49.612" v="3" actId="20577"/>
          <ac:spMkLst>
            <pc:docMk/>
            <pc:sldMk cId="207752666" sldId="326"/>
            <ac:spMk id="16" creationId="{00000000-0000-0000-0000-000000000000}"/>
          </ac:spMkLst>
        </pc:spChg>
        <pc:spChg chg="mod">
          <ac:chgData name="NOYRET Pascale" userId="S::pascale.noyret@edf.fr::7c6b93f9-8085-44fb-a784-ff9be5b7a1bc" providerId="AD" clId="Web-{C6945E7A-FAB2-468E-8F0B-2FFEC5FACB15}" dt="2020-08-25T07:30:17.143" v="16" actId="1076"/>
          <ac:spMkLst>
            <pc:docMk/>
            <pc:sldMk cId="207752666" sldId="326"/>
            <ac:spMk id="18" creationId="{00000000-0000-0000-0000-000000000000}"/>
          </ac:spMkLst>
        </pc:spChg>
        <pc:spChg chg="del mod">
          <ac:chgData name="NOYRET Pascale" userId="S::pascale.noyret@edf.fr::7c6b93f9-8085-44fb-a784-ff9be5b7a1bc" providerId="AD" clId="Web-{C6945E7A-FAB2-468E-8F0B-2FFEC5FACB15}" dt="2020-08-25T07:28:55.566" v="8"/>
          <ac:spMkLst>
            <pc:docMk/>
            <pc:sldMk cId="207752666" sldId="326"/>
            <ac:spMk id="28" creationId="{00000000-0000-0000-0000-000000000000}"/>
          </ac:spMkLst>
        </pc:spChg>
        <pc:grpChg chg="mod">
          <ac:chgData name="NOYRET Pascale" userId="S::pascale.noyret@edf.fr::7c6b93f9-8085-44fb-a784-ff9be5b7a1bc" providerId="AD" clId="Web-{C6945E7A-FAB2-468E-8F0B-2FFEC5FACB15}" dt="2020-08-25T07:29:09.878" v="10" actId="1076"/>
          <ac:grpSpMkLst>
            <pc:docMk/>
            <pc:sldMk cId="207752666" sldId="326"/>
            <ac:grpSpMk id="17" creationId="{00000000-0000-0000-0000-000000000000}"/>
          </ac:grpSpMkLst>
        </pc:grpChg>
      </pc:sldChg>
      <pc:sldChg chg="add replId">
        <pc:chgData name="NOYRET Pascale" userId="S::pascale.noyret@edf.fr::7c6b93f9-8085-44fb-a784-ff9be5b7a1bc" providerId="AD" clId="Web-{C6945E7A-FAB2-468E-8F0B-2FFEC5FACB15}" dt="2020-08-25T07:28:29.441" v="0"/>
        <pc:sldMkLst>
          <pc:docMk/>
          <pc:sldMk cId="862152267" sldId="335"/>
        </pc:sldMkLst>
      </pc:sldChg>
      <pc:sldChg chg="add del replId">
        <pc:chgData name="NOYRET Pascale" userId="S::pascale.noyret@edf.fr::7c6b93f9-8085-44fb-a784-ff9be5b7a1bc" providerId="AD" clId="Web-{C6945E7A-FAB2-468E-8F0B-2FFEC5FACB15}" dt="2020-08-25T07:29:58.597" v="14"/>
        <pc:sldMkLst>
          <pc:docMk/>
          <pc:sldMk cId="3661346670" sldId="336"/>
        </pc:sldMkLst>
      </pc:sldChg>
      <pc:sldChg chg="add del replId">
        <pc:chgData name="NOYRET Pascale" userId="S::pascale.noyret@edf.fr::7c6b93f9-8085-44fb-a784-ff9be5b7a1bc" providerId="AD" clId="Web-{C6945E7A-FAB2-468E-8F0B-2FFEC5FACB15}" dt="2020-08-25T07:29:54.175" v="13"/>
        <pc:sldMkLst>
          <pc:docMk/>
          <pc:sldMk cId="1531465760" sldId="337"/>
        </pc:sldMkLst>
      </pc:sldChg>
    </pc:docChg>
  </pc:docChgLst>
  <pc:docChgLst>
    <pc:chgData name="FAYOLLE Eric" userId="S::eric.fayolle@edf.fr::eb4260e9-6060-4c0b-922d-c72c0c6afe3e" providerId="AD" clId="Web-{E858F8E6-2121-451B-B290-E84E7A832607}"/>
    <pc:docChg chg="modSld">
      <pc:chgData name="FAYOLLE Eric" userId="S::eric.fayolle@edf.fr::eb4260e9-6060-4c0b-922d-c72c0c6afe3e" providerId="AD" clId="Web-{E858F8E6-2121-451B-B290-E84E7A832607}" dt="2020-08-25T14:35:34.868" v="21" actId="14100"/>
      <pc:docMkLst>
        <pc:docMk/>
      </pc:docMkLst>
      <pc:sldChg chg="modSp">
        <pc:chgData name="FAYOLLE Eric" userId="S::eric.fayolle@edf.fr::eb4260e9-6060-4c0b-922d-c72c0c6afe3e" providerId="AD" clId="Web-{E858F8E6-2121-451B-B290-E84E7A832607}" dt="2020-08-25T14:34:35.054" v="19" actId="20577"/>
        <pc:sldMkLst>
          <pc:docMk/>
          <pc:sldMk cId="2969051749" sldId="327"/>
        </pc:sldMkLst>
        <pc:spChg chg="mod">
          <ac:chgData name="FAYOLLE Eric" userId="S::eric.fayolle@edf.fr::eb4260e9-6060-4c0b-922d-c72c0c6afe3e" providerId="AD" clId="Web-{E858F8E6-2121-451B-B290-E84E7A832607}" dt="2020-08-25T14:34:35.054" v="19" actId="20577"/>
          <ac:spMkLst>
            <pc:docMk/>
            <pc:sldMk cId="2969051749" sldId="327"/>
            <ac:spMk id="10" creationId="{00000000-0000-0000-0000-000000000000}"/>
          </ac:spMkLst>
        </pc:spChg>
      </pc:sldChg>
      <pc:sldChg chg="modSp">
        <pc:chgData name="FAYOLLE Eric" userId="S::eric.fayolle@edf.fr::eb4260e9-6060-4c0b-922d-c72c0c6afe3e" providerId="AD" clId="Web-{E858F8E6-2121-451B-B290-E84E7A832607}" dt="2020-08-25T14:35:34.868" v="21" actId="14100"/>
        <pc:sldMkLst>
          <pc:docMk/>
          <pc:sldMk cId="929971369" sldId="329"/>
        </pc:sldMkLst>
        <pc:spChg chg="mod">
          <ac:chgData name="FAYOLLE Eric" userId="S::eric.fayolle@edf.fr::eb4260e9-6060-4c0b-922d-c72c0c6afe3e" providerId="AD" clId="Web-{E858F8E6-2121-451B-B290-E84E7A832607}" dt="2020-08-25T14:35:34.868" v="21" actId="14100"/>
          <ac:spMkLst>
            <pc:docMk/>
            <pc:sldMk cId="929971369" sldId="329"/>
            <ac:spMk id="5" creationId="{00000000-0000-0000-0000-000000000000}"/>
          </ac:spMkLst>
        </pc:spChg>
      </pc:sldChg>
      <pc:sldChg chg="modSp">
        <pc:chgData name="FAYOLLE Eric" userId="S::eric.fayolle@edf.fr::eb4260e9-6060-4c0b-922d-c72c0c6afe3e" providerId="AD" clId="Web-{E858F8E6-2121-451B-B290-E84E7A832607}" dt="2020-08-25T14:31:56.314" v="7" actId="20577"/>
        <pc:sldMkLst>
          <pc:docMk/>
          <pc:sldMk cId="862152267" sldId="335"/>
        </pc:sldMkLst>
        <pc:spChg chg="mod">
          <ac:chgData name="FAYOLLE Eric" userId="S::eric.fayolle@edf.fr::eb4260e9-6060-4c0b-922d-c72c0c6afe3e" providerId="AD" clId="Web-{E858F8E6-2121-451B-B290-E84E7A832607}" dt="2020-08-25T14:31:56.314" v="7" actId="20577"/>
          <ac:spMkLst>
            <pc:docMk/>
            <pc:sldMk cId="862152267" sldId="335"/>
            <ac:spMk id="9" creationId="{00000000-0000-0000-0000-000000000000}"/>
          </ac:spMkLst>
        </pc:spChg>
      </pc:sldChg>
    </pc:docChg>
  </pc:docChgLst>
  <pc:docChgLst>
    <pc:chgData name="NOYRET Pascale" userId="S::pascale.noyret@edf.fr::7c6b93f9-8085-44fb-a784-ff9be5b7a1bc" providerId="AD" clId="Web-{C0104E80-543F-43A0-2E21-3E83EE2BE64E}"/>
    <pc:docChg chg="modSld">
      <pc:chgData name="NOYRET Pascale" userId="S::pascale.noyret@edf.fr::7c6b93f9-8085-44fb-a784-ff9be5b7a1bc" providerId="AD" clId="Web-{C0104E80-543F-43A0-2E21-3E83EE2BE64E}" dt="2020-08-27T08:41:06.965" v="1" actId="1076"/>
      <pc:docMkLst>
        <pc:docMk/>
      </pc:docMkLst>
      <pc:sldChg chg="modSp">
        <pc:chgData name="NOYRET Pascale" userId="S::pascale.noyret@edf.fr::7c6b93f9-8085-44fb-a784-ff9be5b7a1bc" providerId="AD" clId="Web-{C0104E80-543F-43A0-2E21-3E83EE2BE64E}" dt="2020-08-27T08:41:06.965" v="1" actId="1076"/>
        <pc:sldMkLst>
          <pc:docMk/>
          <pc:sldMk cId="3529088607" sldId="342"/>
        </pc:sldMkLst>
        <pc:spChg chg="mod">
          <ac:chgData name="NOYRET Pascale" userId="S::pascale.noyret@edf.fr::7c6b93f9-8085-44fb-a784-ff9be5b7a1bc" providerId="AD" clId="Web-{C0104E80-543F-43A0-2E21-3E83EE2BE64E}" dt="2020-08-27T08:41:06.965" v="1" actId="1076"/>
          <ac:spMkLst>
            <pc:docMk/>
            <pc:sldMk cId="3529088607" sldId="342"/>
            <ac:spMk id="10" creationId="{00000000-0000-0000-0000-000000000000}"/>
          </ac:spMkLst>
        </pc:spChg>
      </pc:sldChg>
    </pc:docChg>
  </pc:docChgLst>
  <pc:docChgLst>
    <pc:chgData name="FAYOLLE Eric" userId="S::eric.fayolle@edf.fr::eb4260e9-6060-4c0b-922d-c72c0c6afe3e" providerId="AD" clId="Web-{985CB2AE-32BC-4A8D-893B-67D56D853B39}"/>
    <pc:docChg chg="modSld">
      <pc:chgData name="FAYOLLE Eric" userId="S::eric.fayolle@edf.fr::eb4260e9-6060-4c0b-922d-c72c0c6afe3e" providerId="AD" clId="Web-{985CB2AE-32BC-4A8D-893B-67D56D853B39}" dt="2020-08-25T15:06:04.799" v="202" actId="20577"/>
      <pc:docMkLst>
        <pc:docMk/>
      </pc:docMkLst>
      <pc:sldChg chg="modSp">
        <pc:chgData name="FAYOLLE Eric" userId="S::eric.fayolle@edf.fr::eb4260e9-6060-4c0b-922d-c72c0c6afe3e" providerId="AD" clId="Web-{985CB2AE-32BC-4A8D-893B-67D56D853B39}" dt="2020-08-25T15:06:02.424" v="201" actId="20577"/>
        <pc:sldMkLst>
          <pc:docMk/>
          <pc:sldMk cId="862152267" sldId="335"/>
        </pc:sldMkLst>
        <pc:spChg chg="mod">
          <ac:chgData name="FAYOLLE Eric" userId="S::eric.fayolle@edf.fr::eb4260e9-6060-4c0b-922d-c72c0c6afe3e" providerId="AD" clId="Web-{985CB2AE-32BC-4A8D-893B-67D56D853B39}" dt="2020-08-25T15:06:02.424" v="201" actId="20577"/>
          <ac:spMkLst>
            <pc:docMk/>
            <pc:sldMk cId="862152267" sldId="335"/>
            <ac:spMk id="9" creationId="{00000000-0000-0000-0000-000000000000}"/>
          </ac:spMkLst>
        </pc:spChg>
      </pc:sldChg>
      <pc:sldChg chg="modSp">
        <pc:chgData name="FAYOLLE Eric" userId="S::eric.fayolle@edf.fr::eb4260e9-6060-4c0b-922d-c72c0c6afe3e" providerId="AD" clId="Web-{985CB2AE-32BC-4A8D-893B-67D56D853B39}" dt="2020-08-25T15:02:08.918" v="2" actId="20577"/>
        <pc:sldMkLst>
          <pc:docMk/>
          <pc:sldMk cId="4074772204" sldId="337"/>
        </pc:sldMkLst>
        <pc:spChg chg="mod">
          <ac:chgData name="FAYOLLE Eric" userId="S::eric.fayolle@edf.fr::eb4260e9-6060-4c0b-922d-c72c0c6afe3e" providerId="AD" clId="Web-{985CB2AE-32BC-4A8D-893B-67D56D853B39}" dt="2020-08-25T15:02:08.918" v="2" actId="20577"/>
          <ac:spMkLst>
            <pc:docMk/>
            <pc:sldMk cId="4074772204" sldId="337"/>
            <ac:spMk id="10" creationId="{00000000-0000-0000-0000-000000000000}"/>
          </ac:spMkLst>
        </pc:spChg>
      </pc:sldChg>
    </pc:docChg>
  </pc:docChgLst>
  <pc:docChgLst>
    <pc:chgData name="NOYRET Pascale" userId="S::pascale.noyret@edf.fr::7c6b93f9-8085-44fb-a784-ff9be5b7a1bc" providerId="AD" clId="Web-{2A34DBEA-E519-4787-7EF2-B95D9AA504B8}"/>
    <pc:docChg chg="addSld modSld">
      <pc:chgData name="NOYRET Pascale" userId="S::pascale.noyret@edf.fr::7c6b93f9-8085-44fb-a784-ff9be5b7a1bc" providerId="AD" clId="Web-{2A34DBEA-E519-4787-7EF2-B95D9AA504B8}" dt="2020-08-27T12:14:54.624" v="7" actId="20577"/>
      <pc:docMkLst>
        <pc:docMk/>
      </pc:docMkLst>
      <pc:sldChg chg="modSp add replId">
        <pc:chgData name="NOYRET Pascale" userId="S::pascale.noyret@edf.fr::7c6b93f9-8085-44fb-a784-ff9be5b7a1bc" providerId="AD" clId="Web-{2A34DBEA-E519-4787-7EF2-B95D9AA504B8}" dt="2020-08-27T12:14:54.609" v="6" actId="20577"/>
        <pc:sldMkLst>
          <pc:docMk/>
          <pc:sldMk cId="2120861134" sldId="347"/>
        </pc:sldMkLst>
        <pc:spChg chg="mod">
          <ac:chgData name="NOYRET Pascale" userId="S::pascale.noyret@edf.fr::7c6b93f9-8085-44fb-a784-ff9be5b7a1bc" providerId="AD" clId="Web-{2A34DBEA-E519-4787-7EF2-B95D9AA504B8}" dt="2020-08-27T12:14:54.609" v="6" actId="20577"/>
          <ac:spMkLst>
            <pc:docMk/>
            <pc:sldMk cId="2120861134" sldId="347"/>
            <ac:spMk id="6" creationId="{00000000-0000-0000-0000-000000000000}"/>
          </ac:spMkLst>
        </pc:spChg>
      </pc:sldChg>
    </pc:docChg>
  </pc:docChgLst>
  <pc:docChgLst>
    <pc:chgData name="NOYRET Pascale" userId="S::pascale.noyret@edf.fr::7c6b93f9-8085-44fb-a784-ff9be5b7a1bc" providerId="AD" clId="Web-{899445CB-04F0-41EF-9E76-E679D0030C7A}"/>
    <pc:docChg chg="modSld">
      <pc:chgData name="NOYRET Pascale" userId="S::pascale.noyret@edf.fr::7c6b93f9-8085-44fb-a784-ff9be5b7a1bc" providerId="AD" clId="Web-{899445CB-04F0-41EF-9E76-E679D0030C7A}" dt="2020-08-24T14:16:53.119" v="100" actId="20577"/>
      <pc:docMkLst>
        <pc:docMk/>
      </pc:docMkLst>
      <pc:sldChg chg="modSp">
        <pc:chgData name="NOYRET Pascale" userId="S::pascale.noyret@edf.fr::7c6b93f9-8085-44fb-a784-ff9be5b7a1bc" providerId="AD" clId="Web-{899445CB-04F0-41EF-9E76-E679D0030C7A}" dt="2020-08-24T13:55:50.415" v="1" actId="20577"/>
        <pc:sldMkLst>
          <pc:docMk/>
          <pc:sldMk cId="0" sldId="265"/>
        </pc:sldMkLst>
        <pc:spChg chg="mod">
          <ac:chgData name="NOYRET Pascale" userId="S::pascale.noyret@edf.fr::7c6b93f9-8085-44fb-a784-ff9be5b7a1bc" providerId="AD" clId="Web-{899445CB-04F0-41EF-9E76-E679D0030C7A}" dt="2020-08-24T13:55:50.415" v="1" actId="20577"/>
          <ac:spMkLst>
            <pc:docMk/>
            <pc:sldMk cId="0" sldId="265"/>
            <ac:spMk id="6147" creationId="{00000000-0000-0000-0000-000000000000}"/>
          </ac:spMkLst>
        </pc:spChg>
      </pc:sldChg>
      <pc:sldChg chg="modSp">
        <pc:chgData name="NOYRET Pascale" userId="S::pascale.noyret@edf.fr::7c6b93f9-8085-44fb-a784-ff9be5b7a1bc" providerId="AD" clId="Web-{899445CB-04F0-41EF-9E76-E679D0030C7A}" dt="2020-08-24T14:16:53.119" v="100" actId="20577"/>
        <pc:sldMkLst>
          <pc:docMk/>
          <pc:sldMk cId="0" sldId="266"/>
        </pc:sldMkLst>
        <pc:spChg chg="mod">
          <ac:chgData name="NOYRET Pascale" userId="S::pascale.noyret@edf.fr::7c6b93f9-8085-44fb-a784-ff9be5b7a1bc" providerId="AD" clId="Web-{899445CB-04F0-41EF-9E76-E679D0030C7A}" dt="2020-08-24T14:16:53.119" v="100" actId="20577"/>
          <ac:spMkLst>
            <pc:docMk/>
            <pc:sldMk cId="0" sldId="266"/>
            <ac:spMk id="22531" creationId="{00000000-0000-0000-0000-000000000000}"/>
          </ac:spMkLst>
        </pc:spChg>
      </pc:sldChg>
      <pc:sldChg chg="modSp">
        <pc:chgData name="NOYRET Pascale" userId="S::pascale.noyret@edf.fr::7c6b93f9-8085-44fb-a784-ff9be5b7a1bc" providerId="AD" clId="Web-{899445CB-04F0-41EF-9E76-E679D0030C7A}" dt="2020-08-24T14:16:41.806" v="99" actId="20577"/>
        <pc:sldMkLst>
          <pc:docMk/>
          <pc:sldMk cId="0" sldId="268"/>
        </pc:sldMkLst>
        <pc:spChg chg="mod">
          <ac:chgData name="NOYRET Pascale" userId="S::pascale.noyret@edf.fr::7c6b93f9-8085-44fb-a784-ff9be5b7a1bc" providerId="AD" clId="Web-{899445CB-04F0-41EF-9E76-E679D0030C7A}" dt="2020-08-24T14:16:41.806" v="99" actId="20577"/>
          <ac:spMkLst>
            <pc:docMk/>
            <pc:sldMk cId="0" sldId="268"/>
            <ac:spMk id="18437" creationId="{00000000-0000-0000-0000-000000000000}"/>
          </ac:spMkLst>
        </pc:spChg>
      </pc:sldChg>
      <pc:sldChg chg="modSp">
        <pc:chgData name="NOYRET Pascale" userId="S::pascale.noyret@edf.fr::7c6b93f9-8085-44fb-a784-ff9be5b7a1bc" providerId="AD" clId="Web-{899445CB-04F0-41EF-9E76-E679D0030C7A}" dt="2020-08-24T14:16:16.212" v="98" actId="20577"/>
        <pc:sldMkLst>
          <pc:docMk/>
          <pc:sldMk cId="2225221604" sldId="309"/>
        </pc:sldMkLst>
        <pc:spChg chg="mod">
          <ac:chgData name="NOYRET Pascale" userId="S::pascale.noyret@edf.fr::7c6b93f9-8085-44fb-a784-ff9be5b7a1bc" providerId="AD" clId="Web-{899445CB-04F0-41EF-9E76-E679D0030C7A}" dt="2020-08-24T14:16:16.212" v="98" actId="20577"/>
          <ac:spMkLst>
            <pc:docMk/>
            <pc:sldMk cId="2225221604" sldId="309"/>
            <ac:spMk id="6147" creationId="{00000000-0000-0000-0000-000000000000}"/>
          </ac:spMkLst>
        </pc:spChg>
      </pc:sldChg>
      <pc:sldChg chg="modSp">
        <pc:chgData name="NOYRET Pascale" userId="S::pascale.noyret@edf.fr::7c6b93f9-8085-44fb-a784-ff9be5b7a1bc" providerId="AD" clId="Web-{899445CB-04F0-41EF-9E76-E679D0030C7A}" dt="2020-08-24T14:16:03.337" v="96" actId="20577"/>
        <pc:sldMkLst>
          <pc:docMk/>
          <pc:sldMk cId="512479267" sldId="314"/>
        </pc:sldMkLst>
        <pc:spChg chg="mod">
          <ac:chgData name="NOYRET Pascale" userId="S::pascale.noyret@edf.fr::7c6b93f9-8085-44fb-a784-ff9be5b7a1bc" providerId="AD" clId="Web-{899445CB-04F0-41EF-9E76-E679D0030C7A}" dt="2020-08-24T14:16:03.337" v="96" actId="20577"/>
          <ac:spMkLst>
            <pc:docMk/>
            <pc:sldMk cId="512479267" sldId="314"/>
            <ac:spMk id="184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AutoShape 1"/>
          <p:cNvSpPr>
            <a:spLocks noChangeArrowheads="1"/>
          </p:cNvSpPr>
          <p:nvPr/>
        </p:nvSpPr>
        <p:spPr bwMode="auto">
          <a:xfrm>
            <a:off x="0" y="0"/>
            <a:ext cx="7559675" cy="10691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3075" name="Rectangle 2"/>
          <p:cNvSpPr>
            <a:spLocks noGrp="1" noRot="1" noChangeAspect="1" noChangeArrowheads="1"/>
          </p:cNvSpPr>
          <p:nvPr>
            <p:ph type="sldImg"/>
          </p:nvPr>
        </p:nvSpPr>
        <p:spPr bwMode="auto">
          <a:xfrm>
            <a:off x="1106488" y="812800"/>
            <a:ext cx="5343525"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7171" name="Rectangle 3"/>
          <p:cNvSpPr>
            <a:spLocks noGrp="1" noChangeArrowheads="1"/>
          </p:cNvSpPr>
          <p:nvPr>
            <p:ph type="body"/>
          </p:nvPr>
        </p:nvSpPr>
        <p:spPr bwMode="auto">
          <a:xfrm>
            <a:off x="755650" y="5078413"/>
            <a:ext cx="6046788" cy="481012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fr-FR" noProof="0"/>
          </a:p>
        </p:txBody>
      </p:sp>
      <p:sp>
        <p:nvSpPr>
          <p:cNvPr id="3077" name="Text Box 4"/>
          <p:cNvSpPr txBox="1">
            <a:spLocks noChangeArrowheads="1"/>
          </p:cNvSpPr>
          <p:nvPr/>
        </p:nvSpPr>
        <p:spPr bwMode="auto">
          <a:xfrm>
            <a:off x="0" y="0"/>
            <a:ext cx="32813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3078" name="Text Box 5"/>
          <p:cNvSpPr txBox="1">
            <a:spLocks noChangeArrowheads="1"/>
          </p:cNvSpPr>
          <p:nvPr/>
        </p:nvSpPr>
        <p:spPr bwMode="auto">
          <a:xfrm>
            <a:off x="4278313" y="0"/>
            <a:ext cx="3281362"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3079" name="Text Box 6"/>
          <p:cNvSpPr txBox="1">
            <a:spLocks noChangeArrowheads="1"/>
          </p:cNvSpPr>
          <p:nvPr/>
        </p:nvSpPr>
        <p:spPr bwMode="auto">
          <a:xfrm>
            <a:off x="0" y="10156825"/>
            <a:ext cx="32813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7175" name="Rectangle 7"/>
          <p:cNvSpPr>
            <a:spLocks noGrp="1" noChangeArrowheads="1"/>
          </p:cNvSpPr>
          <p:nvPr>
            <p:ph type="sldNum"/>
          </p:nvPr>
        </p:nvSpPr>
        <p:spPr bwMode="auto">
          <a:xfrm>
            <a:off x="4278313" y="10156825"/>
            <a:ext cx="3279775" cy="53340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lgn="r" eaLnBrk="1" hangingPunct="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Times New Roman" panose="02020603050405020304" pitchFamily="18" charset="0"/>
              </a:defRPr>
            </a:lvl1pPr>
          </a:lstStyle>
          <a:p>
            <a:pPr>
              <a:defRPr/>
            </a:pPr>
            <a:fld id="{EF693551-DA91-448C-865A-F1FC10416598}" type="slidenum">
              <a:rPr lang="fr-FR" altLang="fr-FR"/>
              <a:pPr>
                <a:defRPr/>
              </a:pPr>
              <a:t>‹N°›</a:t>
            </a:fld>
            <a:endParaRPr lang="fr-FR" altLang="fr-FR"/>
          </a:p>
        </p:txBody>
      </p:sp>
    </p:spTree>
    <p:extLst>
      <p:ext uri="{BB962C8B-B14F-4D97-AF65-F5344CB8AC3E}">
        <p14:creationId xmlns:p14="http://schemas.microsoft.com/office/powerpoint/2010/main" val="2823715984"/>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6C80BA8-B408-47CE-8A80-FFC1F66EABEE}" type="slidenum">
              <a:rPr lang="fr-FR" altLang="fr-FR" sz="1400" smtClean="0"/>
              <a:pPr>
                <a:spcBef>
                  <a:spcPct val="0"/>
                </a:spcBef>
                <a:buClrTx/>
                <a:buFontTx/>
                <a:buNone/>
              </a:pPr>
              <a:t>2</a:t>
            </a:fld>
            <a:endParaRPr lang="fr-FR" altLang="fr-FR" sz="1400"/>
          </a:p>
        </p:txBody>
      </p:sp>
      <p:sp>
        <p:nvSpPr>
          <p:cNvPr id="5123"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124" name="Rectangle 2"/>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fr-FR" altLang="fr-FR"/>
          </a:p>
        </p:txBody>
      </p:sp>
    </p:spTree>
    <p:extLst>
      <p:ext uri="{BB962C8B-B14F-4D97-AF65-F5344CB8AC3E}">
        <p14:creationId xmlns:p14="http://schemas.microsoft.com/office/powerpoint/2010/main" val="1603627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19BE336-E142-495B-9B31-43CD33EC51A5}" type="slidenum">
              <a:rPr lang="fr-FR" altLang="fr-FR" sz="1400" smtClean="0"/>
              <a:pPr>
                <a:spcBef>
                  <a:spcPct val="0"/>
                </a:spcBef>
                <a:buClrTx/>
                <a:buFontTx/>
                <a:buNone/>
              </a:pPr>
              <a:t>3</a:t>
            </a:fld>
            <a:endParaRPr lang="fr-FR" altLang="fr-FR" sz="1400"/>
          </a:p>
        </p:txBody>
      </p:sp>
      <p:sp>
        <p:nvSpPr>
          <p:cNvPr id="9219"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208731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4</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392716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5</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982354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6</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91149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7</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55633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8</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761529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9</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566124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10</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628996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11</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963877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12</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071610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18</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522602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19</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0033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21</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652310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BA90D42-E7E5-433D-894B-46D0C4981E3C}" type="slidenum">
              <a:rPr lang="fr-FR" altLang="fr-FR" sz="1400" smtClean="0"/>
              <a:pPr>
                <a:spcBef>
                  <a:spcPct val="0"/>
                </a:spcBef>
                <a:buClrTx/>
                <a:buFontTx/>
                <a:buNone/>
              </a:pPr>
              <a:t>22</a:t>
            </a:fld>
            <a:endParaRPr lang="fr-FR" altLang="fr-FR" sz="1400"/>
          </a:p>
        </p:txBody>
      </p:sp>
      <p:sp>
        <p:nvSpPr>
          <p:cNvPr id="17411"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17412" name="Rectangle 2"/>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33887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539AD25-69BE-49F8-A315-978E14A85C56}" type="slidenum">
              <a:rPr lang="fr-FR" altLang="fr-FR" sz="1400" smtClean="0"/>
              <a:pPr>
                <a:spcBef>
                  <a:spcPct val="0"/>
                </a:spcBef>
                <a:buClrTx/>
                <a:buFontTx/>
                <a:buNone/>
              </a:pPr>
              <a:t>23</a:t>
            </a:fld>
            <a:endParaRPr lang="fr-FR" altLang="fr-FR" sz="1400"/>
          </a:p>
        </p:txBody>
      </p:sp>
      <p:sp>
        <p:nvSpPr>
          <p:cNvPr id="19459"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19460"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212661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9DAE9BC-5312-462E-B767-23A3363C1536}" type="slidenum">
              <a:rPr lang="fr-FR" altLang="fr-FR" sz="1400" smtClean="0"/>
              <a:pPr>
                <a:spcBef>
                  <a:spcPct val="0"/>
                </a:spcBef>
                <a:buClrTx/>
                <a:buFontTx/>
                <a:buNone/>
              </a:pPr>
              <a:t>24</a:t>
            </a:fld>
            <a:endParaRPr lang="fr-FR" altLang="fr-FR" sz="1400"/>
          </a:p>
        </p:txBody>
      </p:sp>
      <p:sp>
        <p:nvSpPr>
          <p:cNvPr id="23555"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23556"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011427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B2B3A1A2-4BC3-430D-95A1-7B6AC2355094}" type="slidenum">
              <a:rPr lang="fr-FR" altLang="fr-FR" sz="1400" smtClean="0"/>
              <a:pPr>
                <a:spcBef>
                  <a:spcPct val="0"/>
                </a:spcBef>
                <a:buClrTx/>
                <a:buFontTx/>
                <a:buNone/>
              </a:pPr>
              <a:t>25</a:t>
            </a:fld>
            <a:endParaRPr lang="fr-FR" altLang="fr-FR" sz="1400"/>
          </a:p>
        </p:txBody>
      </p:sp>
      <p:sp>
        <p:nvSpPr>
          <p:cNvPr id="25603"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25604"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720161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19BE336-E142-495B-9B31-43CD33EC51A5}" type="slidenum">
              <a:rPr lang="fr-FR" altLang="fr-FR" sz="1400" smtClean="0"/>
              <a:pPr>
                <a:spcBef>
                  <a:spcPct val="0"/>
                </a:spcBef>
                <a:buClrTx/>
                <a:buFontTx/>
                <a:buNone/>
              </a:pPr>
              <a:t>26</a:t>
            </a:fld>
            <a:endParaRPr lang="fr-FR" altLang="fr-FR" sz="1400"/>
          </a:p>
        </p:txBody>
      </p:sp>
      <p:sp>
        <p:nvSpPr>
          <p:cNvPr id="9219"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954049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27</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703522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19BE336-E142-495B-9B31-43CD33EC51A5}" type="slidenum">
              <a:rPr lang="fr-FR" altLang="fr-FR" sz="1400" smtClean="0"/>
              <a:pPr>
                <a:spcBef>
                  <a:spcPct val="0"/>
                </a:spcBef>
                <a:buClrTx/>
                <a:buFontTx/>
                <a:buNone/>
              </a:pPr>
              <a:t>28</a:t>
            </a:fld>
            <a:endParaRPr lang="fr-FR" altLang="fr-FR" sz="1400"/>
          </a:p>
        </p:txBody>
      </p:sp>
      <p:sp>
        <p:nvSpPr>
          <p:cNvPr id="9219"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026140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29</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282540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30</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7864803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31</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4935675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32</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124744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33</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446275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34</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181487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35</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7677783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36</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520800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37</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825471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38</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8932478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39</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3097037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40</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5247943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41</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dirty="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020031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42</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2646046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19BE336-E142-495B-9B31-43CD33EC51A5}" type="slidenum">
              <a:rPr lang="fr-FR" altLang="fr-FR" sz="1400" smtClean="0"/>
              <a:pPr>
                <a:spcBef>
                  <a:spcPct val="0"/>
                </a:spcBef>
                <a:buClrTx/>
                <a:buFontTx/>
                <a:buNone/>
              </a:pPr>
              <a:t>43</a:t>
            </a:fld>
            <a:endParaRPr lang="fr-FR" altLang="fr-FR" sz="1400"/>
          </a:p>
        </p:txBody>
      </p:sp>
      <p:sp>
        <p:nvSpPr>
          <p:cNvPr id="9219"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5264507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44</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423393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1083702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608310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Tree>
    <p:extLst>
      <p:ext uri="{BB962C8B-B14F-4D97-AF65-F5344CB8AC3E}">
        <p14:creationId xmlns:p14="http://schemas.microsoft.com/office/powerpoint/2010/main" val="2644103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601663" y="4040188"/>
            <a:ext cx="2036762" cy="3070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2790825" y="4040188"/>
            <a:ext cx="2036763" cy="3070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32652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19825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2248624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2878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4193823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3730737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902713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5863" y="1525588"/>
            <a:ext cx="1101725" cy="55848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19100" y="1525588"/>
            <a:ext cx="3154363" cy="55848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445084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uverture_V1_4">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43"/>
            <a:ext cx="9144000" cy="6857315"/>
          </a:xfrm>
          <a:prstGeom prst="rect">
            <a:avLst/>
          </a:prstGeom>
        </p:spPr>
      </p:pic>
      <p:sp>
        <p:nvSpPr>
          <p:cNvPr id="8" name="Rectangle 7"/>
          <p:cNvSpPr/>
          <p:nvPr userDrawn="1"/>
        </p:nvSpPr>
        <p:spPr>
          <a:xfrm>
            <a:off x="0" y="0"/>
            <a:ext cx="4570505" cy="6857913"/>
          </a:xfrm>
          <a:prstGeom prst="rect">
            <a:avLst/>
          </a:prstGeom>
          <a:solidFill>
            <a:srgbClr val="1050A3">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42855" y="454569"/>
            <a:ext cx="928567" cy="530331"/>
          </a:xfrm>
          <a:prstGeom prst="rect">
            <a:avLst/>
          </a:prstGeom>
        </p:spPr>
      </p:pic>
      <p:sp>
        <p:nvSpPr>
          <p:cNvPr id="21" name="Espace réservé du texte 20"/>
          <p:cNvSpPr>
            <a:spLocks noGrp="1"/>
          </p:cNvSpPr>
          <p:nvPr>
            <p:ph type="body" sz="quarter" idx="13" hasCustomPrompt="1"/>
          </p:nvPr>
        </p:nvSpPr>
        <p:spPr>
          <a:xfrm>
            <a:off x="421146" y="2162587"/>
            <a:ext cx="3775294" cy="1509152"/>
          </a:xfrm>
          <a:prstGeom prst="rect">
            <a:avLst/>
          </a:prstGeom>
          <a:ln>
            <a:noFill/>
          </a:ln>
        </p:spPr>
        <p:txBody>
          <a:bodyPr/>
          <a:lstStyle>
            <a:lvl1pPr marL="0" indent="0">
              <a:buNone/>
              <a:defRPr sz="3600" b="1">
                <a:solidFill>
                  <a:schemeClr val="bg1"/>
                </a:solidFill>
                <a:latin typeface="Arial" panose="020B0604020202020204" pitchFamily="34" charset="0"/>
                <a:cs typeface="Arial" panose="020B0604020202020204" pitchFamily="34" charset="0"/>
              </a:defRPr>
            </a:lvl1pPr>
          </a:lstStyle>
          <a:p>
            <a:pPr lvl="0"/>
            <a:r>
              <a:rPr lang="fr-FR"/>
              <a:t>TITRE DE LA</a:t>
            </a:r>
          </a:p>
          <a:p>
            <a:pPr lvl="0"/>
            <a:r>
              <a:rPr lang="fr-FR"/>
              <a:t>PRÉSENTATION</a:t>
            </a:r>
          </a:p>
        </p:txBody>
      </p:sp>
      <p:sp>
        <p:nvSpPr>
          <p:cNvPr id="22" name="Espace réservé du texte 20"/>
          <p:cNvSpPr>
            <a:spLocks noGrp="1"/>
          </p:cNvSpPr>
          <p:nvPr>
            <p:ph type="body" sz="quarter" idx="14" hasCustomPrompt="1"/>
          </p:nvPr>
        </p:nvSpPr>
        <p:spPr>
          <a:xfrm>
            <a:off x="421146" y="3714751"/>
            <a:ext cx="3775294" cy="639545"/>
          </a:xfrm>
          <a:prstGeom prst="rect">
            <a:avLst/>
          </a:prstGeom>
          <a:ln>
            <a:noFill/>
          </a:ln>
        </p:spPr>
        <p:txBody>
          <a:bodyPr/>
          <a:lstStyle>
            <a:lvl1pPr marL="0" indent="0">
              <a:buNone/>
              <a:defRPr sz="1687" b="1">
                <a:solidFill>
                  <a:schemeClr val="bg1"/>
                </a:solidFill>
                <a:latin typeface="Arial" panose="020B0604020202020204" pitchFamily="34" charset="0"/>
                <a:cs typeface="Arial" panose="020B0604020202020204" pitchFamily="34" charset="0"/>
              </a:defRPr>
            </a:lvl1pPr>
          </a:lstStyle>
          <a:p>
            <a:pPr lvl="0"/>
            <a:r>
              <a:rPr lang="fr-FR"/>
              <a:t>Sous-titre de la présentation</a:t>
            </a:r>
          </a:p>
        </p:txBody>
      </p:sp>
      <p:sp>
        <p:nvSpPr>
          <p:cNvPr id="23" name="Espace réservé du texte 20"/>
          <p:cNvSpPr>
            <a:spLocks noGrp="1"/>
          </p:cNvSpPr>
          <p:nvPr>
            <p:ph type="body" sz="quarter" idx="15" hasCustomPrompt="1"/>
          </p:nvPr>
        </p:nvSpPr>
        <p:spPr>
          <a:xfrm>
            <a:off x="421146" y="4397308"/>
            <a:ext cx="3775294" cy="639545"/>
          </a:xfrm>
          <a:prstGeom prst="rect">
            <a:avLst/>
          </a:prstGeom>
          <a:ln>
            <a:noFill/>
          </a:ln>
        </p:spPr>
        <p:txBody>
          <a:bodyPr/>
          <a:lstStyle>
            <a:lvl1pPr marL="0" indent="0">
              <a:buNone/>
              <a:defRPr sz="1125" b="1">
                <a:solidFill>
                  <a:schemeClr val="bg1"/>
                </a:solidFill>
                <a:latin typeface="Arial" panose="020B0604020202020204" pitchFamily="34" charset="0"/>
                <a:cs typeface="Arial" panose="020B0604020202020204" pitchFamily="34" charset="0"/>
              </a:defRPr>
            </a:lvl1pPr>
          </a:lstStyle>
          <a:p>
            <a:pPr lvl="0"/>
            <a:r>
              <a:rPr lang="fr-FR"/>
              <a:t>XX/XX/202X</a:t>
            </a:r>
          </a:p>
        </p:txBody>
      </p:sp>
    </p:spTree>
    <p:custDataLst>
      <p:tags r:id="rId1"/>
    </p:custDataLst>
    <p:extLst>
      <p:ext uri="{BB962C8B-B14F-4D97-AF65-F5344CB8AC3E}">
        <p14:creationId xmlns:p14="http://schemas.microsoft.com/office/powerpoint/2010/main" val="1776291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0B8B14CF-668B-4746-8F17-DD5A2D4E7213}" type="slidenum">
              <a:rPr lang="fr-FR" altLang="fr-FR"/>
              <a:pPr>
                <a:defRPr/>
              </a:pPr>
              <a:t>‹N°›</a:t>
            </a:fld>
            <a:endParaRPr lang="fr-FR" altLang="fr-FR"/>
          </a:p>
        </p:txBody>
      </p:sp>
    </p:spTree>
    <p:extLst>
      <p:ext uri="{BB962C8B-B14F-4D97-AF65-F5344CB8AC3E}">
        <p14:creationId xmlns:p14="http://schemas.microsoft.com/office/powerpoint/2010/main" val="367487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09DFCA96-6126-4534-87C2-4E18E5B14399}" type="slidenum">
              <a:rPr lang="fr-FR" altLang="fr-FR"/>
              <a:pPr>
                <a:defRPr/>
              </a:pPr>
              <a:t>‹N°›</a:t>
            </a:fld>
            <a:endParaRPr lang="fr-FR" altLang="fr-FR"/>
          </a:p>
        </p:txBody>
      </p:sp>
    </p:spTree>
    <p:extLst>
      <p:ext uri="{BB962C8B-B14F-4D97-AF65-F5344CB8AC3E}">
        <p14:creationId xmlns:p14="http://schemas.microsoft.com/office/powerpoint/2010/main" val="3768909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6EFDD6AF-DFD1-499D-B541-7D00531E36CE}" type="slidenum">
              <a:rPr lang="fr-FR" altLang="fr-FR"/>
              <a:pPr>
                <a:defRPr/>
              </a:pPr>
              <a:t>‹N°›</a:t>
            </a:fld>
            <a:endParaRPr lang="fr-FR" altLang="fr-FR"/>
          </a:p>
        </p:txBody>
      </p:sp>
    </p:spTree>
    <p:extLst>
      <p:ext uri="{BB962C8B-B14F-4D97-AF65-F5344CB8AC3E}">
        <p14:creationId xmlns:p14="http://schemas.microsoft.com/office/powerpoint/2010/main" val="3669824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25450" y="1951038"/>
            <a:ext cx="1862138" cy="3619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2439988" y="1951038"/>
            <a:ext cx="1863725" cy="3619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6" name="Rectangle 6"/>
          <p:cNvSpPr>
            <a:spLocks noGrp="1" noChangeArrowheads="1"/>
          </p:cNvSpPr>
          <p:nvPr>
            <p:ph type="sldNum" idx="11"/>
          </p:nvPr>
        </p:nvSpPr>
        <p:spPr>
          <a:ln/>
        </p:spPr>
        <p:txBody>
          <a:bodyPr/>
          <a:lstStyle>
            <a:lvl1pPr>
              <a:defRPr/>
            </a:lvl1pPr>
          </a:lstStyle>
          <a:p>
            <a:pPr>
              <a:defRPr/>
            </a:pPr>
            <a:fld id="{08B2E036-CED2-4DEA-9E66-D0004E69EBB4}" type="slidenum">
              <a:rPr lang="fr-FR" altLang="fr-FR"/>
              <a:pPr>
                <a:defRPr/>
              </a:pPr>
              <a:t>‹N°›</a:t>
            </a:fld>
            <a:endParaRPr lang="fr-FR" altLang="fr-FR"/>
          </a:p>
        </p:txBody>
      </p:sp>
    </p:spTree>
    <p:extLst>
      <p:ext uri="{BB962C8B-B14F-4D97-AF65-F5344CB8AC3E}">
        <p14:creationId xmlns:p14="http://schemas.microsoft.com/office/powerpoint/2010/main" val="2103805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8" name="Rectangle 6"/>
          <p:cNvSpPr>
            <a:spLocks noGrp="1" noChangeArrowheads="1"/>
          </p:cNvSpPr>
          <p:nvPr>
            <p:ph type="sldNum" idx="11"/>
          </p:nvPr>
        </p:nvSpPr>
        <p:spPr>
          <a:ln/>
        </p:spPr>
        <p:txBody>
          <a:bodyPr/>
          <a:lstStyle>
            <a:lvl1pPr>
              <a:defRPr/>
            </a:lvl1pPr>
          </a:lstStyle>
          <a:p>
            <a:pPr>
              <a:defRPr/>
            </a:pPr>
            <a:fld id="{4371F72D-8FA9-4BDD-A270-D92354305165}" type="slidenum">
              <a:rPr lang="fr-FR" altLang="fr-FR"/>
              <a:pPr>
                <a:defRPr/>
              </a:pPr>
              <a:t>‹N°›</a:t>
            </a:fld>
            <a:endParaRPr lang="fr-FR" altLang="fr-FR"/>
          </a:p>
        </p:txBody>
      </p:sp>
    </p:spTree>
    <p:extLst>
      <p:ext uri="{BB962C8B-B14F-4D97-AF65-F5344CB8AC3E}">
        <p14:creationId xmlns:p14="http://schemas.microsoft.com/office/powerpoint/2010/main" val="3178265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4" name="Rectangle 6"/>
          <p:cNvSpPr>
            <a:spLocks noGrp="1" noChangeArrowheads="1"/>
          </p:cNvSpPr>
          <p:nvPr>
            <p:ph type="sldNum" idx="11"/>
          </p:nvPr>
        </p:nvSpPr>
        <p:spPr>
          <a:ln/>
        </p:spPr>
        <p:txBody>
          <a:bodyPr/>
          <a:lstStyle>
            <a:lvl1pPr>
              <a:defRPr/>
            </a:lvl1pPr>
          </a:lstStyle>
          <a:p>
            <a:pPr>
              <a:defRPr/>
            </a:pPr>
            <a:fld id="{6AC496C4-0EBA-4F9C-8643-E88C670BD85B}" type="slidenum">
              <a:rPr lang="fr-FR" altLang="fr-FR"/>
              <a:pPr>
                <a:defRPr/>
              </a:pPr>
              <a:t>‹N°›</a:t>
            </a:fld>
            <a:endParaRPr lang="fr-FR" altLang="fr-FR"/>
          </a:p>
        </p:txBody>
      </p:sp>
    </p:spTree>
    <p:extLst>
      <p:ext uri="{BB962C8B-B14F-4D97-AF65-F5344CB8AC3E}">
        <p14:creationId xmlns:p14="http://schemas.microsoft.com/office/powerpoint/2010/main" val="4144640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3" name="Rectangle 6"/>
          <p:cNvSpPr>
            <a:spLocks noGrp="1" noChangeArrowheads="1"/>
          </p:cNvSpPr>
          <p:nvPr>
            <p:ph type="sldNum" idx="11"/>
          </p:nvPr>
        </p:nvSpPr>
        <p:spPr>
          <a:ln/>
        </p:spPr>
        <p:txBody>
          <a:bodyPr/>
          <a:lstStyle>
            <a:lvl1pPr>
              <a:defRPr/>
            </a:lvl1pPr>
          </a:lstStyle>
          <a:p>
            <a:pPr>
              <a:defRPr/>
            </a:pPr>
            <a:fld id="{2E885FDD-D383-4C7E-B940-A1994C483989}" type="slidenum">
              <a:rPr lang="fr-FR" altLang="fr-FR"/>
              <a:pPr>
                <a:defRPr/>
              </a:pPr>
              <a:t>‹N°›</a:t>
            </a:fld>
            <a:endParaRPr lang="fr-FR" altLang="fr-FR"/>
          </a:p>
        </p:txBody>
      </p:sp>
    </p:spTree>
    <p:extLst>
      <p:ext uri="{BB962C8B-B14F-4D97-AF65-F5344CB8AC3E}">
        <p14:creationId xmlns:p14="http://schemas.microsoft.com/office/powerpoint/2010/main" val="1539812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6" name="Rectangle 6"/>
          <p:cNvSpPr>
            <a:spLocks noGrp="1" noChangeArrowheads="1"/>
          </p:cNvSpPr>
          <p:nvPr>
            <p:ph type="sldNum" idx="11"/>
          </p:nvPr>
        </p:nvSpPr>
        <p:spPr>
          <a:ln/>
        </p:spPr>
        <p:txBody>
          <a:bodyPr/>
          <a:lstStyle>
            <a:lvl1pPr>
              <a:defRPr/>
            </a:lvl1pPr>
          </a:lstStyle>
          <a:p>
            <a:pPr>
              <a:defRPr/>
            </a:pPr>
            <a:fld id="{D85A85CB-623B-4003-9E12-48FD893DA3ED}" type="slidenum">
              <a:rPr lang="fr-FR" altLang="fr-FR"/>
              <a:pPr>
                <a:defRPr/>
              </a:pPr>
              <a:t>‹N°›</a:t>
            </a:fld>
            <a:endParaRPr lang="fr-FR" altLang="fr-FR"/>
          </a:p>
        </p:txBody>
      </p:sp>
    </p:spTree>
    <p:extLst>
      <p:ext uri="{BB962C8B-B14F-4D97-AF65-F5344CB8AC3E}">
        <p14:creationId xmlns:p14="http://schemas.microsoft.com/office/powerpoint/2010/main" val="9659612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6" name="Rectangle 6"/>
          <p:cNvSpPr>
            <a:spLocks noGrp="1" noChangeArrowheads="1"/>
          </p:cNvSpPr>
          <p:nvPr>
            <p:ph type="sldNum" idx="11"/>
          </p:nvPr>
        </p:nvSpPr>
        <p:spPr>
          <a:ln/>
        </p:spPr>
        <p:txBody>
          <a:bodyPr/>
          <a:lstStyle>
            <a:lvl1pPr>
              <a:defRPr/>
            </a:lvl1pPr>
          </a:lstStyle>
          <a:p>
            <a:pPr>
              <a:defRPr/>
            </a:pPr>
            <a:fld id="{8533BBD4-86F6-4823-A85D-BF355F692B9A}" type="slidenum">
              <a:rPr lang="fr-FR" altLang="fr-FR"/>
              <a:pPr>
                <a:defRPr/>
              </a:pPr>
              <a:t>‹N°›</a:t>
            </a:fld>
            <a:endParaRPr lang="fr-FR" altLang="fr-FR"/>
          </a:p>
        </p:txBody>
      </p:sp>
    </p:spTree>
    <p:extLst>
      <p:ext uri="{BB962C8B-B14F-4D97-AF65-F5344CB8AC3E}">
        <p14:creationId xmlns:p14="http://schemas.microsoft.com/office/powerpoint/2010/main" val="22503807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5F1D0D70-8D83-4DB6-A50B-B9C704A4B9D0}" type="slidenum">
              <a:rPr lang="fr-FR" altLang="fr-FR"/>
              <a:pPr>
                <a:defRPr/>
              </a:pPr>
              <a:t>‹N°›</a:t>
            </a:fld>
            <a:endParaRPr lang="fr-FR" altLang="fr-FR"/>
          </a:p>
        </p:txBody>
      </p:sp>
    </p:spTree>
    <p:extLst>
      <p:ext uri="{BB962C8B-B14F-4D97-AF65-F5344CB8AC3E}">
        <p14:creationId xmlns:p14="http://schemas.microsoft.com/office/powerpoint/2010/main" val="11300605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1463" y="179388"/>
            <a:ext cx="2063750" cy="539115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25450" y="179388"/>
            <a:ext cx="6043613" cy="53911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2CB7A291-945F-40DD-A8FA-09307B7F4BFF}" type="slidenum">
              <a:rPr lang="fr-FR" altLang="fr-FR"/>
              <a:pPr>
                <a:defRPr/>
              </a:pPr>
              <a:t>‹N°›</a:t>
            </a:fld>
            <a:endParaRPr lang="fr-FR" altLang="fr-FR"/>
          </a:p>
        </p:txBody>
      </p:sp>
    </p:spTree>
    <p:extLst>
      <p:ext uri="{BB962C8B-B14F-4D97-AF65-F5344CB8AC3E}">
        <p14:creationId xmlns:p14="http://schemas.microsoft.com/office/powerpoint/2010/main" val="36032311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mit Bild">
    <p:spTree>
      <p:nvGrpSpPr>
        <p:cNvPr id="1" name=""/>
        <p:cNvGrpSpPr/>
        <p:nvPr/>
      </p:nvGrpSpPr>
      <p:grpSpPr>
        <a:xfrm>
          <a:off x="0" y="0"/>
          <a:ext cx="0" cy="0"/>
          <a:chOff x="0" y="0"/>
          <a:chExt cx="0" cy="0"/>
        </a:xfrm>
      </p:grpSpPr>
      <p:sp>
        <p:nvSpPr>
          <p:cNvPr id="3" name="Rectangle 3"/>
          <p:cNvSpPr>
            <a:spLocks noGrp="1" noChangeArrowheads="1"/>
          </p:cNvSpPr>
          <p:nvPr>
            <p:ph type="subTitle" idx="1"/>
          </p:nvPr>
        </p:nvSpPr>
        <p:spPr>
          <a:xfrm>
            <a:off x="466725" y="1773238"/>
            <a:ext cx="8208000" cy="647622"/>
          </a:xfrm>
        </p:spPr>
        <p:txBody>
          <a:bodyPr/>
          <a:lstStyle>
            <a:lvl1pPr marL="0" indent="0">
              <a:buNone/>
              <a:defRPr/>
            </a:lvl1pPr>
          </a:lstStyle>
          <a:p>
            <a:pPr lvl="0"/>
            <a:r>
              <a:rPr lang="de-DE" noProof="0"/>
              <a:t>Formatvorlage des Untertitelmasters durch Klicken bearbeiten</a:t>
            </a:r>
          </a:p>
        </p:txBody>
      </p:sp>
      <p:sp>
        <p:nvSpPr>
          <p:cNvPr id="4" name="Line 13"/>
          <p:cNvSpPr>
            <a:spLocks noChangeShapeType="1"/>
          </p:cNvSpPr>
          <p:nvPr userDrawn="1"/>
        </p:nvSpPr>
        <p:spPr bwMode="auto">
          <a:xfrm>
            <a:off x="466725" y="2492870"/>
            <a:ext cx="820800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5" name="Bildplatzhalter 2"/>
          <p:cNvSpPr>
            <a:spLocks noGrp="1"/>
          </p:cNvSpPr>
          <p:nvPr>
            <p:ph type="pic" sz="quarter" idx="10"/>
          </p:nvPr>
        </p:nvSpPr>
        <p:spPr>
          <a:xfrm>
            <a:off x="469275" y="2636890"/>
            <a:ext cx="8208000" cy="3384470"/>
          </a:xfrm>
        </p:spPr>
        <p:txBody>
          <a:bodyPr anchor="ctr" anchorCtr="0"/>
          <a:lstStyle>
            <a:lvl1pPr marL="0" indent="0" algn="ctr">
              <a:buNone/>
              <a:defRPr/>
            </a:lvl1pPr>
          </a:lstStyle>
          <a:p>
            <a:r>
              <a:rPr lang="de-DE"/>
              <a:t>Bild durch Klicken auf Symbol hinzufügen</a:t>
            </a:r>
          </a:p>
        </p:txBody>
      </p:sp>
      <p:sp>
        <p:nvSpPr>
          <p:cNvPr id="6" name="Line 12"/>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7" name="Rectangle 2"/>
          <p:cNvSpPr>
            <a:spLocks noGrp="1" noChangeArrowheads="1"/>
          </p:cNvSpPr>
          <p:nvPr>
            <p:ph type="ctrTitle"/>
          </p:nvPr>
        </p:nvSpPr>
        <p:spPr>
          <a:xfrm>
            <a:off x="466725" y="476823"/>
            <a:ext cx="8208000" cy="1008140"/>
          </a:xfrm>
          <a:noFill/>
        </p:spPr>
        <p:txBody>
          <a:bodyPr/>
          <a:lstStyle>
            <a:lvl1pPr marL="0" indent="0">
              <a:defRPr sz="2400" cap="all" baseline="0">
                <a:solidFill>
                  <a:schemeClr val="tx2"/>
                </a:solidFill>
              </a:defRPr>
            </a:lvl1pPr>
          </a:lstStyle>
          <a:p>
            <a:pPr lvl="0"/>
            <a:r>
              <a:rPr lang="de-DE" noProof="0"/>
              <a:t>Titelmasterformat durch Klicken bearbeiten</a:t>
            </a:r>
          </a:p>
        </p:txBody>
      </p:sp>
      <p:sp>
        <p:nvSpPr>
          <p:cNvPr id="14" name="Rechteck 13">
            <a:extLst>
              <a:ext uri="{FF2B5EF4-FFF2-40B4-BE49-F238E27FC236}">
                <a16:creationId xmlns="" xmlns:a16="http://schemas.microsoft.com/office/drawing/2014/main" id="{8057E75B-1BA4-8441-B772-93FF201ECBCC}"/>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spTree>
    <p:extLst>
      <p:ext uri="{BB962C8B-B14F-4D97-AF65-F5344CB8AC3E}">
        <p14:creationId xmlns:p14="http://schemas.microsoft.com/office/powerpoint/2010/main" val="8892982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3" name="Rectangle 2"/>
          <p:cNvSpPr>
            <a:spLocks noGrp="1" noChangeArrowheads="1"/>
          </p:cNvSpPr>
          <p:nvPr>
            <p:ph type="ctrTitle"/>
          </p:nvPr>
        </p:nvSpPr>
        <p:spPr>
          <a:xfrm>
            <a:off x="466725" y="476823"/>
            <a:ext cx="8208000" cy="1007908"/>
          </a:xfrm>
        </p:spPr>
        <p:txBody>
          <a:bodyPr/>
          <a:lstStyle>
            <a:lvl1pPr marL="0" indent="0">
              <a:defRPr sz="2400" cap="all" baseline="0">
                <a:solidFill>
                  <a:schemeClr val="tx2"/>
                </a:solidFill>
              </a:defRPr>
            </a:lvl1pPr>
          </a:lstStyle>
          <a:p>
            <a:pPr lvl="0"/>
            <a:r>
              <a:rPr lang="de-DE" noProof="0"/>
              <a:t>Titelmasterformat durch Klicken bearbeiten</a:t>
            </a:r>
          </a:p>
        </p:txBody>
      </p:sp>
      <p:sp>
        <p:nvSpPr>
          <p:cNvPr id="5" name="Line 8"/>
          <p:cNvSpPr>
            <a:spLocks noChangeShapeType="1"/>
          </p:cNvSpPr>
          <p:nvPr userDrawn="1"/>
        </p:nvSpPr>
        <p:spPr bwMode="auto">
          <a:xfrm>
            <a:off x="468000" y="1558800"/>
            <a:ext cx="820800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6" name="Textplatzhalter 2"/>
          <p:cNvSpPr>
            <a:spLocks noGrp="1"/>
          </p:cNvSpPr>
          <p:nvPr>
            <p:ph type="body" sz="quarter" idx="10" hasCustomPrompt="1"/>
          </p:nvPr>
        </p:nvSpPr>
        <p:spPr>
          <a:xfrm>
            <a:off x="466726" y="1773238"/>
            <a:ext cx="8209275" cy="4248150"/>
          </a:xfrm>
        </p:spPr>
        <p:txBody>
          <a:bodyPr/>
          <a:lstStyle>
            <a:lvl1pPr marL="270000" indent="-270000">
              <a:buFont typeface="Wingdings" pitchFamily="2" charset="2"/>
              <a:buChar char="n"/>
              <a:defRPr/>
            </a:lvl1pPr>
            <a:lvl2pPr marL="540000" indent="-270000">
              <a:buFont typeface="Wingdings" pitchFamily="2" charset="2"/>
              <a:buChar char="n"/>
              <a:defRPr/>
            </a:lvl2pPr>
            <a:lvl3pPr marL="810000">
              <a:defRPr/>
            </a:lvl3pPr>
            <a:lvl4pPr marL="1080000">
              <a:defRPr/>
            </a:lvl4pPr>
            <a:lvl5pPr marL="1350000" indent="-270000">
              <a:defRPr/>
            </a:lvl5pPr>
          </a:lstStyle>
          <a:p>
            <a:pPr lvl="0"/>
            <a:r>
              <a:rPr lang="de-DE"/>
              <a:t>TOP1</a:t>
            </a:r>
          </a:p>
          <a:p>
            <a:pPr lvl="1"/>
            <a:r>
              <a:rPr lang="de-DE" err="1"/>
              <a:t>tbd</a:t>
            </a:r>
            <a:endParaRPr lang="de-DE"/>
          </a:p>
          <a:p>
            <a:pPr lvl="0"/>
            <a:r>
              <a:rPr lang="de-DE"/>
              <a:t>TOP2</a:t>
            </a:r>
          </a:p>
          <a:p>
            <a:pPr lvl="1"/>
            <a:r>
              <a:rPr lang="de-DE" err="1"/>
              <a:t>tbd</a:t>
            </a:r>
            <a:endParaRPr lang="de-DE"/>
          </a:p>
          <a:p>
            <a:pPr lvl="0"/>
            <a:r>
              <a:rPr lang="de-DE"/>
              <a:t>TOP3</a:t>
            </a:r>
          </a:p>
          <a:p>
            <a:pPr lvl="0"/>
            <a:r>
              <a:rPr lang="de-DE"/>
              <a:t>TOP4</a:t>
            </a:r>
          </a:p>
          <a:p>
            <a:pPr lvl="0"/>
            <a:r>
              <a:rPr lang="de-DE"/>
              <a:t>TOP5</a:t>
            </a:r>
          </a:p>
        </p:txBody>
      </p:sp>
      <p:sp>
        <p:nvSpPr>
          <p:cNvPr id="9" name="Line 12">
            <a:extLst>
              <a:ext uri="{FF2B5EF4-FFF2-40B4-BE49-F238E27FC236}">
                <a16:creationId xmlns="" xmlns:a16="http://schemas.microsoft.com/office/drawing/2014/main" id="{1F50E54C-8C05-B94E-ADB8-7C1789743323}"/>
              </a:ext>
            </a:extLst>
          </p:cNvPr>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10" name="Rechteck 9">
            <a:extLst>
              <a:ext uri="{FF2B5EF4-FFF2-40B4-BE49-F238E27FC236}">
                <a16:creationId xmlns="" xmlns:a16="http://schemas.microsoft.com/office/drawing/2014/main" id="{2DAB4D7D-F005-4047-A0A9-3386640B43BE}"/>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spTree>
    <p:extLst>
      <p:ext uri="{BB962C8B-B14F-4D97-AF65-F5344CB8AC3E}">
        <p14:creationId xmlns:p14="http://schemas.microsoft.com/office/powerpoint/2010/main" val="3868630363"/>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p:cNvSpPr>
            <a:spLocks noGrp="1"/>
          </p:cNvSpPr>
          <p:nvPr>
            <p:ph type="title"/>
          </p:nvPr>
        </p:nvSpPr>
        <p:spPr>
          <a:xfrm>
            <a:off x="466725" y="548680"/>
            <a:ext cx="8208000" cy="276999"/>
          </a:xfrm>
        </p:spPr>
        <p:txBody>
          <a:bodyPr wrap="square">
            <a:spAutoFit/>
          </a:bodyPr>
          <a:lstStyle>
            <a:lvl1pPr marL="0" indent="0" defTabSz="378000">
              <a:defRPr>
                <a:solidFill>
                  <a:schemeClr val="tx2"/>
                </a:solidFill>
              </a:defRPr>
            </a:lvl1pPr>
          </a:lstStyle>
          <a:p>
            <a:r>
              <a:rPr lang="de-DE"/>
              <a:t>Titelmasterformat durch Klicken bearbeiten</a:t>
            </a:r>
          </a:p>
        </p:txBody>
      </p:sp>
      <p:sp>
        <p:nvSpPr>
          <p:cNvPr id="3" name="Inhaltsplatzhalter 2"/>
          <p:cNvSpPr>
            <a:spLocks noGrp="1"/>
          </p:cNvSpPr>
          <p:nvPr>
            <p:ph idx="1" hasCustomPrompt="1"/>
          </p:nvPr>
        </p:nvSpPr>
        <p:spPr>
          <a:xfrm>
            <a:off x="466725" y="1773238"/>
            <a:ext cx="8208000" cy="4248150"/>
          </a:xfrm>
        </p:spPr>
        <p:txBody>
          <a:bodyPr/>
          <a:lstStyle>
            <a:lvl2pPr>
              <a:defRPr/>
            </a:lvl2pPr>
            <a:lvl3pPr>
              <a:defRPr/>
            </a:lvl3pPr>
            <a:lvl4pPr>
              <a:defRPr/>
            </a:lvl4pPr>
            <a:lvl5pPr>
              <a:defRPr/>
            </a:lvl5pPr>
          </a:lstStyle>
          <a:p>
            <a:pPr lvl="0"/>
            <a:r>
              <a:rPr lang="de-DE"/>
              <a:t>Formatvorlagen des Textmasters bearbeiten</a:t>
            </a:r>
          </a:p>
          <a:p>
            <a:pPr lvl="1"/>
            <a:r>
              <a:rPr lang="de-DE"/>
              <a:t>Level 2</a:t>
            </a:r>
          </a:p>
          <a:p>
            <a:pPr lvl="2"/>
            <a:r>
              <a:rPr lang="de-DE"/>
              <a:t>Level 3</a:t>
            </a:r>
          </a:p>
          <a:p>
            <a:pPr lvl="3"/>
            <a:r>
              <a:rPr lang="de-DE"/>
              <a:t>Level 4</a:t>
            </a:r>
          </a:p>
          <a:p>
            <a:pPr lvl="4"/>
            <a:r>
              <a:rPr lang="de-DE"/>
              <a:t>Level 5</a:t>
            </a:r>
          </a:p>
        </p:txBody>
      </p:sp>
      <p:sp>
        <p:nvSpPr>
          <p:cNvPr id="6" name="Line 12">
            <a:extLst>
              <a:ext uri="{FF2B5EF4-FFF2-40B4-BE49-F238E27FC236}">
                <a16:creationId xmlns="" xmlns:a16="http://schemas.microsoft.com/office/drawing/2014/main" id="{F1F83477-428A-CD4F-8F94-A9F5DCDE6AFD}"/>
              </a:ext>
            </a:extLst>
          </p:cNvPr>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7" name="Rechteck 6">
            <a:extLst>
              <a:ext uri="{FF2B5EF4-FFF2-40B4-BE49-F238E27FC236}">
                <a16:creationId xmlns="" xmlns:a16="http://schemas.microsoft.com/office/drawing/2014/main" id="{D42626D6-2400-E048-9680-B4D57F9F78D8}"/>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spTree>
    <p:extLst>
      <p:ext uri="{BB962C8B-B14F-4D97-AF65-F5344CB8AC3E}">
        <p14:creationId xmlns:p14="http://schemas.microsoft.com/office/powerpoint/2010/main" val="12831360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6" name="Line 12">
            <a:extLst>
              <a:ext uri="{FF2B5EF4-FFF2-40B4-BE49-F238E27FC236}">
                <a16:creationId xmlns="" xmlns:a16="http://schemas.microsoft.com/office/drawing/2014/main" id="{F1F83477-428A-CD4F-8F94-A9F5DCDE6AFD}"/>
              </a:ext>
            </a:extLst>
          </p:cNvPr>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7" name="Rechteck 6">
            <a:extLst>
              <a:ext uri="{FF2B5EF4-FFF2-40B4-BE49-F238E27FC236}">
                <a16:creationId xmlns="" xmlns:a16="http://schemas.microsoft.com/office/drawing/2014/main" id="{D42626D6-2400-E048-9680-B4D57F9F78D8}"/>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pic>
        <p:nvPicPr>
          <p:cNvPr id="8" name="Picture 26"/>
          <p:cNvPicPr/>
          <p:nvPr userDrawn="1"/>
        </p:nvPicPr>
        <p:blipFill>
          <a:blip r:embed="rId2" cstate="print">
            <a:extLst>
              <a:ext uri="{28A0092B-C50C-407E-A947-70E740481C1C}">
                <a14:useLocalDpi xmlns:a14="http://schemas.microsoft.com/office/drawing/2010/main" val="0"/>
              </a:ext>
            </a:extLst>
          </a:blip>
          <a:stretch>
            <a:fillRect/>
          </a:stretch>
        </p:blipFill>
        <p:spPr>
          <a:xfrm>
            <a:off x="466725" y="1772816"/>
            <a:ext cx="1079500" cy="7334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feld 3"/>
          <p:cNvSpPr txBox="1"/>
          <p:nvPr userDrawn="1"/>
        </p:nvSpPr>
        <p:spPr>
          <a:xfrm>
            <a:off x="466726" y="2708920"/>
            <a:ext cx="8210550" cy="3293209"/>
          </a:xfrm>
          <a:prstGeom prst="rect">
            <a:avLst/>
          </a:prstGeom>
          <a:noFill/>
        </p:spPr>
        <p:txBody>
          <a:bodyPr wrap="square" rtlCol="0">
            <a:spAutoFit/>
          </a:bodyPr>
          <a:lstStyle/>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This project has received funding from the European Union’s Horizon 2020 research and innovation </a:t>
            </a:r>
            <a:r>
              <a:rPr lang="en-US" sz="1600" i="1" err="1">
                <a:solidFill>
                  <a:srgbClr val="000000"/>
                </a:solidFill>
                <a:latin typeface="Calibri" panose="020F0502020204030204"/>
                <a:cs typeface="+mn-cs"/>
              </a:rPr>
              <a:t>programme</a:t>
            </a:r>
            <a:r>
              <a:rPr lang="en-US" sz="1600" i="1">
                <a:solidFill>
                  <a:srgbClr val="000000"/>
                </a:solidFill>
                <a:latin typeface="Calibri" panose="020F0502020204030204"/>
                <a:cs typeface="+mn-cs"/>
              </a:rPr>
              <a:t> under grant agreement No 760907.</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This document and all information contained herein is the sole property of the VIMMP Consortium. It may contain information subject to intellectual property rights. No intellectual property rights are granted by the delivery of this document or the disclosure of its content.</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Reproduction or circulation of this document to any third party is prohibited without the consent of the author(s).</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The statements made herein do not necessarily have the consent or agreement of the VIMMP consortium and represent the opinion and findings of the author(s). </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 </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All rights reserved.</a:t>
            </a:r>
            <a:endParaRPr lang="en-US" sz="1600">
              <a:solidFill>
                <a:srgbClr val="000000"/>
              </a:solidFill>
              <a:latin typeface="Calibri" panose="020F0502020204030204"/>
              <a:cs typeface="+mn-cs"/>
            </a:endParaRPr>
          </a:p>
        </p:txBody>
      </p:sp>
    </p:spTree>
    <p:extLst>
      <p:ext uri="{BB962C8B-B14F-4D97-AF65-F5344CB8AC3E}">
        <p14:creationId xmlns:p14="http://schemas.microsoft.com/office/powerpoint/2010/main" val="495429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slideLayout" Target="../slideLayouts/slideLayout26.xml"/><Relationship Id="rId7" Type="http://schemas.openxmlformats.org/officeDocument/2006/relationships/image" Target="../media/image7.jpeg"/><Relationship Id="rId12" Type="http://schemas.openxmlformats.org/officeDocument/2006/relationships/image" Target="../media/image12.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theme" Target="../theme/theme3.xml"/><Relationship Id="rId10" Type="http://schemas.openxmlformats.org/officeDocument/2006/relationships/image" Target="../media/image10.png"/><Relationship Id="rId4" Type="http://schemas.openxmlformats.org/officeDocument/2006/relationships/slideLayout" Target="../slideLayouts/slideLayout27.xml"/><Relationship Id="rId9" Type="http://schemas.openxmlformats.org/officeDocument/2006/relationships/image" Target="../media/image9.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19100" y="1525588"/>
            <a:ext cx="4241800"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fr-FR"/>
              <a:t>Cliquez pour éditer le format du texte-titre</a:t>
            </a:r>
          </a:p>
        </p:txBody>
      </p:sp>
      <p:sp>
        <p:nvSpPr>
          <p:cNvPr id="1027" name="Rectangle 2"/>
          <p:cNvSpPr>
            <a:spLocks noGrp="1" noChangeArrowheads="1"/>
          </p:cNvSpPr>
          <p:nvPr>
            <p:ph type="body" idx="1"/>
          </p:nvPr>
        </p:nvSpPr>
        <p:spPr bwMode="auto">
          <a:xfrm>
            <a:off x="601663" y="4040188"/>
            <a:ext cx="4225925"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fr-FR"/>
              <a:t>Cliquez pour éditer le format du plan de texte</a:t>
            </a:r>
          </a:p>
          <a:p>
            <a:pPr lvl="1"/>
            <a:r>
              <a:rPr lang="en-GB" altLang="fr-FR"/>
              <a:t>Second niveau de plan</a:t>
            </a:r>
          </a:p>
          <a:p>
            <a:pPr lvl="2"/>
            <a:r>
              <a:rPr lang="en-GB" altLang="fr-FR"/>
              <a:t>Troisième niveau de plan</a:t>
            </a:r>
          </a:p>
          <a:p>
            <a:pPr lvl="3"/>
            <a:r>
              <a:rPr lang="en-GB" altLang="fr-FR"/>
              <a:t>Quatrième niveau de plan</a:t>
            </a:r>
          </a:p>
          <a:p>
            <a:pPr lvl="4"/>
            <a:r>
              <a:rPr lang="en-GB" altLang="fr-FR"/>
              <a:t>Cinquième niveau de plan</a:t>
            </a:r>
          </a:p>
          <a:p>
            <a:pPr lvl="4"/>
            <a:r>
              <a:rPr lang="en-GB" altLang="fr-FR"/>
              <a:t>Sixième niveau de plan</a:t>
            </a:r>
          </a:p>
          <a:p>
            <a:pPr lvl="4"/>
            <a:r>
              <a:rPr lang="en-GB" altLang="fr-FR"/>
              <a:t>Septième niveau de plan</a:t>
            </a:r>
          </a:p>
        </p:txBody>
      </p:sp>
      <p:pic>
        <p:nvPicPr>
          <p:cNvPr id="1028"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9913" y="482600"/>
            <a:ext cx="11890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029" name="Picture 4"/>
          <p:cNvPicPr>
            <a:picLocks noChangeAspect="1" noChangeArrowheads="1"/>
          </p:cNvPicPr>
          <p:nvPr/>
        </p:nvPicPr>
        <p:blipFill>
          <a:blip r:embed="rId15">
            <a:extLst>
              <a:ext uri="{28A0092B-C50C-407E-A947-70E740481C1C}">
                <a14:useLocalDpi xmlns:a14="http://schemas.microsoft.com/office/drawing/2010/main" val="0"/>
              </a:ext>
            </a:extLst>
          </a:blip>
          <a:srcRect l="29" r="29"/>
          <a:stretch>
            <a:fillRect/>
          </a:stretch>
        </p:blipFill>
        <p:spPr bwMode="auto">
          <a:xfrm>
            <a:off x="5699125" y="0"/>
            <a:ext cx="34448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73" r:id="rId12"/>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5pPr>
      <a:lvl6pPr marL="25146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6pPr>
      <a:lvl7pPr marL="29718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7pPr>
      <a:lvl8pPr marL="34290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8pPr>
      <a:lvl9pPr marL="38862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9pPr>
    </p:titleStyle>
    <p:bodyStyle>
      <a:lvl1pPr marL="342900" indent="-3429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ea typeface="+mn-ea"/>
          <a:cs typeface="+mn-cs"/>
        </a:defRPr>
      </a:lvl1pPr>
      <a:lvl2pPr marL="742950" indent="-28575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2pPr>
      <a:lvl3pPr marL="11430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3pPr>
      <a:lvl4pPr marL="16002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4pPr>
      <a:lvl5pPr marL="20574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5pPr>
      <a:lvl6pPr marL="25146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6pPr>
      <a:lvl7pPr marL="29718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7pPr>
      <a:lvl8pPr marL="34290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8pPr>
      <a:lvl9pPr marL="38862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0" name="Picture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288" y="6291263"/>
            <a:ext cx="6223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051" name="Rectangle 2"/>
          <p:cNvSpPr>
            <a:spLocks noGrp="1" noChangeArrowheads="1"/>
          </p:cNvSpPr>
          <p:nvPr>
            <p:ph type="title"/>
          </p:nvPr>
        </p:nvSpPr>
        <p:spPr bwMode="auto">
          <a:xfrm>
            <a:off x="425450" y="179388"/>
            <a:ext cx="8259763"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altLang="fr-FR"/>
              <a:t>Cliquez pour éditer le format du texte-titre</a:t>
            </a:r>
          </a:p>
        </p:txBody>
      </p:sp>
      <p:sp>
        <p:nvSpPr>
          <p:cNvPr id="3075" name="Rectangle 3"/>
          <p:cNvSpPr>
            <a:spLocks noGrp="1" noChangeArrowheads="1"/>
          </p:cNvSpPr>
          <p:nvPr>
            <p:ph type="ftr"/>
          </p:nvPr>
        </p:nvSpPr>
        <p:spPr bwMode="auto">
          <a:xfrm>
            <a:off x="0" y="0"/>
            <a:ext cx="0" cy="1325562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hangingPunct="1">
              <a:buClrTx/>
              <a:buSzPct val="100000"/>
              <a:buFontTx/>
              <a:buNone/>
              <a:defRPr sz="2400">
                <a:solidFill>
                  <a:srgbClr val="7F7F7F"/>
                </a:solidFill>
                <a:latin typeface="Times New Roman" pitchFamily="18" charset="0"/>
                <a:ea typeface="+mn-ea"/>
                <a:cs typeface="+mn-cs"/>
              </a:defRPr>
            </a:lvl1pPr>
          </a:lstStyle>
          <a:p>
            <a:pPr>
              <a:defRPr/>
            </a:pPr>
            <a:r>
              <a:rPr lang="fr-FR"/>
              <a:t>I  EDF  I  lorem ipsum  I  juin 2012</a:t>
            </a:r>
          </a:p>
        </p:txBody>
      </p:sp>
      <p:sp>
        <p:nvSpPr>
          <p:cNvPr id="2053" name="Rectangle 4"/>
          <p:cNvSpPr>
            <a:spLocks noGrp="1" noChangeArrowheads="1"/>
          </p:cNvSpPr>
          <p:nvPr>
            <p:ph type="body" idx="1"/>
          </p:nvPr>
        </p:nvSpPr>
        <p:spPr bwMode="auto">
          <a:xfrm>
            <a:off x="425450" y="1951038"/>
            <a:ext cx="3878263"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fr-FR"/>
              <a:t>Cliquez pour éditer le format du plan de texte</a:t>
            </a:r>
          </a:p>
          <a:p>
            <a:pPr lvl="1"/>
            <a:r>
              <a:rPr lang="en-GB" altLang="fr-FR"/>
              <a:t>Second niveau de plan</a:t>
            </a:r>
          </a:p>
          <a:p>
            <a:pPr lvl="2"/>
            <a:r>
              <a:rPr lang="en-GB" altLang="fr-FR"/>
              <a:t>Troisième niveau de plan</a:t>
            </a:r>
          </a:p>
          <a:p>
            <a:pPr lvl="3"/>
            <a:r>
              <a:rPr lang="en-GB" altLang="fr-FR"/>
              <a:t>Quatrième niveau de plan</a:t>
            </a:r>
          </a:p>
          <a:p>
            <a:pPr lvl="4"/>
            <a:r>
              <a:rPr lang="en-GB" altLang="fr-FR"/>
              <a:t>Cinquième niveau de plan</a:t>
            </a:r>
          </a:p>
          <a:p>
            <a:pPr lvl="4"/>
            <a:r>
              <a:rPr lang="en-GB" altLang="fr-FR"/>
              <a:t>Sixième niveau de plan</a:t>
            </a:r>
          </a:p>
          <a:p>
            <a:pPr lvl="4"/>
            <a:r>
              <a:rPr lang="en-GB" altLang="fr-FR"/>
              <a:t>Septième niveau de plan</a:t>
            </a:r>
          </a:p>
        </p:txBody>
      </p:sp>
      <p:sp>
        <p:nvSpPr>
          <p:cNvPr id="2054" name="Text Box 5"/>
          <p:cNvSpPr txBox="1">
            <a:spLocks noChangeArrowheads="1"/>
          </p:cNvSpPr>
          <p:nvPr/>
        </p:nvSpPr>
        <p:spPr bwMode="auto">
          <a:xfrm>
            <a:off x="4808538" y="1951038"/>
            <a:ext cx="3881437" cy="362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p>
            <a:pPr eaLnBrk="1" hangingPunct="1">
              <a:buClr>
                <a:srgbClr val="000000"/>
              </a:buClr>
              <a:buSzPct val="100000"/>
              <a:buFont typeface="Times New Roman" panose="02020603050405020304" pitchFamily="18" charset="0"/>
              <a:buNone/>
            </a:pPr>
            <a:endParaRPr lang="fr-FR" altLang="fr-FR">
              <a:solidFill>
                <a:srgbClr val="000000"/>
              </a:solidFill>
            </a:endParaRPr>
          </a:p>
        </p:txBody>
      </p:sp>
      <p:sp>
        <p:nvSpPr>
          <p:cNvPr id="3078" name="Rectangle 6"/>
          <p:cNvSpPr>
            <a:spLocks noGrp="1" noChangeArrowheads="1"/>
          </p:cNvSpPr>
          <p:nvPr>
            <p:ph type="sldNum"/>
          </p:nvPr>
        </p:nvSpPr>
        <p:spPr bwMode="auto">
          <a:xfrm>
            <a:off x="6296025" y="6376988"/>
            <a:ext cx="463550" cy="36353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hangingPunct="1">
              <a:buClrTx/>
              <a:buSzPct val="100000"/>
              <a:buFontTx/>
              <a:buNone/>
              <a:defRPr sz="900">
                <a:solidFill>
                  <a:srgbClr val="7F7F7F"/>
                </a:solidFill>
                <a:latin typeface="Times New Roman" panose="02020603050405020304" pitchFamily="18" charset="0"/>
              </a:defRPr>
            </a:lvl1pPr>
          </a:lstStyle>
          <a:p>
            <a:pPr>
              <a:defRPr/>
            </a:pPr>
            <a:fld id="{698C2C14-AB4D-4646-9713-9BBB48B9EB33}" type="slidenum">
              <a:rPr lang="fr-FR" altLang="fr-FR"/>
              <a:pPr>
                <a:defRPr/>
              </a:pPr>
              <a:t>‹N°›</a:t>
            </a:fld>
            <a:endParaRPr lang="fr-FR" altLang="fr-F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5pPr>
      <a:lvl6pPr marL="25146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6pPr>
      <a:lvl7pPr marL="29718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7pPr>
      <a:lvl8pPr marL="34290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8pPr>
      <a:lvl9pPr marL="38862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9pPr>
    </p:titleStyle>
    <p:bodyStyle>
      <a:lvl1pPr marL="342900" indent="-3429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5pPr>
      <a:lvl6pPr marL="25146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6pPr>
      <a:lvl7pPr marL="29718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7pPr>
      <a:lvl8pPr marL="34290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8pPr>
      <a:lvl9pPr marL="38862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6725" y="334800"/>
            <a:ext cx="8208000" cy="1225540"/>
          </a:xfrm>
          <a:prstGeom prst="rect">
            <a:avLst/>
          </a:prstGeom>
          <a:noFill/>
          <a:ln>
            <a:noFill/>
          </a:ln>
          <a:effectLst/>
        </p:spPr>
        <p:txBody>
          <a:bodyPr vert="horz" wrap="square" lIns="0" tIns="0" rIns="0" bIns="0" numCol="1" anchor="t" anchorCtr="0" compatLnSpc="1">
            <a:prstTxWarp prst="textNoShape">
              <a:avLst/>
            </a:prstTxWarp>
            <a:noAutofit/>
          </a:bodyPr>
          <a:lstStyle/>
          <a:p>
            <a:pPr lvl="0"/>
            <a:r>
              <a:rPr lang="de-DE"/>
              <a:t>Mastertitelformat bearbeiten</a:t>
            </a:r>
          </a:p>
        </p:txBody>
      </p:sp>
      <p:sp>
        <p:nvSpPr>
          <p:cNvPr id="1027" name="Rectangle 3"/>
          <p:cNvSpPr>
            <a:spLocks noGrp="1" noChangeArrowheads="1"/>
          </p:cNvSpPr>
          <p:nvPr>
            <p:ph type="body" idx="1"/>
          </p:nvPr>
        </p:nvSpPr>
        <p:spPr bwMode="auto">
          <a:xfrm>
            <a:off x="466725" y="1774800"/>
            <a:ext cx="8208000" cy="4248150"/>
          </a:xfrm>
          <a:prstGeom prst="rect">
            <a:avLst/>
          </a:prstGeom>
          <a:noFill/>
          <a:ln>
            <a:noFill/>
          </a:ln>
          <a:effectLst/>
        </p:spPr>
        <p:txBody>
          <a:bodyPr vert="horz" wrap="square" lIns="0" tIns="0" rIns="0" bIns="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32" name="Text Box 8"/>
          <p:cNvSpPr txBox="1">
            <a:spLocks noChangeArrowheads="1"/>
          </p:cNvSpPr>
          <p:nvPr/>
        </p:nvSpPr>
        <p:spPr bwMode="auto">
          <a:xfrm>
            <a:off x="3509882" y="6373416"/>
            <a:ext cx="15661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defTabSz="914400" eaLnBrk="1" hangingPunct="1">
              <a:spcBef>
                <a:spcPct val="50000"/>
              </a:spcBef>
            </a:pPr>
            <a:r>
              <a:rPr lang="de-DE" sz="750">
                <a:solidFill>
                  <a:srgbClr val="000000"/>
                </a:solidFill>
                <a:latin typeface="Frutiger LT Com 55 Roman" pitchFamily="34" charset="0"/>
                <a:cs typeface="+mn-cs"/>
              </a:rPr>
              <a:t>© VIMMP </a:t>
            </a:r>
            <a:r>
              <a:rPr lang="de-DE" sz="750" err="1">
                <a:solidFill>
                  <a:srgbClr val="000000"/>
                </a:solidFill>
                <a:latin typeface="Frutiger LT Com 55 Roman" pitchFamily="34" charset="0"/>
                <a:cs typeface="+mn-cs"/>
              </a:rPr>
              <a:t>Consortium</a:t>
            </a:r>
            <a:r>
              <a:rPr lang="de-DE" sz="750">
                <a:solidFill>
                  <a:srgbClr val="000000"/>
                </a:solidFill>
                <a:latin typeface="Frutiger LT Com 55 Roman" pitchFamily="34" charset="0"/>
                <a:cs typeface="+mn-cs"/>
              </a:rPr>
              <a:t/>
            </a:r>
            <a:br>
              <a:rPr lang="de-DE" sz="750">
                <a:solidFill>
                  <a:srgbClr val="000000"/>
                </a:solidFill>
                <a:latin typeface="Frutiger LT Com 55 Roman" pitchFamily="34" charset="0"/>
                <a:cs typeface="+mn-cs"/>
              </a:rPr>
            </a:br>
            <a:r>
              <a:rPr lang="de-DE" sz="750">
                <a:solidFill>
                  <a:srgbClr val="000000"/>
                </a:solidFill>
                <a:latin typeface="Frutiger LT Com 55 Roman" pitchFamily="34" charset="0"/>
                <a:cs typeface="+mn-cs"/>
              </a:rPr>
              <a:t>CONFIDENTIAL</a:t>
            </a:r>
            <a:endParaRPr lang="de-DE" sz="750">
              <a:solidFill>
                <a:srgbClr val="ACCBF9"/>
              </a:solidFill>
              <a:latin typeface="Frutiger LT Com 55 Roman" pitchFamily="34" charset="0"/>
              <a:cs typeface="+mn-cs"/>
            </a:endParaRPr>
          </a:p>
        </p:txBody>
      </p:sp>
      <p:pic>
        <p:nvPicPr>
          <p:cNvPr id="9" name="Grafik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a:off x="7607925" y="6237410"/>
            <a:ext cx="10668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12">
            <a:extLst>
              <a:ext uri="{FF2B5EF4-FFF2-40B4-BE49-F238E27FC236}">
                <a16:creationId xmlns="" xmlns:a16="http://schemas.microsoft.com/office/drawing/2014/main" id="{24B3EBD7-B515-F34C-8F2B-9F97FEFA892E}"/>
              </a:ext>
            </a:extLst>
          </p:cNvPr>
          <p:cNvSpPr>
            <a:spLocks noChangeShapeType="1"/>
          </p:cNvSpPr>
          <p:nvPr/>
        </p:nvSpPr>
        <p:spPr bwMode="auto">
          <a:xfrm flipV="1">
            <a:off x="466725" y="6165304"/>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12" name="Textfeld 11">
            <a:extLst>
              <a:ext uri="{FF2B5EF4-FFF2-40B4-BE49-F238E27FC236}">
                <a16:creationId xmlns="" xmlns:a16="http://schemas.microsoft.com/office/drawing/2014/main" id="{CD0CC5D0-4425-6248-98A3-1B95C5990685}"/>
              </a:ext>
            </a:extLst>
          </p:cNvPr>
          <p:cNvSpPr txBox="1"/>
          <p:nvPr/>
        </p:nvSpPr>
        <p:spPr>
          <a:xfrm>
            <a:off x="4562392" y="6288777"/>
            <a:ext cx="2671563" cy="400110"/>
          </a:xfrm>
          <a:prstGeom prst="rect">
            <a:avLst/>
          </a:prstGeom>
          <a:noFill/>
        </p:spPr>
        <p:txBody>
          <a:bodyPr wrap="square" rtlCol="0">
            <a:spAutoFit/>
          </a:bodyPr>
          <a:lstStyle/>
          <a:p>
            <a:pPr algn="r" defTabSz="914400" eaLnBrk="1" hangingPunct="1">
              <a:spcAft>
                <a:spcPct val="40000"/>
              </a:spcAft>
              <a:buFont typeface="Wingdings" pitchFamily="2" charset="2"/>
              <a:buNone/>
            </a:pPr>
            <a:fld id="{260E2A6B-A809-4840-BF14-8648BC0BDF87}" type="slidenum">
              <a:rPr lang="en-US" sz="2000" b="1" smtClean="0">
                <a:solidFill>
                  <a:srgbClr val="33D1CB"/>
                </a:solidFill>
                <a:latin typeface="Calibri" panose="020F0502020204030204"/>
                <a:cs typeface="Calibri Light"/>
              </a:rPr>
              <a:pPr algn="r" defTabSz="914400" eaLnBrk="1" hangingPunct="1">
                <a:spcAft>
                  <a:spcPct val="40000"/>
                </a:spcAft>
                <a:buFont typeface="Wingdings" pitchFamily="2" charset="2"/>
                <a:buNone/>
              </a:pPr>
              <a:t>‹N°›</a:t>
            </a:fld>
            <a:r>
              <a:rPr lang="en-US" sz="2000">
                <a:solidFill>
                  <a:srgbClr val="FFFFFF">
                    <a:lumMod val="75000"/>
                  </a:srgbClr>
                </a:solidFill>
                <a:latin typeface="Calibri" panose="020F0502020204030204"/>
                <a:cs typeface="+mn-cs"/>
              </a:rPr>
              <a:t>  | </a:t>
            </a:r>
            <a:r>
              <a:rPr lang="en-US" sz="2000">
                <a:solidFill>
                  <a:srgbClr val="000000"/>
                </a:solidFill>
                <a:latin typeface="Calibri" panose="020F0502020204030204"/>
                <a:cs typeface="+mn-cs"/>
              </a:rPr>
              <a:t>June 2020</a:t>
            </a:r>
          </a:p>
        </p:txBody>
      </p:sp>
      <p:pic>
        <p:nvPicPr>
          <p:cNvPr id="16" name="Grafik 1"/>
          <p:cNvPicPr>
            <a:picLocks noChangeAspect="1"/>
          </p:cNvPicPr>
          <p:nvPr userDrawn="1"/>
        </p:nvPicPr>
        <p:blipFill rotWithShape="1">
          <a:blip r:embed="rId7" cstate="print">
            <a:extLst>
              <a:ext uri="{28A0092B-C50C-407E-A947-70E740481C1C}">
                <a14:useLocalDpi xmlns:a14="http://schemas.microsoft.com/office/drawing/2010/main" val="0"/>
              </a:ext>
            </a:extLst>
          </a:blip>
          <a:srcRect l="13507" t="15349" r="9200" b="16377"/>
          <a:stretch/>
        </p:blipFill>
        <p:spPr>
          <a:xfrm>
            <a:off x="1541407" y="6195485"/>
            <a:ext cx="726338" cy="335233"/>
          </a:xfrm>
          <a:prstGeom prst="rect">
            <a:avLst/>
          </a:prstGeom>
        </p:spPr>
      </p:pic>
      <p:pic>
        <p:nvPicPr>
          <p:cNvPr id="17" name="Grafik 1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821823" y="6583348"/>
            <a:ext cx="473449" cy="173743"/>
          </a:xfrm>
          <a:prstGeom prst="rect">
            <a:avLst/>
          </a:prstGeom>
        </p:spPr>
      </p:pic>
      <p:pic>
        <p:nvPicPr>
          <p:cNvPr id="18" name="Grafik 7" descr="Logo_ausgetauscht"/>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66725" y="6259453"/>
            <a:ext cx="987898" cy="26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Image 18"/>
          <p:cNvPicPr/>
          <p:nvPr userDrawn="1"/>
        </p:nvPicPr>
        <p:blipFill>
          <a:blip r:embed="rId10"/>
          <a:stretch/>
        </p:blipFill>
        <p:spPr>
          <a:xfrm>
            <a:off x="2267745" y="6210026"/>
            <a:ext cx="735699" cy="257851"/>
          </a:xfrm>
          <a:prstGeom prst="rect">
            <a:avLst/>
          </a:prstGeom>
          <a:ln>
            <a:noFill/>
          </a:ln>
        </p:spPr>
      </p:pic>
      <p:pic>
        <p:nvPicPr>
          <p:cNvPr id="20" name="Image 19"/>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99300" y="6490213"/>
            <a:ext cx="792088" cy="313602"/>
          </a:xfrm>
          <a:prstGeom prst="rect">
            <a:avLst/>
          </a:prstGeom>
        </p:spPr>
      </p:pic>
      <p:pic>
        <p:nvPicPr>
          <p:cNvPr id="21" name="Image 20"/>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378799" y="6485660"/>
            <a:ext cx="1104892" cy="284328"/>
          </a:xfrm>
          <a:prstGeom prst="rect">
            <a:avLst/>
          </a:prstGeom>
        </p:spPr>
      </p:pic>
      <p:pic>
        <p:nvPicPr>
          <p:cNvPr id="22" name="Grafik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33517" y="6652822"/>
            <a:ext cx="576883" cy="105287"/>
          </a:xfrm>
          <a:prstGeom prst="rect">
            <a:avLst/>
          </a:prstGeom>
        </p:spPr>
      </p:pic>
    </p:spTree>
    <p:extLst>
      <p:ext uri="{BB962C8B-B14F-4D97-AF65-F5344CB8AC3E}">
        <p14:creationId xmlns:p14="http://schemas.microsoft.com/office/powerpoint/2010/main" val="55420952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Lst>
  <p:hf hdr="0" ftr="0" dt="0"/>
  <p:txStyles>
    <p:titleStyle>
      <a:lvl1pPr marL="0" indent="0" algn="l" defTabSz="378000" rtl="0" eaLnBrk="1" fontAlgn="base" hangingPunct="1">
        <a:spcBef>
          <a:spcPct val="0"/>
        </a:spcBef>
        <a:spcAft>
          <a:spcPct val="0"/>
        </a:spcAft>
        <a:defRPr sz="2400" b="1">
          <a:solidFill>
            <a:schemeClr val="tx2"/>
          </a:solidFill>
          <a:latin typeface="+mj-lt"/>
          <a:ea typeface="+mj-ea"/>
          <a:cs typeface="+mj-cs"/>
        </a:defRPr>
      </a:lvl1pPr>
      <a:lvl2pPr algn="l" rtl="0" eaLnBrk="1" fontAlgn="base" hangingPunct="1">
        <a:spcBef>
          <a:spcPct val="0"/>
        </a:spcBef>
        <a:spcAft>
          <a:spcPct val="0"/>
        </a:spcAft>
        <a:defRPr sz="1800" b="1">
          <a:solidFill>
            <a:schemeClr val="tx1"/>
          </a:solidFill>
          <a:latin typeface="Frutiger LT Com 45 Light" pitchFamily="34" charset="0"/>
        </a:defRPr>
      </a:lvl2pPr>
      <a:lvl3pPr algn="l" rtl="0" eaLnBrk="1" fontAlgn="base" hangingPunct="1">
        <a:spcBef>
          <a:spcPct val="0"/>
        </a:spcBef>
        <a:spcAft>
          <a:spcPct val="0"/>
        </a:spcAft>
        <a:defRPr sz="1800" b="1">
          <a:solidFill>
            <a:schemeClr val="tx1"/>
          </a:solidFill>
          <a:latin typeface="Frutiger LT Com 45 Light" pitchFamily="34" charset="0"/>
        </a:defRPr>
      </a:lvl3pPr>
      <a:lvl4pPr algn="l" rtl="0" eaLnBrk="1" fontAlgn="base" hangingPunct="1">
        <a:spcBef>
          <a:spcPct val="0"/>
        </a:spcBef>
        <a:spcAft>
          <a:spcPct val="0"/>
        </a:spcAft>
        <a:defRPr sz="1800" b="1">
          <a:solidFill>
            <a:schemeClr val="tx1"/>
          </a:solidFill>
          <a:latin typeface="Frutiger LT Com 45 Light" pitchFamily="34" charset="0"/>
        </a:defRPr>
      </a:lvl4pPr>
      <a:lvl5pPr algn="l" rtl="0" eaLnBrk="1" fontAlgn="base" hangingPunct="1">
        <a:spcBef>
          <a:spcPct val="0"/>
        </a:spcBef>
        <a:spcAft>
          <a:spcPct val="0"/>
        </a:spcAft>
        <a:defRPr sz="1800" b="1">
          <a:solidFill>
            <a:schemeClr val="tx1"/>
          </a:solidFill>
          <a:latin typeface="Frutiger LT Com 45 Light" pitchFamily="34" charset="0"/>
        </a:defRPr>
      </a:lvl5pPr>
      <a:lvl6pPr marL="342900" algn="l" rtl="0" eaLnBrk="1" fontAlgn="base" hangingPunct="1">
        <a:spcBef>
          <a:spcPct val="0"/>
        </a:spcBef>
        <a:spcAft>
          <a:spcPct val="0"/>
        </a:spcAft>
        <a:defRPr sz="1800" b="1">
          <a:solidFill>
            <a:schemeClr val="tx1"/>
          </a:solidFill>
          <a:latin typeface="Frutiger LT Com 45 Light" pitchFamily="34" charset="0"/>
        </a:defRPr>
      </a:lvl6pPr>
      <a:lvl7pPr marL="685800" algn="l" rtl="0" eaLnBrk="1" fontAlgn="base" hangingPunct="1">
        <a:spcBef>
          <a:spcPct val="0"/>
        </a:spcBef>
        <a:spcAft>
          <a:spcPct val="0"/>
        </a:spcAft>
        <a:defRPr sz="1800" b="1">
          <a:solidFill>
            <a:schemeClr val="tx1"/>
          </a:solidFill>
          <a:latin typeface="Frutiger LT Com 45 Light" pitchFamily="34" charset="0"/>
        </a:defRPr>
      </a:lvl7pPr>
      <a:lvl8pPr marL="1028700" algn="l" rtl="0" eaLnBrk="1" fontAlgn="base" hangingPunct="1">
        <a:spcBef>
          <a:spcPct val="0"/>
        </a:spcBef>
        <a:spcAft>
          <a:spcPct val="0"/>
        </a:spcAft>
        <a:defRPr sz="1800" b="1">
          <a:solidFill>
            <a:schemeClr val="tx1"/>
          </a:solidFill>
          <a:latin typeface="Frutiger LT Com 45 Light" pitchFamily="34" charset="0"/>
        </a:defRPr>
      </a:lvl8pPr>
      <a:lvl9pPr marL="1371600" algn="l" rtl="0" eaLnBrk="1" fontAlgn="base" hangingPunct="1">
        <a:spcBef>
          <a:spcPct val="0"/>
        </a:spcBef>
        <a:spcAft>
          <a:spcPct val="0"/>
        </a:spcAft>
        <a:defRPr sz="1800" b="1">
          <a:solidFill>
            <a:schemeClr val="tx1"/>
          </a:solidFill>
          <a:latin typeface="Frutiger LT Com 45 Light" pitchFamily="34" charset="0"/>
        </a:defRPr>
      </a:lvl9pPr>
    </p:titleStyle>
    <p:bodyStyle>
      <a:lvl1pPr marL="270000" indent="-270000" algn="l" defTabSz="270000" rtl="0" eaLnBrk="1" fontAlgn="base" hangingPunct="1">
        <a:spcBef>
          <a:spcPct val="0"/>
        </a:spcBef>
        <a:spcAft>
          <a:spcPts val="675"/>
        </a:spcAft>
        <a:buClr>
          <a:schemeClr val="tx2"/>
        </a:buClr>
        <a:buFont typeface="Wingdings" pitchFamily="2" charset="2"/>
        <a:buChar char="n"/>
        <a:defRPr>
          <a:solidFill>
            <a:schemeClr val="tx1"/>
          </a:solidFill>
          <a:latin typeface="+mn-lt"/>
          <a:ea typeface="+mn-ea"/>
          <a:cs typeface="+mn-cs"/>
        </a:defRPr>
      </a:lvl1pPr>
      <a:lvl2pPr marL="54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2pPr>
      <a:lvl3pPr marL="81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3pPr>
      <a:lvl4pPr marL="108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4pPr>
      <a:lvl5pPr marL="135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5pPr>
      <a:lvl6pPr marL="14156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17585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1014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24443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3"/>
          </p:nvPr>
        </p:nvSpPr>
        <p:spPr>
          <a:xfrm>
            <a:off x="421145" y="1959535"/>
            <a:ext cx="3775294" cy="1138266"/>
          </a:xfrm>
        </p:spPr>
        <p:txBody>
          <a:bodyPr/>
          <a:lstStyle/>
          <a:p>
            <a:r>
              <a:rPr lang="fr-FR"/>
              <a:t>Modèle de Données Métier </a:t>
            </a:r>
          </a:p>
        </p:txBody>
      </p:sp>
      <p:sp>
        <p:nvSpPr>
          <p:cNvPr id="3" name="Espace réservé du texte 2"/>
          <p:cNvSpPr>
            <a:spLocks noGrp="1"/>
          </p:cNvSpPr>
          <p:nvPr>
            <p:ph type="body" sz="quarter" idx="14"/>
          </p:nvPr>
        </p:nvSpPr>
        <p:spPr>
          <a:xfrm>
            <a:off x="421145" y="3208165"/>
            <a:ext cx="3775294" cy="618939"/>
          </a:xfrm>
        </p:spPr>
        <p:txBody>
          <a:bodyPr/>
          <a:lstStyle/>
          <a:p>
            <a:r>
              <a:rPr lang="fr-FR"/>
              <a:t>   </a:t>
            </a:r>
          </a:p>
          <a:p>
            <a:endParaRPr lang="fr-FR"/>
          </a:p>
        </p:txBody>
      </p:sp>
      <p:sp>
        <p:nvSpPr>
          <p:cNvPr id="4" name="Espace réservé du texte 3"/>
          <p:cNvSpPr>
            <a:spLocks noGrp="1"/>
          </p:cNvSpPr>
          <p:nvPr>
            <p:ph type="body" sz="quarter" idx="15"/>
          </p:nvPr>
        </p:nvSpPr>
        <p:spPr>
          <a:xfrm>
            <a:off x="421145" y="5024269"/>
            <a:ext cx="3775294" cy="482372"/>
          </a:xfrm>
        </p:spPr>
        <p:txBody>
          <a:bodyPr/>
          <a:lstStyle/>
          <a:p>
            <a:r>
              <a:rPr lang="fr-FR"/>
              <a:t>27/08/2020</a:t>
            </a:r>
          </a:p>
          <a:p>
            <a:endParaRPr lang="fr-FR"/>
          </a:p>
        </p:txBody>
      </p:sp>
    </p:spTree>
    <p:extLst>
      <p:ext uri="{BB962C8B-B14F-4D97-AF65-F5344CB8AC3E}">
        <p14:creationId xmlns:p14="http://schemas.microsoft.com/office/powerpoint/2010/main" val="33979881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1"/>
          <p:cNvSpPr txBox="1">
            <a:spLocks noChangeArrowheads="1"/>
          </p:cNvSpPr>
          <p:nvPr/>
        </p:nvSpPr>
        <p:spPr bwMode="auto">
          <a:xfrm>
            <a:off x="685800" y="1524000"/>
            <a:ext cx="4386263" cy="282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spcBef>
                <a:spcPts val="4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1pPr>
            <a:lvl2pPr>
              <a:spcBef>
                <a:spcPts val="4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2pPr>
            <a:lvl3pPr>
              <a:spcBef>
                <a:spcPts val="4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3pPr>
            <a:lvl4pPr>
              <a:spcBef>
                <a:spcPts val="4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4pPr>
            <a:lvl5pPr>
              <a:spcBef>
                <a:spcPts val="4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5pPr>
            <a:lvl6pPr marL="2514600" indent="-228600" defTabSz="449263" eaLnBrk="0" fontAlgn="base" hangingPunct="0">
              <a:spcBef>
                <a:spcPts val="4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6pPr>
            <a:lvl7pPr marL="2971800" indent="-228600" defTabSz="449263" eaLnBrk="0" fontAlgn="base" hangingPunct="0">
              <a:spcBef>
                <a:spcPts val="4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7pPr>
            <a:lvl8pPr marL="3429000" indent="-228600" defTabSz="449263" eaLnBrk="0" fontAlgn="base" hangingPunct="0">
              <a:spcBef>
                <a:spcPts val="4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8pPr>
            <a:lvl9pPr marL="3886200" indent="-228600" defTabSz="449263" eaLnBrk="0" fontAlgn="base" hangingPunct="0">
              <a:spcBef>
                <a:spcPts val="4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Arial" panose="020B0604020202020204" pitchFamily="34" charset="0"/>
                <a:cs typeface="Arial" panose="020B0604020202020204" pitchFamily="34" charset="0"/>
              </a:defRPr>
            </a:lvl9pPr>
          </a:lstStyle>
          <a:p>
            <a:pPr algn="ctr" eaLnBrk="1" hangingPunct="1">
              <a:spcBef>
                <a:spcPct val="0"/>
              </a:spcBef>
            </a:pPr>
            <a:r>
              <a:rPr lang="fr-FR" altLang="fr-FR" sz="2800" dirty="0">
                <a:solidFill>
                  <a:srgbClr val="001A70"/>
                </a:solidFill>
              </a:rPr>
              <a:t>Proposition </a:t>
            </a:r>
            <a:r>
              <a:rPr lang="fr-FR" altLang="fr-FR" sz="2800" dirty="0" smtClean="0">
                <a:solidFill>
                  <a:srgbClr val="001A70"/>
                </a:solidFill>
              </a:rPr>
              <a:t>de l’utilisation des Modèles </a:t>
            </a:r>
            <a:r>
              <a:rPr lang="fr-FR" altLang="fr-FR" sz="2800" dirty="0">
                <a:solidFill>
                  <a:srgbClr val="001A70"/>
                </a:solidFill>
              </a:rPr>
              <a:t>de Données Métiers</a:t>
            </a:r>
            <a:br>
              <a:rPr lang="fr-FR" altLang="fr-FR" sz="2800" dirty="0">
                <a:solidFill>
                  <a:srgbClr val="001A70"/>
                </a:solidFill>
              </a:rPr>
            </a:br>
            <a:r>
              <a:rPr lang="fr-FR" altLang="fr-FR" sz="2200" dirty="0">
                <a:solidFill>
                  <a:srgbClr val="001A70"/>
                </a:solidFill>
              </a:rPr>
              <a:t> </a:t>
            </a:r>
            <a:r>
              <a:rPr lang="fr-FR" altLang="fr-FR" sz="1800" dirty="0">
                <a:solidFill>
                  <a:srgbClr val="001A70"/>
                </a:solidFill>
              </a:rPr>
              <a:t>en </a:t>
            </a:r>
            <a:r>
              <a:rPr lang="fr-FR" altLang="fr-FR" sz="1800" dirty="0" smtClean="0">
                <a:solidFill>
                  <a:srgbClr val="001A70"/>
                </a:solidFill>
              </a:rPr>
              <a:t>vue de standardiser et </a:t>
            </a:r>
            <a:r>
              <a:rPr lang="fr-FR" altLang="fr-FR" sz="1800" dirty="0">
                <a:solidFill>
                  <a:srgbClr val="001A70"/>
                </a:solidFill>
              </a:rPr>
              <a:t>faciliter les échanges entre </a:t>
            </a:r>
            <a:r>
              <a:rPr lang="fr-FR" altLang="fr-FR" sz="1800" dirty="0" smtClean="0">
                <a:solidFill>
                  <a:srgbClr val="001A70"/>
                </a:solidFill>
              </a:rPr>
              <a:t>composant </a:t>
            </a:r>
            <a:r>
              <a:rPr lang="fr-FR" altLang="fr-FR" sz="1800" dirty="0">
                <a:solidFill>
                  <a:srgbClr val="001A70"/>
                </a:solidFill>
              </a:rPr>
              <a:t>dans une chaîne de calcul </a:t>
            </a:r>
          </a:p>
        </p:txBody>
      </p:sp>
      <p:sp>
        <p:nvSpPr>
          <p:cNvPr id="4099" name="Text Box 3"/>
          <p:cNvSpPr txBox="1">
            <a:spLocks noChangeArrowheads="1"/>
          </p:cNvSpPr>
          <p:nvPr/>
        </p:nvSpPr>
        <p:spPr bwMode="auto">
          <a:xfrm>
            <a:off x="0" y="6491288"/>
            <a:ext cx="571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000000"/>
              </a:buClr>
              <a:buSzPct val="100000"/>
              <a:buFont typeface="Times New Roman" panose="02020603050405020304" pitchFamily="18" charset="0"/>
              <a:buNone/>
            </a:pPr>
            <a:r>
              <a:rPr lang="fr-FR" altLang="fr-FR" sz="1400">
                <a:solidFill>
                  <a:schemeClr val="tx1"/>
                </a:solidFill>
              </a:rPr>
              <a:t>Eric Fayolle, Pascale Noyret 		</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160322" y="515814"/>
            <a:ext cx="8833988" cy="649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endParaRPr lang="en-GB" altLang="fr-FR" dirty="0" smtClean="0">
              <a:solidFill>
                <a:srgbClr val="000000"/>
              </a:solidFill>
              <a:cs typeface="Arial" panose="020B0604020202020204" pitchFamily="34" charset="0"/>
            </a:endParaRPr>
          </a:p>
          <a:p>
            <a:pPr marL="285750" indent="-285750">
              <a:buFont typeface="Wingdings" panose="05000000000000000000" pitchFamily="2" charset="2"/>
              <a:buChar char="§"/>
            </a:pPr>
            <a:r>
              <a:rPr lang="en-GB" altLang="fr-FR" dirty="0" smtClean="0">
                <a:solidFill>
                  <a:srgbClr val="000000"/>
                </a:solidFill>
                <a:cs typeface="Arial" panose="020B0604020202020204" pitchFamily="34" charset="0"/>
              </a:rPr>
              <a:t> </a:t>
            </a:r>
            <a:r>
              <a:rPr lang="en-GB" altLang="fr-FR" sz="2000" dirty="0" smtClean="0">
                <a:solidFill>
                  <a:srgbClr val="002060"/>
                </a:solidFill>
                <a:cs typeface="Arial" panose="020B0604020202020204" pitchFamily="34" charset="0"/>
              </a:rPr>
              <a:t>Interchangeability </a:t>
            </a:r>
            <a:r>
              <a:rPr lang="en-GB" sz="2000" dirty="0" smtClean="0">
                <a:solidFill>
                  <a:srgbClr val="00206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en-GB" altLang="fr-FR" dirty="0" smtClean="0">
                <a:solidFill>
                  <a:srgbClr val="000000"/>
                </a:solidFill>
                <a:latin typeface="Arial"/>
                <a:cs typeface="Arial"/>
              </a:rPr>
              <a:t>Ability to replace </a:t>
            </a:r>
            <a:r>
              <a:rPr lang="en-GB" altLang="fr-FR" dirty="0" err="1" smtClean="0">
                <a:solidFill>
                  <a:srgbClr val="000000"/>
                </a:solidFill>
                <a:latin typeface="Arial"/>
                <a:cs typeface="Arial"/>
              </a:rPr>
              <a:t>easely</a:t>
            </a:r>
            <a:r>
              <a:rPr lang="en-GB" altLang="fr-FR" dirty="0" smtClean="0">
                <a:solidFill>
                  <a:srgbClr val="000000"/>
                </a:solidFill>
                <a:latin typeface="Arial"/>
                <a:cs typeface="Arial"/>
              </a:rPr>
              <a:t>  a solver by another one (or to </a:t>
            </a:r>
            <a:r>
              <a:rPr lang="en-GB" altLang="fr-FR" dirty="0" err="1" smtClean="0">
                <a:solidFill>
                  <a:srgbClr val="000000"/>
                </a:solidFill>
                <a:latin typeface="Arial"/>
                <a:cs typeface="Arial"/>
              </a:rPr>
              <a:t>updgrade</a:t>
            </a:r>
            <a:r>
              <a:rPr lang="en-GB" altLang="fr-FR" dirty="0" smtClean="0">
                <a:solidFill>
                  <a:srgbClr val="000000"/>
                </a:solidFill>
                <a:latin typeface="Arial"/>
                <a:cs typeface="Arial"/>
              </a:rPr>
              <a:t> code version) for a given physics</a:t>
            </a:r>
          </a:p>
          <a:p>
            <a:pPr marL="857250" lvl="2" indent="0" eaLnBrk="1">
              <a:spcBef>
                <a:spcPts val="300"/>
              </a:spcBef>
              <a:buClr>
                <a:srgbClr val="001A70"/>
              </a:buClr>
              <a:defRPr/>
            </a:pPr>
            <a:endParaRPr lang="en-GB" altLang="fr-FR" dirty="0" smtClean="0">
              <a:solidFill>
                <a:srgbClr val="000000"/>
              </a:solidFill>
              <a:cs typeface="Arial" panose="020B0604020202020204" pitchFamily="34" charset="0"/>
            </a:endParaRPr>
          </a:p>
          <a:p>
            <a:pPr marL="285750" indent="-285750">
              <a:buFont typeface="Wingdings" panose="05000000000000000000" pitchFamily="2" charset="2"/>
              <a:buChar char="§"/>
            </a:pPr>
            <a:r>
              <a:rPr lang="en-GB" altLang="fr-FR" dirty="0" smtClean="0">
                <a:solidFill>
                  <a:srgbClr val="000000"/>
                </a:solidFill>
                <a:cs typeface="Arial" panose="020B0604020202020204" pitchFamily="34" charset="0"/>
              </a:rPr>
              <a:t> </a:t>
            </a:r>
            <a:r>
              <a:rPr lang="en-GB" altLang="fr-FR" sz="2000" dirty="0" smtClean="0">
                <a:solidFill>
                  <a:srgbClr val="002060"/>
                </a:solidFill>
                <a:cs typeface="Arial" panose="020B0604020202020204" pitchFamily="34" charset="0"/>
              </a:rPr>
              <a:t>Interoperability</a:t>
            </a:r>
            <a:endParaRPr lang="en-GB" sz="2000" dirty="0" smtClean="0">
              <a:solidFill>
                <a:srgbClr val="002060"/>
              </a:solidFill>
              <a:cs typeface="Arial" panose="020B0604020202020204" pitchFamily="34" charset="0"/>
            </a:endParaRPr>
          </a:p>
          <a:p>
            <a:pPr lvl="1" eaLnBrk="1">
              <a:spcBef>
                <a:spcPts val="300"/>
              </a:spcBef>
              <a:buClr>
                <a:srgbClr val="001A70"/>
              </a:buClr>
              <a:buFont typeface="Wingdings" panose="05000000000000000000" pitchFamily="2" charset="2"/>
              <a:buChar char="Ø"/>
              <a:defRPr/>
            </a:pPr>
            <a:r>
              <a:rPr lang="en-GB" altLang="fr-FR" dirty="0" smtClean="0">
                <a:solidFill>
                  <a:srgbClr val="000000"/>
                </a:solidFill>
                <a:latin typeface="Arial"/>
                <a:cs typeface="Arial"/>
              </a:rPr>
              <a:t> Ability of all part of a system to work together via interfaces</a:t>
            </a:r>
          </a:p>
          <a:p>
            <a:pPr lvl="1" eaLnBrk="1">
              <a:spcBef>
                <a:spcPts val="300"/>
              </a:spcBef>
              <a:buClr>
                <a:srgbClr val="001A70"/>
              </a:buClr>
              <a:buFont typeface="Wingdings" panose="05000000000000000000" pitchFamily="2" charset="2"/>
              <a:buChar char="Ø"/>
              <a:defRPr/>
            </a:pPr>
            <a:r>
              <a:rPr lang="en-GB" altLang="fr-FR" dirty="0" smtClean="0">
                <a:solidFill>
                  <a:srgbClr val="000000"/>
                </a:solidFill>
                <a:latin typeface="Arial"/>
                <a:cs typeface="Arial"/>
              </a:rPr>
              <a:t>In our context : ability for solvers to exchange data</a:t>
            </a:r>
            <a:endParaRPr lang="en-GB" altLang="fr-FR" dirty="0" smtClean="0">
              <a:solidFill>
                <a:srgbClr val="000000"/>
              </a:solidFill>
              <a:latin typeface="Arial"/>
              <a:cs typeface="Arial"/>
            </a:endParaRPr>
          </a:p>
          <a:p>
            <a:endParaRPr lang="en-GB" altLang="fr-FR" dirty="0" smtClean="0">
              <a:solidFill>
                <a:srgbClr val="000000"/>
              </a:solidFill>
              <a:cs typeface="Arial" panose="020B0604020202020204" pitchFamily="34" charset="0"/>
            </a:endParaRPr>
          </a:p>
          <a:p>
            <a:pPr marL="285750" indent="-285750">
              <a:buFont typeface="Wingdings" panose="05000000000000000000" pitchFamily="2" charset="2"/>
              <a:buChar char="§"/>
            </a:pPr>
            <a:r>
              <a:rPr lang="en-GB" altLang="fr-FR" dirty="0" smtClean="0">
                <a:solidFill>
                  <a:srgbClr val="000000"/>
                </a:solidFill>
                <a:cs typeface="Arial" panose="020B0604020202020204" pitchFamily="34" charset="0"/>
              </a:rPr>
              <a:t> </a:t>
            </a:r>
            <a:r>
              <a:rPr lang="en-GB" altLang="fr-FR" sz="2000" dirty="0">
                <a:solidFill>
                  <a:srgbClr val="002060"/>
                </a:solidFill>
                <a:cs typeface="Arial" panose="020B0604020202020204" pitchFamily="34" charset="0"/>
              </a:rPr>
              <a:t>Driver </a:t>
            </a:r>
            <a:r>
              <a:rPr lang="en-GB" altLang="fr-FR" sz="2000" dirty="0" smtClean="0">
                <a:solidFill>
                  <a:srgbClr val="002060"/>
                </a:solidFill>
                <a:cs typeface="Arial" panose="020B0604020202020204" pitchFamily="34" charset="0"/>
              </a:rPr>
              <a:t>: </a:t>
            </a:r>
            <a:r>
              <a:rPr lang="en-GB" altLang="fr-FR" sz="2000" dirty="0">
                <a:solidFill>
                  <a:srgbClr val="002060"/>
                </a:solidFill>
                <a:cs typeface="Arial" panose="020B0604020202020204" pitchFamily="34" charset="0"/>
              </a:rPr>
              <a:t>software routine </a:t>
            </a:r>
            <a:r>
              <a:rPr lang="en-GB" altLang="fr-FR" sz="2000" dirty="0" smtClean="0">
                <a:solidFill>
                  <a:srgbClr val="002060"/>
                </a:solidFill>
                <a:cs typeface="Arial" panose="020B0604020202020204" pitchFamily="34" charset="0"/>
              </a:rPr>
              <a:t>which manages data </a:t>
            </a:r>
            <a:endParaRPr lang="en-GB" sz="2000" dirty="0" smtClean="0">
              <a:solidFill>
                <a:srgbClr val="002060"/>
              </a:solidFill>
              <a:cs typeface="Arial" panose="020B0604020202020204" pitchFamily="34" charset="0"/>
            </a:endParaRPr>
          </a:p>
          <a:p>
            <a:pPr lvl="1" eaLnBrk="1">
              <a:spcBef>
                <a:spcPts val="300"/>
              </a:spcBef>
              <a:buClr>
                <a:srgbClr val="001A70"/>
              </a:buClr>
              <a:buFont typeface="Wingdings" panose="05000000000000000000" pitchFamily="2" charset="2"/>
              <a:buChar char="Ø"/>
              <a:defRPr/>
            </a:pPr>
            <a:r>
              <a:rPr lang="en-GB" altLang="fr-FR" dirty="0" smtClean="0">
                <a:solidFill>
                  <a:srgbClr val="000000"/>
                </a:solidFill>
                <a:cs typeface="Arial" panose="020B0604020202020204" pitchFamily="34" charset="0"/>
              </a:rPr>
              <a:t>Read/write data</a:t>
            </a:r>
          </a:p>
          <a:p>
            <a:pPr lvl="1" eaLnBrk="1">
              <a:spcBef>
                <a:spcPts val="300"/>
              </a:spcBef>
              <a:buClr>
                <a:srgbClr val="001A70"/>
              </a:buClr>
              <a:buFont typeface="Wingdings" panose="05000000000000000000" pitchFamily="2" charset="2"/>
              <a:buChar char="Ø"/>
              <a:defRPr/>
            </a:pPr>
            <a:r>
              <a:rPr lang="en-GB" altLang="fr-FR" dirty="0" smtClean="0">
                <a:solidFill>
                  <a:srgbClr val="000000"/>
                </a:solidFill>
                <a:cs typeface="Arial" panose="020B0604020202020204" pitchFamily="34" charset="0"/>
              </a:rPr>
              <a:t>Validate data</a:t>
            </a:r>
          </a:p>
          <a:p>
            <a:pPr marL="857250" lvl="2" indent="0" eaLnBrk="1">
              <a:spcBef>
                <a:spcPts val="300"/>
              </a:spcBef>
              <a:buClr>
                <a:srgbClr val="001A70"/>
              </a:buClr>
              <a:defRPr/>
            </a:pPr>
            <a:endParaRPr lang="en-GB" altLang="fr-FR" dirty="0" smtClean="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en-GB" altLang="fr-FR" sz="2000" dirty="0" smtClean="0">
                <a:solidFill>
                  <a:srgbClr val="002060"/>
                </a:solidFill>
                <a:cs typeface="Arial" panose="020B0604020202020204" pitchFamily="34" charset="0"/>
              </a:rPr>
              <a:t>   Wrapper </a:t>
            </a:r>
            <a:r>
              <a:rPr lang="en-GB" altLang="fr-FR" dirty="0" smtClean="0">
                <a:solidFill>
                  <a:srgbClr val="00000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en-GB" altLang="fr-FR" dirty="0" smtClean="0">
                <a:solidFill>
                  <a:srgbClr val="000000"/>
                </a:solidFill>
                <a:latin typeface="Arial"/>
                <a:cs typeface="Arial"/>
              </a:rPr>
              <a:t>Adapt data from a common  data </a:t>
            </a:r>
            <a:r>
              <a:rPr lang="en-GB" altLang="fr-FR" dirty="0" smtClean="0">
                <a:solidFill>
                  <a:srgbClr val="000000"/>
                </a:solidFill>
                <a:latin typeface="Arial"/>
                <a:cs typeface="Arial"/>
              </a:rPr>
              <a:t>model (or different model )</a:t>
            </a:r>
            <a:r>
              <a:rPr lang="en-GB" altLang="fr-FR" dirty="0" smtClean="0">
                <a:solidFill>
                  <a:srgbClr val="000000"/>
                </a:solidFill>
                <a:latin typeface="Arial"/>
                <a:cs typeface="Arial"/>
              </a:rPr>
              <a:t>to a code-specific </a:t>
            </a:r>
            <a:r>
              <a:rPr lang="en-GB" altLang="fr-FR" dirty="0" smtClean="0">
                <a:solidFill>
                  <a:srgbClr val="000000"/>
                </a:solidFill>
                <a:latin typeface="Arial"/>
                <a:cs typeface="Arial"/>
              </a:rPr>
              <a:t>one </a:t>
            </a:r>
            <a:r>
              <a:rPr lang="en-GB" altLang="fr-FR" dirty="0" smtClean="0">
                <a:solidFill>
                  <a:srgbClr val="000000"/>
                </a:solidFill>
                <a:latin typeface="Arial"/>
                <a:cs typeface="Arial"/>
              </a:rPr>
              <a:t>(</a:t>
            </a:r>
            <a:r>
              <a:rPr lang="en-GB" altLang="fr-FR" sz="1600" dirty="0" err="1" smtClean="0">
                <a:solidFill>
                  <a:srgbClr val="000000"/>
                </a:solidFill>
                <a:latin typeface="Arial"/>
                <a:cs typeface="Arial"/>
              </a:rPr>
              <a:t>ie</a:t>
            </a:r>
            <a:r>
              <a:rPr lang="en-GB" altLang="fr-FR" sz="1600" dirty="0" smtClean="0">
                <a:solidFill>
                  <a:srgbClr val="000000"/>
                </a:solidFill>
                <a:latin typeface="Arial"/>
                <a:cs typeface="Arial"/>
              </a:rPr>
              <a:t> from med-</a:t>
            </a:r>
            <a:r>
              <a:rPr lang="en-GB" altLang="fr-FR" sz="1600" dirty="0" err="1" smtClean="0">
                <a:solidFill>
                  <a:srgbClr val="000000"/>
                </a:solidFill>
                <a:latin typeface="Arial"/>
                <a:cs typeface="Arial"/>
              </a:rPr>
              <a:t>fichier</a:t>
            </a:r>
            <a:r>
              <a:rPr lang="en-GB" altLang="fr-FR" sz="1600" dirty="0" smtClean="0">
                <a:solidFill>
                  <a:srgbClr val="000000"/>
                </a:solidFill>
                <a:latin typeface="Arial"/>
                <a:cs typeface="Arial"/>
              </a:rPr>
              <a:t> to internal model)</a:t>
            </a:r>
          </a:p>
          <a:p>
            <a:pPr marL="457200" lvl="1" indent="0" eaLnBrk="1">
              <a:spcBef>
                <a:spcPts val="300"/>
              </a:spcBef>
              <a:buClr>
                <a:srgbClr val="001A70"/>
              </a:buClr>
              <a:defRPr/>
            </a:pPr>
            <a:endParaRPr lang="en-GB" altLang="fr-FR" sz="1600" dirty="0" smtClean="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en-GB" altLang="fr-FR" sz="2000" dirty="0" smtClean="0">
                <a:solidFill>
                  <a:srgbClr val="002060"/>
                </a:solidFill>
                <a:cs typeface="Arial" panose="020B0604020202020204" pitchFamily="34" charset="0"/>
              </a:rPr>
              <a:t>  Mapper </a:t>
            </a:r>
            <a:r>
              <a:rPr lang="en-GB" altLang="fr-FR" dirty="0" smtClean="0">
                <a:solidFill>
                  <a:srgbClr val="00000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en-GB" altLang="fr-FR" dirty="0" smtClean="0">
                <a:solidFill>
                  <a:srgbClr val="000000"/>
                </a:solidFill>
                <a:latin typeface="Arial"/>
                <a:cs typeface="Arial"/>
              </a:rPr>
              <a:t>Convert data (</a:t>
            </a:r>
            <a:r>
              <a:rPr lang="en-GB" altLang="fr-FR" sz="1600" dirty="0" err="1" smtClean="0">
                <a:solidFill>
                  <a:srgbClr val="000000"/>
                </a:solidFill>
                <a:latin typeface="Arial"/>
                <a:cs typeface="Arial"/>
              </a:rPr>
              <a:t>ie</a:t>
            </a:r>
            <a:r>
              <a:rPr lang="en-GB" altLang="fr-FR" sz="1600" dirty="0" smtClean="0">
                <a:solidFill>
                  <a:srgbClr val="000000"/>
                </a:solidFill>
                <a:latin typeface="Arial"/>
                <a:cs typeface="Arial"/>
              </a:rPr>
              <a:t> : from one scale </a:t>
            </a:r>
            <a:r>
              <a:rPr lang="en-GB" altLang="fr-FR" sz="1600" smtClean="0">
                <a:solidFill>
                  <a:srgbClr val="000000"/>
                </a:solidFill>
                <a:latin typeface="Arial"/>
                <a:cs typeface="Arial"/>
              </a:rPr>
              <a:t>to another,</a:t>
            </a:r>
            <a:r>
              <a:rPr lang="en-GB" altLang="fr-FR" sz="1600" dirty="0" smtClean="0">
                <a:solidFill>
                  <a:srgbClr val="000000"/>
                </a:solidFill>
                <a:latin typeface="Arial"/>
                <a:cs typeface="Arial"/>
              </a:rPr>
              <a:t> interpolation de champs</a:t>
            </a:r>
            <a:r>
              <a:rPr lang="en-GB" altLang="fr-FR" dirty="0" smtClean="0">
                <a:solidFill>
                  <a:srgbClr val="000000"/>
                </a:solidFill>
                <a:latin typeface="Arial"/>
                <a:cs typeface="Arial"/>
              </a:rPr>
              <a:t> )</a:t>
            </a:r>
          </a:p>
          <a:p>
            <a:pPr lvl="1" eaLnBrk="1">
              <a:spcBef>
                <a:spcPts val="300"/>
              </a:spcBef>
              <a:buClr>
                <a:srgbClr val="001A70"/>
              </a:buClr>
              <a:buFont typeface="Wingdings" panose="05000000000000000000" pitchFamily="2" charset="2"/>
              <a:buChar char="Ø"/>
              <a:defRPr/>
            </a:pPr>
            <a:endParaRPr lang="en-GB" altLang="fr-FR" dirty="0" smtClean="0">
              <a:solidFill>
                <a:srgbClr val="000000"/>
              </a:solidFill>
              <a:cs typeface="Arial" panose="020B0604020202020204" pitchFamily="34" charset="0"/>
            </a:endParaRPr>
          </a:p>
          <a:p>
            <a:pPr lvl="1" eaLnBrk="1">
              <a:spcBef>
                <a:spcPts val="300"/>
              </a:spcBef>
              <a:buClr>
                <a:srgbClr val="001A70"/>
              </a:buClr>
              <a:buFont typeface="Wingdings" panose="05000000000000000000" pitchFamily="2" charset="2"/>
              <a:buChar char=""/>
              <a:defRPr/>
            </a:pPr>
            <a:endParaRPr lang="en-GB" altLang="fr-FR" dirty="0">
              <a:solidFill>
                <a:srgbClr val="000000"/>
              </a:solidFill>
              <a:cs typeface="Arial" panose="020B0604020202020204" pitchFamily="34" charset="0"/>
            </a:endParaRPr>
          </a:p>
        </p:txBody>
      </p:sp>
      <p:sp>
        <p:nvSpPr>
          <p:cNvPr id="8196"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A9BD7D42-A2ED-4565-BD42-F078AED35E70}" type="slidenum">
              <a:rPr lang="fr-FR" altLang="fr-FR" sz="900">
                <a:latin typeface="Times New Roman" panose="02020603050405020304" pitchFamily="18" charset="0"/>
                <a:cs typeface="Arial" panose="020B0604020202020204" pitchFamily="34" charset="0"/>
              </a:rPr>
              <a:pPr algn="r" eaLnBrk="1" hangingPunct="1">
                <a:buClrTx/>
                <a:buFontTx/>
                <a:buNone/>
              </a:pPr>
              <a:t>3</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smtClean="0">
                <a:solidFill>
                  <a:srgbClr val="001A70"/>
                </a:solidFill>
                <a:cs typeface="Arial" panose="020B0604020202020204" pitchFamily="34" charset="0"/>
              </a:rPr>
              <a:t>CONCEPTS </a:t>
            </a:r>
            <a:r>
              <a:rPr lang="en-US" altLang="fr-FR" sz="2800" dirty="0">
                <a:solidFill>
                  <a:srgbClr val="001A70"/>
                </a:solidFill>
                <a:cs typeface="Arial" panose="020B0604020202020204" pitchFamily="34" charset="0"/>
              </a:rPr>
              <a:t>1/2</a:t>
            </a:r>
          </a:p>
        </p:txBody>
      </p:sp>
    </p:spTree>
    <p:extLst>
      <p:ext uri="{BB962C8B-B14F-4D97-AF65-F5344CB8AC3E}">
        <p14:creationId xmlns:p14="http://schemas.microsoft.com/office/powerpoint/2010/main" val="205444995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251520" y="1068146"/>
            <a:ext cx="8752631" cy="546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buClr>
                <a:srgbClr val="001A70"/>
              </a:buClr>
              <a:buFont typeface="Wingdings" panose="05000000000000000000" pitchFamily="2" charset="2"/>
              <a:buChar char=""/>
              <a:defRPr/>
            </a:pPr>
            <a:r>
              <a:rPr lang="fr-FR" altLang="fr-FR" dirty="0" smtClean="0">
                <a:solidFill>
                  <a:srgbClr val="000000"/>
                </a:solidFill>
                <a:cs typeface="Arial" panose="020B0604020202020204" pitchFamily="34" charset="0"/>
              </a:rPr>
              <a:t>  U</a:t>
            </a:r>
            <a:r>
              <a:rPr lang="fr-FR" altLang="fr-FR" sz="2000" dirty="0" smtClean="0">
                <a:solidFill>
                  <a:srgbClr val="002060"/>
                </a:solidFill>
                <a:cs typeface="Arial" panose="020B0604020202020204" pitchFamily="34" charset="0"/>
              </a:rPr>
              <a:t>n Catalogue :</a:t>
            </a:r>
          </a:p>
          <a:p>
            <a:pPr lvl="1" eaLnBrk="1">
              <a:spcBef>
                <a:spcPts val="300"/>
              </a:spcBef>
              <a:buClr>
                <a:srgbClr val="001A70"/>
              </a:buClr>
              <a:buFont typeface="Wingdings" panose="05000000000000000000" pitchFamily="2" charset="2"/>
              <a:buChar char="Ø"/>
              <a:defRPr/>
            </a:pPr>
            <a:r>
              <a:rPr lang="fr-FR" altLang="fr-FR" dirty="0" smtClean="0">
                <a:solidFill>
                  <a:srgbClr val="000000"/>
                </a:solidFill>
                <a:cs typeface="Arial" panose="020B0604020202020204" pitchFamily="34" charset="0"/>
              </a:rPr>
              <a:t>Décrit les paramètres de façon structurée avec les règles de validation associées</a:t>
            </a:r>
          </a:p>
          <a:p>
            <a:pPr lvl="1" eaLnBrk="1">
              <a:spcBef>
                <a:spcPts val="300"/>
              </a:spcBef>
              <a:buClr>
                <a:srgbClr val="001A70"/>
              </a:buClr>
              <a:buFont typeface="Wingdings" panose="05000000000000000000" pitchFamily="2" charset="2"/>
              <a:buChar char="Ø"/>
              <a:defRPr/>
            </a:pPr>
            <a:endParaRPr lang="fr-FR" altLang="fr-FR" dirty="0" smtClean="0">
              <a:solidFill>
                <a:srgbClr val="000000"/>
              </a:solidFill>
              <a:cs typeface="Arial" panose="020B0604020202020204" pitchFamily="34" charset="0"/>
            </a:endParaRPr>
          </a:p>
          <a:p>
            <a:pPr marL="285750" indent="-285750" eaLnBrk="1">
              <a:spcBef>
                <a:spcPts val="300"/>
              </a:spcBef>
              <a:buClr>
                <a:srgbClr val="001A70"/>
              </a:buClr>
              <a:buFont typeface="Wingdings" panose="05000000000000000000" pitchFamily="2" charset="2"/>
              <a:buChar char="§"/>
              <a:defRPr/>
            </a:pPr>
            <a:r>
              <a:rPr lang="fr-FR" altLang="fr-FR" sz="2000" dirty="0" smtClean="0">
                <a:solidFill>
                  <a:srgbClr val="002060"/>
                </a:solidFill>
                <a:cs typeface="Arial" panose="020B0604020202020204" pitchFamily="34" charset="0"/>
              </a:rPr>
              <a:t>Un Jeu de données (JDD) ou </a:t>
            </a:r>
            <a:r>
              <a:rPr lang="fr-FR" altLang="fr-FR" sz="2000" dirty="0" err="1" smtClean="0">
                <a:solidFill>
                  <a:srgbClr val="002060"/>
                </a:solidFill>
                <a:cs typeface="Arial" panose="020B0604020202020204" pitchFamily="34" charset="0"/>
              </a:rPr>
              <a:t>dataset</a:t>
            </a:r>
            <a:r>
              <a:rPr lang="fr-FR" altLang="fr-FR" sz="2000" dirty="0" smtClean="0">
                <a:solidFill>
                  <a:srgbClr val="002060"/>
                </a:solidFill>
                <a:cs typeface="Arial" panose="020B0604020202020204" pitchFamily="34" charset="0"/>
              </a:rPr>
              <a:t> </a:t>
            </a:r>
            <a:r>
              <a:rPr lang="fr-FR" altLang="fr-FR" sz="2000" dirty="0" smtClean="0">
                <a:solidFill>
                  <a:srgbClr val="00000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fr-FR" altLang="fr-FR" dirty="0" smtClean="0">
                <a:solidFill>
                  <a:schemeClr val="tx1"/>
                </a:solidFill>
                <a:cs typeface="Arial" panose="020B0604020202020204" pitchFamily="34" charset="0"/>
              </a:rPr>
              <a:t>Listes</a:t>
            </a:r>
            <a:r>
              <a:rPr lang="fr-FR" altLang="fr-FR" dirty="0" smtClean="0">
                <a:solidFill>
                  <a:srgbClr val="000000"/>
                </a:solidFill>
                <a:cs typeface="Arial" panose="020B0604020202020204" pitchFamily="34" charset="0"/>
              </a:rPr>
              <a:t> structurées de paramètres valides selon les règles décrites dans le catalogue associé</a:t>
            </a:r>
          </a:p>
          <a:p>
            <a:pPr marL="1200150" lvl="2" indent="-285750" eaLnBrk="1">
              <a:spcBef>
                <a:spcPts val="300"/>
              </a:spcBef>
              <a:buClr>
                <a:srgbClr val="001A70"/>
              </a:buClr>
              <a:buFont typeface="Arial" panose="020B0604020202020204" pitchFamily="34" charset="0"/>
              <a:buChar char="•"/>
              <a:defRPr/>
            </a:pPr>
            <a:endParaRPr lang="fr-FR" altLang="fr-FR" dirty="0" smtClean="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fr-FR" altLang="fr-FR" dirty="0" smtClean="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Un Workflow (simplifié)</a:t>
            </a: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4</a:t>
            </a:fld>
            <a:endParaRPr lang="fr-FR" altLang="fr-FR" sz="900">
              <a:latin typeface="Times New Roman" panose="02020603050405020304" pitchFamily="18" charset="0"/>
              <a:cs typeface="Arial" panose="020B0604020202020204" pitchFamily="34" charset="0"/>
            </a:endParaRPr>
          </a:p>
        </p:txBody>
      </p:sp>
      <p:sp>
        <p:nvSpPr>
          <p:cNvPr id="16"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DEFINITIONS 2/2</a:t>
            </a:r>
          </a:p>
        </p:txBody>
      </p:sp>
      <p:pic>
        <p:nvPicPr>
          <p:cNvPr id="5" name="Image 4"/>
          <p:cNvPicPr>
            <a:picLocks noChangeAspect="1"/>
          </p:cNvPicPr>
          <p:nvPr/>
        </p:nvPicPr>
        <p:blipFill>
          <a:blip r:embed="rId3"/>
          <a:stretch>
            <a:fillRect/>
          </a:stretch>
        </p:blipFill>
        <p:spPr>
          <a:xfrm>
            <a:off x="251520" y="4221926"/>
            <a:ext cx="8419048" cy="1752381"/>
          </a:xfrm>
          <a:prstGeom prst="rect">
            <a:avLst/>
          </a:prstGeom>
        </p:spPr>
      </p:pic>
      <p:sp>
        <p:nvSpPr>
          <p:cNvPr id="2" name="Rectangle 1"/>
          <p:cNvSpPr/>
          <p:nvPr/>
        </p:nvSpPr>
        <p:spPr bwMode="auto">
          <a:xfrm>
            <a:off x="398033" y="4959276"/>
            <a:ext cx="645459" cy="505609"/>
          </a:xfrm>
          <a:prstGeom prst="rect">
            <a:avLst/>
          </a:prstGeom>
          <a:solidFill>
            <a:srgbClr val="BAE6FF"/>
          </a:solidFill>
          <a:ln>
            <a:no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smtClean="0"/>
              <a:t>JDD</a:t>
            </a:r>
            <a:endParaRPr kumimoji="0" lang="fr-FR" sz="1800" b="0" i="0" u="none" strike="noStrike" cap="none" normalizeH="0" baseline="0" dirty="0" smtClean="0">
              <a:ln>
                <a:noFill/>
              </a:ln>
              <a:solidFill>
                <a:schemeClr val="bg1"/>
              </a:solidFill>
              <a:effectLst/>
              <a:latin typeface="Calibri" pitchFamily="34" charset="0"/>
            </a:endParaRPr>
          </a:p>
        </p:txBody>
      </p:sp>
    </p:spTree>
    <p:extLst>
      <p:ext uri="{BB962C8B-B14F-4D97-AF65-F5344CB8AC3E}">
        <p14:creationId xmlns:p14="http://schemas.microsoft.com/office/powerpoint/2010/main" val="226163411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0" y="-17922"/>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Un modèle de données, Pourquoi ?</a:t>
            </a:r>
            <a:endParaRPr lang="fr-FR" altLang="fr-FR" sz="2800" dirty="0">
              <a:solidFill>
                <a:srgbClr val="001A70"/>
              </a:solidFill>
              <a:cs typeface="Arial" panose="020B0604020202020204" pitchFamily="34" charset="0"/>
            </a:endParaRPr>
          </a:p>
        </p:txBody>
      </p:sp>
      <p:sp>
        <p:nvSpPr>
          <p:cNvPr id="6147" name="Text Box 3"/>
          <p:cNvSpPr txBox="1">
            <a:spLocks noChangeArrowheads="1"/>
          </p:cNvSpPr>
          <p:nvPr/>
        </p:nvSpPr>
        <p:spPr bwMode="auto">
          <a:xfrm>
            <a:off x="-1" y="960109"/>
            <a:ext cx="9133367" cy="5685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72000" indent="72000" eaLnBrk="1">
              <a:spcBef>
                <a:spcPts val="6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  Utiliser un vocabulaire adapté pour définir les concepts utilisés par les métiers </a:t>
            </a:r>
          </a:p>
          <a:p>
            <a:pPr marL="529200" lvl="3" indent="72000" eaLnBrk="1">
              <a:spcBef>
                <a:spcPts val="300"/>
              </a:spcBef>
              <a:spcAft>
                <a:spcPts val="300"/>
              </a:spcAft>
              <a:buClr>
                <a:srgbClr val="001A70"/>
              </a:buClr>
              <a:buFont typeface="Wingdings" panose="05000000000000000000" pitchFamily="2" charset="2"/>
              <a:buChar char="Ø"/>
            </a:pPr>
            <a:r>
              <a:rPr lang="fr-FR" altLang="fr-FR" dirty="0" smtClean="0">
                <a:solidFill>
                  <a:srgbClr val="000000"/>
                </a:solidFill>
                <a:latin typeface="Arial"/>
                <a:cs typeface="Arial"/>
              </a:rPr>
              <a:t> Une poutre pourra être identifiée comme telle (</a:t>
            </a:r>
            <a:r>
              <a:rPr lang="fr-FR" altLang="fr-FR" sz="1600" dirty="0" smtClean="0">
                <a:solidFill>
                  <a:srgbClr val="000000"/>
                </a:solidFill>
                <a:latin typeface="Arial"/>
                <a:cs typeface="Arial"/>
              </a:rPr>
              <a:t>et non comme un groupe de mailles</a:t>
            </a:r>
            <a:r>
              <a:rPr lang="fr-FR" altLang="fr-FR" dirty="0" smtClean="0">
                <a:solidFill>
                  <a:srgbClr val="000000"/>
                </a:solidFill>
                <a:latin typeface="Arial"/>
                <a:cs typeface="Arial"/>
              </a:rPr>
              <a:t>)</a:t>
            </a:r>
          </a:p>
          <a:p>
            <a:pPr marL="529200" lvl="3" indent="72000" eaLnBrk="1">
              <a:spcBef>
                <a:spcPts val="300"/>
              </a:spcBef>
              <a:spcAft>
                <a:spcPts val="300"/>
              </a:spcAft>
              <a:buClr>
                <a:srgbClr val="001A70"/>
              </a:buClr>
              <a:buFont typeface="Wingdings" panose="05000000000000000000" pitchFamily="2" charset="2"/>
              <a:buChar char="Ø"/>
            </a:pPr>
            <a:r>
              <a:rPr lang="fr-FR" altLang="fr-FR" dirty="0" smtClean="0">
                <a:solidFill>
                  <a:srgbClr val="000000"/>
                </a:solidFill>
                <a:latin typeface="Arial"/>
                <a:cs typeface="Arial"/>
              </a:rPr>
              <a:t> Disposer d’une description commune des objets métiers</a:t>
            </a:r>
          </a:p>
          <a:p>
            <a:pPr marL="357750" lvl="1" eaLnBrk="1">
              <a:spcBef>
                <a:spcPts val="600"/>
              </a:spcBef>
              <a:spcAft>
                <a:spcPct val="25000"/>
              </a:spcAft>
              <a:buClr>
                <a:srgbClr val="001A70"/>
              </a:buClr>
              <a:buFont typeface="Arial" panose="020B0604020202020204" pitchFamily="34" charset="0"/>
              <a:buChar char="•"/>
            </a:pPr>
            <a:endParaRPr lang="fr-FR" altLang="fr-FR" dirty="0">
              <a:solidFill>
                <a:srgbClr val="000000"/>
              </a:solidFill>
              <a:latin typeface="Arial"/>
              <a:cs typeface="Arial"/>
            </a:endParaRPr>
          </a:p>
          <a:p>
            <a:pPr marL="72000" indent="72000" eaLnBrk="1">
              <a:spcBef>
                <a:spcPts val="600"/>
              </a:spcBef>
              <a:spcAft>
                <a:spcPct val="25000"/>
              </a:spcAft>
              <a:buClr>
                <a:srgbClr val="001A70"/>
              </a:buClr>
              <a:buFont typeface="Wingdings" panose="05000000000000000000" pitchFamily="2" charset="2"/>
              <a:buChar char=""/>
            </a:pPr>
            <a:r>
              <a:rPr lang="fr-FR" altLang="fr-FR" sz="2000" dirty="0" smtClean="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Exprimer les domaines de validité et les règles de validation</a:t>
            </a:r>
          </a:p>
          <a:p>
            <a:pPr marL="529200" lvl="3" indent="72000" eaLnBrk="1">
              <a:spcBef>
                <a:spcPts val="300"/>
              </a:spcBef>
              <a:spcAft>
                <a:spcPts val="300"/>
              </a:spcAft>
              <a:buClr>
                <a:srgbClr val="001A70"/>
              </a:buClr>
              <a:buFont typeface="Wingdings" panose="05000000000000000000" pitchFamily="2" charset="2"/>
              <a:buChar char="Ø"/>
            </a:pPr>
            <a:r>
              <a:rPr lang="fr-FR" altLang="fr-FR" dirty="0" smtClean="0">
                <a:solidFill>
                  <a:srgbClr val="000000"/>
                </a:solidFill>
                <a:cs typeface="Arial" panose="020B0604020202020204" pitchFamily="34" charset="0"/>
              </a:rPr>
              <a:t> Eviter </a:t>
            </a:r>
            <a:r>
              <a:rPr lang="fr-FR" altLang="fr-FR" dirty="0">
                <a:solidFill>
                  <a:srgbClr val="000000"/>
                </a:solidFill>
                <a:cs typeface="Arial" panose="020B0604020202020204" pitchFamily="34" charset="0"/>
              </a:rPr>
              <a:t>toute corruption de données </a:t>
            </a:r>
            <a:endParaRPr lang="fr-FR" altLang="fr-FR" dirty="0" smtClean="0">
              <a:solidFill>
                <a:srgbClr val="000000"/>
              </a:solidFill>
              <a:cs typeface="Arial" panose="020B0604020202020204" pitchFamily="34" charset="0"/>
            </a:endParaRPr>
          </a:p>
          <a:p>
            <a:pPr marL="529200" lvl="3" indent="72000" eaLnBrk="1">
              <a:spcBef>
                <a:spcPts val="300"/>
              </a:spcBef>
              <a:spcAft>
                <a:spcPts val="3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 D</a:t>
            </a:r>
            <a:r>
              <a:rPr lang="fr-FR" altLang="fr-FR" dirty="0" smtClean="0">
                <a:solidFill>
                  <a:srgbClr val="000000"/>
                </a:solidFill>
                <a:cs typeface="Arial" panose="020B0604020202020204" pitchFamily="34" charset="0"/>
              </a:rPr>
              <a:t>écharger éventuellement </a:t>
            </a:r>
            <a:r>
              <a:rPr lang="fr-FR" altLang="fr-FR" dirty="0">
                <a:solidFill>
                  <a:srgbClr val="000000"/>
                </a:solidFill>
                <a:cs typeface="Arial" panose="020B0604020202020204" pitchFamily="34" charset="0"/>
              </a:rPr>
              <a:t>le code de calcul de l’analyse exhaustive </a:t>
            </a:r>
            <a:r>
              <a:rPr lang="fr-FR" altLang="fr-FR" dirty="0" smtClean="0">
                <a:solidFill>
                  <a:srgbClr val="000000"/>
                </a:solidFill>
                <a:cs typeface="Arial" panose="020B0604020202020204" pitchFamily="34" charset="0"/>
              </a:rPr>
              <a:t>de la validation et des dépendances</a:t>
            </a:r>
          </a:p>
          <a:p>
            <a:pPr marL="529200" lvl="3" indent="0" eaLnBrk="1">
              <a:spcBef>
                <a:spcPts val="600"/>
              </a:spcBef>
              <a:spcAft>
                <a:spcPct val="25000"/>
              </a:spcAft>
              <a:buClr>
                <a:srgbClr val="001A70"/>
              </a:buClr>
            </a:pPr>
            <a:endParaRPr lang="fr-FR" altLang="fr-FR" dirty="0" smtClean="0">
              <a:solidFill>
                <a:srgbClr val="000000"/>
              </a:solidFill>
              <a:cs typeface="Arial" panose="020B0604020202020204" pitchFamily="34" charset="0"/>
            </a:endParaRPr>
          </a:p>
          <a:p>
            <a:pPr marL="72000" indent="72000" eaLnBrk="1">
              <a:spcBef>
                <a:spcPts val="6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  Réemployer </a:t>
            </a:r>
            <a:r>
              <a:rPr lang="fr-FR" altLang="fr-FR" sz="2000" dirty="0">
                <a:solidFill>
                  <a:srgbClr val="002060"/>
                </a:solidFill>
                <a:cs typeface="Arial" panose="020B0604020202020204" pitchFamily="34" charset="0"/>
              </a:rPr>
              <a:t>un modèle / une partie de modèle</a:t>
            </a:r>
          </a:p>
          <a:p>
            <a:pPr marL="529200" lvl="3" indent="72000" eaLnBrk="1">
              <a:spcBef>
                <a:spcPts val="300"/>
              </a:spcBef>
              <a:spcAft>
                <a:spcPct val="25000"/>
              </a:spcAft>
              <a:buClr>
                <a:srgbClr val="001A70"/>
              </a:buClr>
              <a:buFont typeface="Wingdings" panose="05000000000000000000" pitchFamily="2" charset="2"/>
              <a:buChar char="Ø"/>
            </a:pPr>
            <a:r>
              <a:rPr lang="fr-FR" altLang="fr-FR" dirty="0" smtClean="0">
                <a:solidFill>
                  <a:srgbClr val="000000"/>
                </a:solidFill>
                <a:cs typeface="Arial" panose="020B0604020202020204" pitchFamily="34" charset="0"/>
              </a:rPr>
              <a:t> Composition de modèles</a:t>
            </a:r>
          </a:p>
          <a:p>
            <a:pPr marL="529200" lvl="3" indent="72000" eaLnBrk="1">
              <a:spcBef>
                <a:spcPts val="300"/>
              </a:spcBef>
              <a:spcAft>
                <a:spcPct val="25000"/>
              </a:spcAft>
              <a:buClr>
                <a:srgbClr val="001A70"/>
              </a:buClr>
              <a:buFont typeface="Wingdings" panose="05000000000000000000" pitchFamily="2" charset="2"/>
              <a:buChar char="Ø"/>
            </a:pPr>
            <a:r>
              <a:rPr lang="fr-FR" altLang="fr-FR" dirty="0" smtClean="0">
                <a:solidFill>
                  <a:srgbClr val="000000"/>
                </a:solidFill>
                <a:cs typeface="Arial" panose="020B0604020202020204" pitchFamily="34" charset="0"/>
              </a:rPr>
              <a:t> Ajouter </a:t>
            </a:r>
            <a:r>
              <a:rPr lang="fr-FR" altLang="fr-FR" dirty="0">
                <a:solidFill>
                  <a:srgbClr val="000000"/>
                </a:solidFill>
                <a:cs typeface="Arial" panose="020B0604020202020204" pitchFamily="34" charset="0"/>
              </a:rPr>
              <a:t>une nouvelle </a:t>
            </a:r>
            <a:r>
              <a:rPr lang="fr-FR" altLang="fr-FR" dirty="0" smtClean="0">
                <a:solidFill>
                  <a:srgbClr val="000000"/>
                </a:solidFill>
                <a:cs typeface="Arial" panose="020B0604020202020204" pitchFamily="34" charset="0"/>
              </a:rPr>
              <a:t>physique / un </a:t>
            </a:r>
            <a:r>
              <a:rPr lang="fr-FR" altLang="fr-FR" dirty="0">
                <a:solidFill>
                  <a:srgbClr val="000000"/>
                </a:solidFill>
                <a:cs typeface="Arial" panose="020B0604020202020204" pitchFamily="34" charset="0"/>
              </a:rPr>
              <a:t>nouvel usage des données</a:t>
            </a: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5</a:t>
            </a:fld>
            <a:endParaRPr lang="fr-FR" altLang="fr-FR" sz="90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34835653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0" y="-17922"/>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Un modèle de données, Pourquoi ?</a:t>
            </a:r>
            <a:endParaRPr lang="fr-FR" altLang="fr-FR" sz="2800" dirty="0">
              <a:solidFill>
                <a:srgbClr val="001A70"/>
              </a:solidFill>
              <a:cs typeface="Arial" panose="020B0604020202020204" pitchFamily="34" charset="0"/>
            </a:endParaRPr>
          </a:p>
        </p:txBody>
      </p:sp>
      <p:sp>
        <p:nvSpPr>
          <p:cNvPr id="6147" name="Text Box 3"/>
          <p:cNvSpPr txBox="1">
            <a:spLocks noChangeArrowheads="1"/>
          </p:cNvSpPr>
          <p:nvPr/>
        </p:nvSpPr>
        <p:spPr bwMode="auto">
          <a:xfrm>
            <a:off x="-1" y="1019733"/>
            <a:ext cx="9133367" cy="5685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342900" indent="-342900" eaLnBrk="1">
              <a:spcBef>
                <a:spcPts val="600"/>
              </a:spcBef>
              <a:spcAft>
                <a:spcPts val="600"/>
              </a:spcAft>
              <a:buClr>
                <a:srgbClr val="001A70"/>
              </a:buClr>
              <a:buFont typeface="Wingdings" panose="05000000000000000000" pitchFamily="2" charset="2"/>
              <a:buChar char="§"/>
            </a:pPr>
            <a:r>
              <a:rPr lang="fr-FR" altLang="fr-FR" sz="2000" dirty="0" smtClean="0">
                <a:solidFill>
                  <a:srgbClr val="002060"/>
                </a:solidFill>
                <a:latin typeface="Arial"/>
                <a:cs typeface="Arial"/>
              </a:rPr>
              <a:t>Assurer </a:t>
            </a:r>
            <a:r>
              <a:rPr lang="fr-FR" altLang="fr-FR" sz="2000" dirty="0">
                <a:solidFill>
                  <a:srgbClr val="002060"/>
                </a:solidFill>
                <a:latin typeface="Arial"/>
                <a:cs typeface="Arial"/>
              </a:rPr>
              <a:t>l’interopérabilité/interchangeabilité des codes </a:t>
            </a:r>
          </a:p>
          <a:p>
            <a:pPr lvl="1" eaLnBrk="1">
              <a:spcBef>
                <a:spcPts val="300"/>
              </a:spcBef>
              <a:spcAft>
                <a:spcPts val="3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Faciliter les montées de version des codes dans une chaîne de calcul</a:t>
            </a:r>
          </a:p>
          <a:p>
            <a:pPr lvl="1" eaLnBrk="1">
              <a:spcBef>
                <a:spcPts val="300"/>
              </a:spcBef>
              <a:spcAft>
                <a:spcPts val="3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Assurer l’échange de données métiers entre modules au sein de la plate-forme SALOME</a:t>
            </a:r>
          </a:p>
          <a:p>
            <a:pPr lvl="1" eaLnBrk="1">
              <a:spcBef>
                <a:spcPts val="300"/>
              </a:spcBef>
              <a:spcAft>
                <a:spcPts val="300"/>
              </a:spcAft>
              <a:buClr>
                <a:srgbClr val="001A70"/>
              </a:buClr>
              <a:buFont typeface="Wingdings" panose="05000000000000000000" pitchFamily="2" charset="2"/>
              <a:buChar char="Ø"/>
            </a:pPr>
            <a:r>
              <a:rPr lang="fr-FR" altLang="fr-FR" dirty="0">
                <a:solidFill>
                  <a:srgbClr val="000000"/>
                </a:solidFill>
                <a:latin typeface="Arial"/>
                <a:cs typeface="Arial"/>
              </a:rPr>
              <a:t>Aider à l’écriture des modèles de données</a:t>
            </a:r>
          </a:p>
          <a:p>
            <a:pPr lvl="1" eaLnBrk="1">
              <a:spcBef>
                <a:spcPts val="300"/>
              </a:spcBef>
              <a:spcAft>
                <a:spcPts val="3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Améliorer la réutilisation des définitions d’objets entre les métiers</a:t>
            </a:r>
          </a:p>
          <a:p>
            <a:pPr marL="457200" lvl="1" indent="0" eaLnBrk="1">
              <a:spcBef>
                <a:spcPts val="600"/>
              </a:spcBef>
              <a:spcAft>
                <a:spcPts val="600"/>
              </a:spcAft>
              <a:buClr>
                <a:srgbClr val="001A70"/>
              </a:buClr>
            </a:pPr>
            <a:r>
              <a:rPr lang="fr-FR" altLang="fr-FR" dirty="0">
                <a:solidFill>
                  <a:srgbClr val="000000"/>
                </a:solidFill>
                <a:cs typeface="Arial" panose="020B0604020202020204" pitchFamily="34" charset="0"/>
              </a:rPr>
              <a:t>  </a:t>
            </a:r>
            <a:endParaRPr lang="fr-FR" altLang="fr-FR" sz="2000" dirty="0">
              <a:solidFill>
                <a:srgbClr val="000000"/>
              </a:solidFill>
              <a:cs typeface="Arial" panose="020B0604020202020204" pitchFamily="34" charset="0"/>
            </a:endParaRPr>
          </a:p>
          <a:p>
            <a:pPr eaLnBrk="1">
              <a:spcBef>
                <a:spcPts val="600"/>
              </a:spcBef>
              <a:spcAft>
                <a:spcPts val="600"/>
              </a:spcAft>
              <a:buClr>
                <a:srgbClr val="001A70"/>
              </a:buClr>
              <a:buFont typeface="Wingdings" panose="05000000000000000000" pitchFamily="2" charset="2"/>
              <a:buChar char=""/>
            </a:pPr>
            <a:r>
              <a:rPr lang="fr-FR" altLang="fr-FR" sz="2000" dirty="0">
                <a:solidFill>
                  <a:srgbClr val="002060"/>
                </a:solidFill>
                <a:latin typeface="Arial"/>
                <a:cs typeface="Arial"/>
              </a:rPr>
              <a:t>   Automatiser les développements récurrents réalisées par les développeurs d’outils et plates-formes métier</a:t>
            </a:r>
            <a:endParaRPr lang="fr-FR" dirty="0">
              <a:cs typeface="Arial"/>
            </a:endParaRPr>
          </a:p>
          <a:p>
            <a:pPr>
              <a:spcBef>
                <a:spcPts val="600"/>
              </a:spcBef>
              <a:spcAft>
                <a:spcPts val="600"/>
              </a:spcAft>
              <a:buClr>
                <a:srgbClr val="001A70"/>
              </a:buClr>
              <a:buFont typeface="Wingdings" panose="05000000000000000000" pitchFamily="2" charset="2"/>
              <a:buChar char=""/>
            </a:pPr>
            <a:r>
              <a:rPr lang="fr-FR" altLang="fr-FR" sz="2000" dirty="0">
                <a:solidFill>
                  <a:srgbClr val="002060"/>
                </a:solidFill>
                <a:latin typeface="Arial"/>
                <a:cs typeface="Arial"/>
              </a:rPr>
              <a:t>   Faciliter la maintenance et améliorer la qualité des modules métiers</a:t>
            </a:r>
            <a:endParaRPr lang="fr-FR" dirty="0"/>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6</a:t>
            </a:fld>
            <a:endParaRPr lang="fr-FR" altLang="fr-FR" sz="90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16886601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0" y="-17922"/>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a:t>
            </a:r>
            <a:endParaRPr lang="fr-FR" altLang="fr-FR" sz="2800" dirty="0">
              <a:solidFill>
                <a:srgbClr val="001A70"/>
              </a:solidFill>
              <a:cs typeface="Arial" panose="020B0604020202020204" pitchFamily="34" charset="0"/>
            </a:endParaRPr>
          </a:p>
        </p:txBody>
      </p:sp>
      <p:sp>
        <p:nvSpPr>
          <p:cNvPr id="6147" name="Text Box 3"/>
          <p:cNvSpPr txBox="1">
            <a:spLocks noChangeArrowheads="1"/>
          </p:cNvSpPr>
          <p:nvPr/>
        </p:nvSpPr>
        <p:spPr bwMode="auto">
          <a:xfrm>
            <a:off x="0" y="866955"/>
            <a:ext cx="9144001" cy="5295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342900" indent="-342900" eaLnBrk="1">
              <a:spcBef>
                <a:spcPts val="600"/>
              </a:spcBef>
              <a:spcAft>
                <a:spcPts val="600"/>
              </a:spcAft>
              <a:buClr>
                <a:srgbClr val="001A70"/>
              </a:buClr>
              <a:buFont typeface="Wingdings" panose="05000000000000000000" pitchFamily="2" charset="2"/>
              <a:buChar char="§"/>
            </a:pPr>
            <a:r>
              <a:rPr lang="fr-FR" altLang="fr-FR" sz="2000" dirty="0" smtClean="0">
                <a:solidFill>
                  <a:srgbClr val="002060"/>
                </a:solidFill>
                <a:latin typeface="Arial"/>
                <a:cs typeface="Arial"/>
              </a:rPr>
              <a:t>Ecrit en python. </a:t>
            </a:r>
            <a:r>
              <a:rPr lang="fr-FR" altLang="fr-FR" sz="2000" dirty="0" err="1" smtClean="0">
                <a:solidFill>
                  <a:srgbClr val="002060"/>
                </a:solidFill>
                <a:latin typeface="Arial"/>
                <a:cs typeface="Arial"/>
              </a:rPr>
              <a:t>PyQt</a:t>
            </a:r>
            <a:r>
              <a:rPr lang="fr-FR" altLang="fr-FR" sz="2000" dirty="0" smtClean="0">
                <a:solidFill>
                  <a:srgbClr val="002060"/>
                </a:solidFill>
                <a:latin typeface="Arial"/>
                <a:cs typeface="Arial"/>
              </a:rPr>
              <a:t> optionnel.  Utilisation de </a:t>
            </a:r>
            <a:r>
              <a:rPr lang="fr-FR" altLang="fr-FR" sz="2000" dirty="0" err="1" smtClean="0">
                <a:solidFill>
                  <a:srgbClr val="002060"/>
                </a:solidFill>
                <a:latin typeface="Arial"/>
                <a:cs typeface="Arial"/>
              </a:rPr>
              <a:t>Pyxb</a:t>
            </a:r>
            <a:endParaRPr lang="fr-FR" altLang="fr-FR" sz="2000" dirty="0" smtClean="0">
              <a:solidFill>
                <a:srgbClr val="002060"/>
              </a:solidFill>
              <a:latin typeface="Arial"/>
              <a:cs typeface="Arial"/>
            </a:endParaRPr>
          </a:p>
          <a:p>
            <a:pPr marL="342900" indent="-342900" eaLnBrk="1">
              <a:spcBef>
                <a:spcPts val="600"/>
              </a:spcBef>
              <a:spcAft>
                <a:spcPts val="600"/>
              </a:spcAft>
              <a:buClr>
                <a:srgbClr val="001A70"/>
              </a:buClr>
              <a:buFont typeface="Wingdings" panose="05000000000000000000" pitchFamily="2" charset="2"/>
              <a:buChar char="§"/>
            </a:pPr>
            <a:r>
              <a:rPr lang="fr-FR" altLang="fr-FR" sz="2000" dirty="0" smtClean="0">
                <a:solidFill>
                  <a:srgbClr val="002060"/>
                </a:solidFill>
                <a:latin typeface="Arial"/>
                <a:cs typeface="Arial"/>
              </a:rPr>
              <a:t>Externe aux codes</a:t>
            </a:r>
          </a:p>
          <a:p>
            <a:pPr marL="342900" indent="-342900" eaLnBrk="1">
              <a:spcBef>
                <a:spcPts val="600"/>
              </a:spcBef>
              <a:spcAft>
                <a:spcPts val="600"/>
              </a:spcAft>
              <a:buClr>
                <a:srgbClr val="001A70"/>
              </a:buClr>
              <a:buFont typeface="Wingdings" panose="05000000000000000000" pitchFamily="2" charset="2"/>
              <a:buChar char="§"/>
            </a:pPr>
            <a:r>
              <a:rPr lang="fr-FR" altLang="fr-FR" sz="2000" dirty="0" smtClean="0">
                <a:solidFill>
                  <a:srgbClr val="002060"/>
                </a:solidFill>
                <a:latin typeface="Arial"/>
                <a:cs typeface="Arial"/>
              </a:rPr>
              <a:t>Un outil d’aide à la conception, de modèles </a:t>
            </a:r>
          </a:p>
          <a:p>
            <a:pPr marL="1085850" lvl="1" indent="-342900" eaLnBrk="1">
              <a:spcBef>
                <a:spcPts val="600"/>
              </a:spcBef>
              <a:spcAft>
                <a:spcPts val="600"/>
              </a:spcAft>
              <a:buClr>
                <a:srgbClr val="001A70"/>
              </a:buClr>
              <a:buFont typeface="Wingdings" panose="05000000000000000000" pitchFamily="2" charset="2"/>
              <a:buChar char="Ø"/>
            </a:pPr>
            <a:r>
              <a:rPr lang="fr-FR" altLang="fr-FR" sz="2000" dirty="0">
                <a:solidFill>
                  <a:srgbClr val="000000"/>
                </a:solidFill>
                <a:latin typeface="Arial"/>
                <a:cs typeface="Arial"/>
              </a:rPr>
              <a:t>Génère automatiquement une IHM </a:t>
            </a:r>
            <a:r>
              <a:rPr lang="fr-FR" altLang="fr-FR" sz="2000" dirty="0" smtClean="0">
                <a:solidFill>
                  <a:srgbClr val="000000"/>
                </a:solidFill>
                <a:latin typeface="Arial"/>
                <a:cs typeface="Arial"/>
              </a:rPr>
              <a:t>qui permet des </a:t>
            </a:r>
            <a:r>
              <a:rPr lang="fr-FR" altLang="fr-FR" sz="2000" dirty="0" err="1" smtClean="0">
                <a:solidFill>
                  <a:srgbClr val="000000"/>
                </a:solidFill>
                <a:latin typeface="Arial"/>
                <a:cs typeface="Arial"/>
              </a:rPr>
              <a:t>rétro-actions</a:t>
            </a:r>
            <a:r>
              <a:rPr lang="fr-FR" altLang="fr-FR" sz="2000" dirty="0" smtClean="0">
                <a:solidFill>
                  <a:srgbClr val="000000"/>
                </a:solidFill>
                <a:latin typeface="Arial"/>
                <a:cs typeface="Arial"/>
              </a:rPr>
              <a:t> rapides</a:t>
            </a:r>
            <a:endParaRPr lang="fr-FR" altLang="fr-FR" sz="2000" dirty="0" smtClean="0">
              <a:solidFill>
                <a:srgbClr val="002060"/>
              </a:solidFill>
              <a:latin typeface="Arial"/>
              <a:cs typeface="Arial"/>
            </a:endParaRPr>
          </a:p>
          <a:p>
            <a:pPr marL="342900" indent="-342900" eaLnBrk="1">
              <a:spcBef>
                <a:spcPts val="600"/>
              </a:spcBef>
              <a:spcAft>
                <a:spcPts val="600"/>
              </a:spcAft>
              <a:buClr>
                <a:srgbClr val="001A70"/>
              </a:buClr>
              <a:buFont typeface="Wingdings" panose="05000000000000000000" pitchFamily="2" charset="2"/>
              <a:buChar char="§"/>
            </a:pPr>
            <a:r>
              <a:rPr lang="fr-FR" altLang="fr-FR" sz="2000" dirty="0" smtClean="0">
                <a:solidFill>
                  <a:srgbClr val="002060"/>
                </a:solidFill>
                <a:latin typeface="Arial"/>
                <a:cs typeface="Arial"/>
              </a:rPr>
              <a:t>Un outil d’aide aux développeurs</a:t>
            </a:r>
          </a:p>
          <a:p>
            <a:pPr lvl="1" eaLnBrk="1">
              <a:spcBef>
                <a:spcPts val="300"/>
              </a:spcBef>
              <a:buClr>
                <a:srgbClr val="001A70"/>
              </a:buClr>
              <a:buFont typeface="Wingdings" panose="05000000000000000000" pitchFamily="2" charset="2"/>
              <a:buChar char="Ø"/>
              <a:defRPr/>
            </a:pPr>
            <a:r>
              <a:rPr lang="fr-FR" altLang="fr-FR" dirty="0" smtClean="0">
                <a:solidFill>
                  <a:srgbClr val="000000"/>
                </a:solidFill>
                <a:latin typeface="Arial"/>
                <a:cs typeface="Arial"/>
              </a:rPr>
              <a:t>Génère </a:t>
            </a:r>
            <a:r>
              <a:rPr lang="fr-FR" altLang="fr-FR" dirty="0">
                <a:solidFill>
                  <a:srgbClr val="000000"/>
                </a:solidFill>
                <a:latin typeface="Arial"/>
                <a:cs typeface="Arial"/>
              </a:rPr>
              <a:t>automatiquement les drivers d’entrées/sorties des paramètres (</a:t>
            </a:r>
            <a:r>
              <a:rPr lang="fr-FR" altLang="fr-FR" sz="1600" dirty="0">
                <a:solidFill>
                  <a:srgbClr val="000000"/>
                </a:solidFill>
                <a:latin typeface="Arial"/>
                <a:cs typeface="Arial"/>
              </a:rPr>
              <a:t>en C++ et en python</a:t>
            </a:r>
            <a:r>
              <a:rPr lang="fr-FR" altLang="fr-FR" dirty="0">
                <a:solidFill>
                  <a:srgbClr val="000000"/>
                </a:solidFill>
                <a:latin typeface="Arial"/>
                <a:cs typeface="Arial"/>
              </a:rPr>
              <a:t>)</a:t>
            </a:r>
          </a:p>
          <a:p>
            <a:pPr lvl="1" eaLnBrk="1">
              <a:spcBef>
                <a:spcPts val="300"/>
              </a:spcBef>
              <a:buClr>
                <a:srgbClr val="001A70"/>
              </a:buClr>
              <a:buFont typeface="Wingdings" panose="05000000000000000000" pitchFamily="2" charset="2"/>
              <a:buChar char="Ø"/>
              <a:defRPr/>
            </a:pPr>
            <a:r>
              <a:rPr lang="fr-FR" altLang="fr-FR" dirty="0" smtClean="0">
                <a:solidFill>
                  <a:srgbClr val="000000"/>
                </a:solidFill>
                <a:latin typeface="Arial"/>
                <a:cs typeface="Arial"/>
              </a:rPr>
              <a:t>Garantit </a:t>
            </a:r>
            <a:r>
              <a:rPr lang="fr-FR" altLang="fr-FR" dirty="0">
                <a:solidFill>
                  <a:srgbClr val="000000"/>
                </a:solidFill>
                <a:latin typeface="Arial"/>
                <a:cs typeface="Arial"/>
              </a:rPr>
              <a:t>la validité des jeux de données.</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Aide à standardiser les schémas de calcul dans un environnement Salomé</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Option de validation partielle d'appels de fonctions python du modèle</a:t>
            </a:r>
          </a:p>
          <a:p>
            <a:pPr lvl="1" eaLnBrk="1">
              <a:spcBef>
                <a:spcPts val="300"/>
              </a:spcBef>
              <a:buClr>
                <a:srgbClr val="001A70"/>
              </a:buClr>
              <a:buFont typeface="Wingdings" panose="05000000000000000000" pitchFamily="2" charset="2"/>
              <a:buChar char="Ø"/>
            </a:pPr>
            <a:endParaRPr lang="fr-FR" altLang="fr-FR" dirty="0">
              <a:solidFill>
                <a:srgbClr val="000000"/>
              </a:solidFill>
              <a:cs typeface="Arial" panose="020B0604020202020204" pitchFamily="34" charset="0"/>
            </a:endParaRPr>
          </a:p>
          <a:p>
            <a:pPr marL="342900" indent="-342900" eaLnBrk="1">
              <a:spcBef>
                <a:spcPts val="600"/>
              </a:spcBef>
              <a:spcAft>
                <a:spcPts val="600"/>
              </a:spcAft>
              <a:buClr>
                <a:srgbClr val="001A70"/>
              </a:buClr>
              <a:buFont typeface="Wingdings" panose="05000000000000000000" pitchFamily="2" charset="2"/>
              <a:buChar char="§"/>
            </a:pPr>
            <a:endParaRPr lang="fr-FR" altLang="fr-FR" sz="2400" dirty="0">
              <a:solidFill>
                <a:srgbClr val="000000"/>
              </a:solidFill>
              <a:latin typeface="Arial"/>
              <a:cs typeface="Arial"/>
            </a:endParaRPr>
          </a:p>
          <a:p>
            <a:pPr marL="342900" indent="-342900" eaLnBrk="1">
              <a:spcBef>
                <a:spcPts val="600"/>
              </a:spcBef>
              <a:spcAft>
                <a:spcPts val="600"/>
              </a:spcAft>
              <a:buClr>
                <a:srgbClr val="001A70"/>
              </a:buClr>
              <a:buFont typeface="Wingdings" panose="05000000000000000000" pitchFamily="2" charset="2"/>
              <a:buChar char="§"/>
            </a:pPr>
            <a:endParaRPr lang="fr-FR" altLang="fr-FR" sz="2000" dirty="0" smtClean="0">
              <a:solidFill>
                <a:srgbClr val="002060"/>
              </a:solidFill>
              <a:latin typeface="Arial"/>
              <a:cs typeface="Arial"/>
            </a:endParaRPr>
          </a:p>
          <a:p>
            <a:pPr marL="342900" indent="-342900" eaLnBrk="1">
              <a:spcBef>
                <a:spcPts val="600"/>
              </a:spcBef>
              <a:spcAft>
                <a:spcPts val="600"/>
              </a:spcAft>
              <a:buClr>
                <a:srgbClr val="001A70"/>
              </a:buClr>
              <a:buFont typeface="Wingdings" panose="05000000000000000000" pitchFamily="2" charset="2"/>
              <a:buChar char="§"/>
            </a:pPr>
            <a:endParaRPr lang="fr-FR" altLang="fr-FR" sz="2000" dirty="0" smtClean="0">
              <a:solidFill>
                <a:srgbClr val="002060"/>
              </a:solidFill>
              <a:latin typeface="Arial"/>
              <a:cs typeface="Arial"/>
            </a:endParaRPr>
          </a:p>
          <a:p>
            <a:pPr eaLnBrk="1">
              <a:spcBef>
                <a:spcPts val="600"/>
              </a:spcBef>
              <a:spcAft>
                <a:spcPts val="600"/>
              </a:spcAft>
              <a:buClr>
                <a:srgbClr val="001A70"/>
              </a:buClr>
            </a:pPr>
            <a:endParaRPr lang="fr-FR" altLang="fr-FR" sz="2000" dirty="0" smtClean="0">
              <a:solidFill>
                <a:srgbClr val="002060"/>
              </a:solidFill>
              <a:latin typeface="Arial"/>
              <a:cs typeface="Arial"/>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7</a:t>
            </a:fld>
            <a:endParaRPr lang="fr-FR" altLang="fr-FR" sz="90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71990281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 Box 2"/>
          <p:cNvSpPr txBox="1">
            <a:spLocks noChangeArrowheads="1"/>
          </p:cNvSpPr>
          <p:nvPr/>
        </p:nvSpPr>
        <p:spPr bwMode="auto">
          <a:xfrm>
            <a:off x="-32495" y="-85062"/>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Chaine d’obtention des drivers  </a:t>
            </a:r>
            <a:endParaRPr lang="fr-FR" altLang="fr-FR" sz="2800" dirty="0">
              <a:solidFill>
                <a:srgbClr val="001A70"/>
              </a:solidFill>
              <a:cs typeface="Arial" panose="020B0604020202020204" pitchFamily="34" charset="0"/>
            </a:endParaRPr>
          </a:p>
        </p:txBody>
      </p:sp>
      <p:sp>
        <p:nvSpPr>
          <p:cNvPr id="6148" name="Text Box 4"/>
          <p:cNvSpPr txBox="1">
            <a:spLocks noChangeArrowheads="1"/>
          </p:cNvSpPr>
          <p:nvPr/>
        </p:nvSpPr>
        <p:spPr bwMode="auto">
          <a:xfrm>
            <a:off x="5065024" y="6784599"/>
            <a:ext cx="46035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8</a:t>
            </a:fld>
            <a:endParaRPr lang="fr-FR" altLang="fr-FR" sz="900">
              <a:latin typeface="Times New Roman" panose="02020603050405020304" pitchFamily="18" charset="0"/>
              <a:cs typeface="Arial" panose="020B0604020202020204" pitchFamily="34" charset="0"/>
            </a:endParaRPr>
          </a:p>
        </p:txBody>
      </p:sp>
      <p:cxnSp>
        <p:nvCxnSpPr>
          <p:cNvPr id="55" name="Connecteur droit avec flèche 54"/>
          <p:cNvCxnSpPr/>
          <p:nvPr/>
        </p:nvCxnSpPr>
        <p:spPr bwMode="auto">
          <a:xfrm>
            <a:off x="1815627" y="4917246"/>
            <a:ext cx="0" cy="223893"/>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59" name="Connecteur droit avec flèche 58"/>
          <p:cNvCxnSpPr/>
          <p:nvPr/>
        </p:nvCxnSpPr>
        <p:spPr bwMode="auto">
          <a:xfrm>
            <a:off x="3735258" y="2119587"/>
            <a:ext cx="0" cy="223893"/>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60" name="Connecteur droit avec flèche 59"/>
          <p:cNvCxnSpPr/>
          <p:nvPr/>
        </p:nvCxnSpPr>
        <p:spPr bwMode="auto">
          <a:xfrm>
            <a:off x="2280169" y="4519619"/>
            <a:ext cx="0" cy="223893"/>
          </a:xfrm>
          <a:prstGeom prst="straightConnector1">
            <a:avLst/>
          </a:prstGeom>
          <a:solidFill>
            <a:srgbClr val="00B8FF"/>
          </a:solidFill>
          <a:ln w="9525" cap="flat" cmpd="sng" algn="ctr">
            <a:solidFill>
              <a:schemeClr val="tx1"/>
            </a:solidFill>
            <a:prstDash val="solid"/>
            <a:round/>
            <a:headEnd type="none" w="med" len="med"/>
            <a:tailEnd type="triangle"/>
          </a:ln>
          <a:effectLst/>
        </p:spPr>
      </p:cxnSp>
      <p:grpSp>
        <p:nvGrpSpPr>
          <p:cNvPr id="75" name="Groupe 74"/>
          <p:cNvGrpSpPr/>
          <p:nvPr/>
        </p:nvGrpSpPr>
        <p:grpSpPr>
          <a:xfrm>
            <a:off x="1524233" y="633158"/>
            <a:ext cx="3114927" cy="1097926"/>
            <a:chOff x="824475" y="733754"/>
            <a:chExt cx="3114927" cy="1097926"/>
          </a:xfrm>
        </p:grpSpPr>
        <p:sp>
          <p:nvSpPr>
            <p:cNvPr id="8" name="Ellipse 7"/>
            <p:cNvSpPr/>
            <p:nvPr/>
          </p:nvSpPr>
          <p:spPr bwMode="auto">
            <a:xfrm>
              <a:off x="830812" y="733754"/>
              <a:ext cx="3108589" cy="835828"/>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9" name="Ellipse 8"/>
            <p:cNvSpPr/>
            <p:nvPr/>
          </p:nvSpPr>
          <p:spPr bwMode="auto">
            <a:xfrm>
              <a:off x="830813" y="855594"/>
              <a:ext cx="3108589" cy="835828"/>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10" name="Ellipse 9"/>
            <p:cNvSpPr/>
            <p:nvPr/>
          </p:nvSpPr>
          <p:spPr bwMode="auto">
            <a:xfrm>
              <a:off x="824475" y="995852"/>
              <a:ext cx="3114927" cy="835828"/>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smtClean="0">
                  <a:solidFill>
                    <a:schemeClr val="tx1"/>
                  </a:solidFill>
                </a:rPr>
                <a:t>Modèles exprimés en grammaire MDM</a:t>
              </a:r>
              <a:endParaRPr kumimoji="0" lang="fr-FR" sz="1800" b="0" i="0" u="none" strike="noStrike" cap="none" normalizeH="0" baseline="0" dirty="0" smtClean="0">
                <a:ln>
                  <a:noFill/>
                </a:ln>
                <a:solidFill>
                  <a:schemeClr val="tx1"/>
                </a:solidFill>
                <a:effectLst/>
                <a:latin typeface="Calibri" pitchFamily="34" charset="0"/>
              </a:endParaRPr>
            </a:p>
          </p:txBody>
        </p:sp>
      </p:grpSp>
      <p:sp>
        <p:nvSpPr>
          <p:cNvPr id="4" name="Rectangle 3"/>
          <p:cNvSpPr/>
          <p:nvPr/>
        </p:nvSpPr>
        <p:spPr bwMode="auto">
          <a:xfrm>
            <a:off x="1929069" y="1982200"/>
            <a:ext cx="2305256" cy="667921"/>
          </a:xfrm>
          <a:prstGeom prst="rect">
            <a:avLst/>
          </a:prstGeom>
          <a:solidFill>
            <a:srgbClr val="DADAF6"/>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tx1"/>
                </a:solidFill>
                <a:effectLst/>
                <a:latin typeface="Calibri" pitchFamily="34" charset="0"/>
              </a:rPr>
              <a:t>Classes de gestion des catalogues MDM</a:t>
            </a:r>
          </a:p>
        </p:txBody>
      </p:sp>
      <p:grpSp>
        <p:nvGrpSpPr>
          <p:cNvPr id="74" name="Groupe 73"/>
          <p:cNvGrpSpPr/>
          <p:nvPr/>
        </p:nvGrpSpPr>
        <p:grpSpPr>
          <a:xfrm>
            <a:off x="1495405" y="2901237"/>
            <a:ext cx="3099119" cy="1049621"/>
            <a:chOff x="1411653" y="2931263"/>
            <a:chExt cx="3099119" cy="1049621"/>
          </a:xfrm>
        </p:grpSpPr>
        <p:sp>
          <p:nvSpPr>
            <p:cNvPr id="27" name="Ellipse 26"/>
            <p:cNvSpPr/>
            <p:nvPr/>
          </p:nvSpPr>
          <p:spPr bwMode="auto">
            <a:xfrm>
              <a:off x="1411653" y="2931263"/>
              <a:ext cx="3023240" cy="771483"/>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26" name="Ellipse 25"/>
            <p:cNvSpPr/>
            <p:nvPr/>
          </p:nvSpPr>
          <p:spPr bwMode="auto">
            <a:xfrm>
              <a:off x="1475696" y="3105914"/>
              <a:ext cx="3003944" cy="639706"/>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28" name="Ellipse 27"/>
            <p:cNvSpPr/>
            <p:nvPr/>
          </p:nvSpPr>
          <p:spPr bwMode="auto">
            <a:xfrm>
              <a:off x="1475696" y="3263578"/>
              <a:ext cx="3035076" cy="717306"/>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smtClean="0">
                  <a:solidFill>
                    <a:schemeClr val="tx1"/>
                  </a:solidFill>
                </a:rPr>
                <a:t>Modèles correspondant XSD</a:t>
              </a:r>
              <a:endParaRPr kumimoji="0" lang="fr-FR" sz="1800" b="0" i="0" u="none" strike="noStrike" cap="none" normalizeH="0" baseline="0" dirty="0" smtClean="0">
                <a:ln>
                  <a:noFill/>
                </a:ln>
                <a:solidFill>
                  <a:schemeClr val="tx1"/>
                </a:solidFill>
                <a:effectLst/>
                <a:latin typeface="Calibri" pitchFamily="34" charset="0"/>
              </a:endParaRPr>
            </a:p>
          </p:txBody>
        </p:sp>
      </p:grpSp>
      <p:grpSp>
        <p:nvGrpSpPr>
          <p:cNvPr id="36" name="Groupe 35"/>
          <p:cNvGrpSpPr/>
          <p:nvPr/>
        </p:nvGrpSpPr>
        <p:grpSpPr>
          <a:xfrm>
            <a:off x="983650" y="4236020"/>
            <a:ext cx="4183220" cy="695685"/>
            <a:chOff x="1077140" y="3873080"/>
            <a:chExt cx="4226680" cy="695685"/>
          </a:xfrm>
        </p:grpSpPr>
        <p:sp>
          <p:nvSpPr>
            <p:cNvPr id="13" name="Rectangle 12"/>
            <p:cNvSpPr/>
            <p:nvPr/>
          </p:nvSpPr>
          <p:spPr bwMode="auto">
            <a:xfrm>
              <a:off x="1077140" y="3873080"/>
              <a:ext cx="1770013" cy="695685"/>
            </a:xfrm>
            <a:prstGeom prst="rect">
              <a:avLst/>
            </a:prstGeom>
            <a:solidFill>
              <a:srgbClr val="DADAF6"/>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err="1" smtClean="0">
                  <a:ln>
                    <a:noFill/>
                  </a:ln>
                  <a:solidFill>
                    <a:schemeClr val="tx1"/>
                  </a:solidFill>
                  <a:effectLst/>
                  <a:latin typeface="Calibri" pitchFamily="34" charset="0"/>
                </a:rPr>
                <a:t>Pyxb</a:t>
              </a:r>
              <a:endParaRPr kumimoji="0" lang="fr-FR" sz="1800" b="0" i="0" u="none" strike="noStrike" cap="none" normalizeH="0" baseline="0" dirty="0" smtClean="0">
                <a:ln>
                  <a:noFill/>
                </a:ln>
                <a:solidFill>
                  <a:schemeClr val="tx1"/>
                </a:solidFill>
                <a:effectLst/>
                <a:latin typeface="Calibri" pitchFamily="34" charset="0"/>
              </a:endParaRPr>
            </a:p>
          </p:txBody>
        </p:sp>
        <p:sp>
          <p:nvSpPr>
            <p:cNvPr id="40" name="Rectangle 39"/>
            <p:cNvSpPr/>
            <p:nvPr/>
          </p:nvSpPr>
          <p:spPr bwMode="auto">
            <a:xfrm>
              <a:off x="3533807" y="3873080"/>
              <a:ext cx="1770013" cy="695685"/>
            </a:xfrm>
            <a:prstGeom prst="rect">
              <a:avLst/>
            </a:prstGeom>
            <a:solidFill>
              <a:srgbClr val="DADAF6"/>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err="1">
                  <a:solidFill>
                    <a:schemeClr val="tx1"/>
                  </a:solidFill>
                  <a:latin typeface="Calibri" pitchFamily="34" charset="0"/>
                </a:rPr>
                <a:t>X</a:t>
              </a:r>
              <a:r>
                <a:rPr kumimoji="0" lang="fr-FR" sz="1800" b="0" i="0" u="none" strike="noStrike" cap="none" normalizeH="0" baseline="0" dirty="0" err="1" smtClean="0">
                  <a:ln>
                    <a:noFill/>
                  </a:ln>
                  <a:solidFill>
                    <a:schemeClr val="tx1"/>
                  </a:solidFill>
                  <a:effectLst/>
                  <a:latin typeface="Calibri" pitchFamily="34" charset="0"/>
                </a:rPr>
                <a:t>sdcxx</a:t>
              </a:r>
              <a:endParaRPr kumimoji="0" lang="fr-FR" sz="1800" b="0" i="0" u="none" strike="noStrike" cap="none" normalizeH="0" baseline="0" dirty="0" smtClean="0">
                <a:ln>
                  <a:noFill/>
                </a:ln>
                <a:solidFill>
                  <a:schemeClr val="tx1"/>
                </a:solidFill>
                <a:effectLst/>
                <a:latin typeface="Calibri" pitchFamily="34" charset="0"/>
              </a:endParaRPr>
            </a:p>
          </p:txBody>
        </p:sp>
      </p:grpSp>
      <p:cxnSp>
        <p:nvCxnSpPr>
          <p:cNvPr id="78" name="Connecteur droit avec flèche 77"/>
          <p:cNvCxnSpPr/>
          <p:nvPr/>
        </p:nvCxnSpPr>
        <p:spPr bwMode="auto">
          <a:xfrm flipH="1">
            <a:off x="1646672" y="3907325"/>
            <a:ext cx="300108" cy="259645"/>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80" name="Connecteur droit avec flèche 79"/>
          <p:cNvCxnSpPr/>
          <p:nvPr/>
        </p:nvCxnSpPr>
        <p:spPr bwMode="auto">
          <a:xfrm>
            <a:off x="4171069" y="3890219"/>
            <a:ext cx="239788" cy="292227"/>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82" name="Connecteur droit avec flèche 81"/>
          <p:cNvCxnSpPr>
            <a:stCxn id="10" idx="4"/>
            <a:endCxn id="4" idx="0"/>
          </p:cNvCxnSpPr>
          <p:nvPr/>
        </p:nvCxnSpPr>
        <p:spPr bwMode="auto">
          <a:xfrm>
            <a:off x="3081697" y="1731084"/>
            <a:ext cx="0" cy="251116"/>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84" name="Connecteur droit avec flèche 83"/>
          <p:cNvCxnSpPr>
            <a:stCxn id="4" idx="2"/>
          </p:cNvCxnSpPr>
          <p:nvPr/>
        </p:nvCxnSpPr>
        <p:spPr bwMode="auto">
          <a:xfrm flipH="1">
            <a:off x="3081696" y="2650121"/>
            <a:ext cx="1" cy="251116"/>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
        <p:nvSpPr>
          <p:cNvPr id="91" name="Rectangle 90"/>
          <p:cNvSpPr/>
          <p:nvPr/>
        </p:nvSpPr>
        <p:spPr bwMode="auto">
          <a:xfrm>
            <a:off x="4083505" y="6269287"/>
            <a:ext cx="710345" cy="408126"/>
          </a:xfrm>
          <a:prstGeom prst="rect">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effectLst/>
              <a:latin typeface="Calibri" pitchFamily="34" charset="0"/>
            </a:endParaRPr>
          </a:p>
        </p:txBody>
      </p:sp>
      <p:sp>
        <p:nvSpPr>
          <p:cNvPr id="11" name="ZoneTexte 10"/>
          <p:cNvSpPr txBox="1"/>
          <p:nvPr/>
        </p:nvSpPr>
        <p:spPr>
          <a:xfrm>
            <a:off x="5850508" y="849746"/>
            <a:ext cx="3250363" cy="646331"/>
          </a:xfrm>
          <a:prstGeom prst="rect">
            <a:avLst/>
          </a:prstGeom>
          <a:noFill/>
        </p:spPr>
        <p:txBody>
          <a:bodyPr wrap="square" rtlCol="0">
            <a:spAutoFit/>
          </a:bodyPr>
          <a:lstStyle/>
          <a:p>
            <a:r>
              <a:rPr lang="fr-FR" dirty="0" smtClean="0">
                <a:solidFill>
                  <a:schemeClr val="tx1"/>
                </a:solidFill>
              </a:rPr>
              <a:t>- Seule, l’écriture des modèles n’est pas automatique</a:t>
            </a:r>
            <a:endParaRPr lang="fr-FR" dirty="0">
              <a:solidFill>
                <a:schemeClr val="tx1"/>
              </a:solidFill>
            </a:endParaRPr>
          </a:p>
        </p:txBody>
      </p:sp>
      <p:sp>
        <p:nvSpPr>
          <p:cNvPr id="44" name="ZoneTexte 43"/>
          <p:cNvSpPr txBox="1"/>
          <p:nvPr/>
        </p:nvSpPr>
        <p:spPr>
          <a:xfrm>
            <a:off x="5850507" y="1893467"/>
            <a:ext cx="3250363" cy="923330"/>
          </a:xfrm>
          <a:prstGeom prst="rect">
            <a:avLst/>
          </a:prstGeom>
          <a:noFill/>
        </p:spPr>
        <p:txBody>
          <a:bodyPr wrap="square" rtlCol="0">
            <a:spAutoFit/>
          </a:bodyPr>
          <a:lstStyle/>
          <a:p>
            <a:pPr marL="285750" indent="-285750">
              <a:buFontTx/>
              <a:buChar char="-"/>
            </a:pPr>
            <a:r>
              <a:rPr lang="fr-FR" dirty="0" smtClean="0">
                <a:solidFill>
                  <a:schemeClr val="tx1"/>
                </a:solidFill>
              </a:rPr>
              <a:t>La chaîne est effectuée une fois</a:t>
            </a:r>
          </a:p>
          <a:p>
            <a:pPr marL="285750" indent="-285750">
              <a:buFontTx/>
              <a:buChar char="-"/>
            </a:pPr>
            <a:endParaRPr lang="fr-FR" dirty="0">
              <a:solidFill>
                <a:schemeClr val="tx1"/>
              </a:solidFill>
            </a:endParaRPr>
          </a:p>
        </p:txBody>
      </p:sp>
      <p:grpSp>
        <p:nvGrpSpPr>
          <p:cNvPr id="45" name="Groupe 44"/>
          <p:cNvGrpSpPr/>
          <p:nvPr/>
        </p:nvGrpSpPr>
        <p:grpSpPr>
          <a:xfrm>
            <a:off x="4337937" y="6332258"/>
            <a:ext cx="957264" cy="490748"/>
            <a:chOff x="6296025" y="4038390"/>
            <a:chExt cx="957264" cy="490748"/>
          </a:xfrm>
        </p:grpSpPr>
        <p:sp>
          <p:nvSpPr>
            <p:cNvPr id="46" name="Rectangle 45"/>
            <p:cNvSpPr/>
            <p:nvPr/>
          </p:nvSpPr>
          <p:spPr bwMode="auto">
            <a:xfrm>
              <a:off x="6634163" y="4257500"/>
              <a:ext cx="489527" cy="123825"/>
            </a:xfrm>
            <a:prstGeom prst="rect">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sz="1200" dirty="0" smtClean="0">
                  <a:latin typeface="Calibri" pitchFamily="34" charset="0"/>
                </a:rPr>
                <a:t>outil</a:t>
              </a:r>
              <a:endParaRPr kumimoji="0" lang="fr-FR" sz="1200" b="0" i="0" u="none" strike="noStrike" cap="none" normalizeH="0" baseline="0" dirty="0" smtClean="0">
                <a:ln>
                  <a:noFill/>
                </a:ln>
                <a:effectLst/>
                <a:latin typeface="Calibri" pitchFamily="34" charset="0"/>
              </a:endParaRPr>
            </a:p>
          </p:txBody>
        </p:sp>
        <p:sp>
          <p:nvSpPr>
            <p:cNvPr id="47" name="Rectangle 46"/>
            <p:cNvSpPr/>
            <p:nvPr/>
          </p:nvSpPr>
          <p:spPr bwMode="auto">
            <a:xfrm>
              <a:off x="6634163" y="4038390"/>
              <a:ext cx="619126" cy="150109"/>
            </a:xfrm>
            <a:prstGeom prst="rect">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200" b="0" i="0" u="none" strike="noStrike" cap="none" normalizeH="0" baseline="0" dirty="0" smtClean="0">
                  <a:ln>
                    <a:noFill/>
                  </a:ln>
                  <a:effectLst/>
                  <a:latin typeface="Calibri" pitchFamily="34" charset="0"/>
                </a:rPr>
                <a:t>généré</a:t>
              </a:r>
            </a:p>
          </p:txBody>
        </p:sp>
        <p:sp>
          <p:nvSpPr>
            <p:cNvPr id="48" name="Rectangle 47"/>
            <p:cNvSpPr/>
            <p:nvPr/>
          </p:nvSpPr>
          <p:spPr bwMode="auto">
            <a:xfrm>
              <a:off x="6428259" y="4107391"/>
              <a:ext cx="205904" cy="150109"/>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49" name="Rectangle 48"/>
            <p:cNvSpPr/>
            <p:nvPr/>
          </p:nvSpPr>
          <p:spPr bwMode="auto">
            <a:xfrm>
              <a:off x="6296025" y="4038390"/>
              <a:ext cx="904876" cy="490748"/>
            </a:xfrm>
            <a:prstGeom prst="rect">
              <a:avLst/>
            </a:prstGeom>
            <a:noFill/>
            <a:ln w="9525" cap="flat" cmpd="sng" algn="ctr">
              <a:solidFill>
                <a:schemeClr val="tx1"/>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50" name="Rectangle 49"/>
            <p:cNvSpPr/>
            <p:nvPr/>
          </p:nvSpPr>
          <p:spPr bwMode="auto">
            <a:xfrm>
              <a:off x="6428259" y="4331228"/>
              <a:ext cx="205904" cy="159810"/>
            </a:xfrm>
            <a:prstGeom prst="rect">
              <a:avLst/>
            </a:prstGeom>
            <a:solidFill>
              <a:srgbClr val="DADAF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grpSp>
      <p:sp>
        <p:nvSpPr>
          <p:cNvPr id="12" name="Rectangle 11"/>
          <p:cNvSpPr/>
          <p:nvPr/>
        </p:nvSpPr>
        <p:spPr bwMode="auto">
          <a:xfrm>
            <a:off x="795594" y="5141139"/>
            <a:ext cx="1962150"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52" name="Rectangle 51"/>
          <p:cNvSpPr/>
          <p:nvPr/>
        </p:nvSpPr>
        <p:spPr bwMode="auto">
          <a:xfrm>
            <a:off x="947994" y="5293539"/>
            <a:ext cx="1962150"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53" name="Rectangle 52"/>
          <p:cNvSpPr/>
          <p:nvPr/>
        </p:nvSpPr>
        <p:spPr bwMode="auto">
          <a:xfrm>
            <a:off x="1100394" y="5445939"/>
            <a:ext cx="1962150"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tx1"/>
                </a:solidFill>
                <a:effectLst/>
                <a:latin typeface="Calibri" pitchFamily="34" charset="0"/>
              </a:rPr>
              <a:t>Drivers python</a:t>
            </a:r>
          </a:p>
        </p:txBody>
      </p:sp>
      <p:sp>
        <p:nvSpPr>
          <p:cNvPr id="54" name="Rectangle 53"/>
          <p:cNvSpPr/>
          <p:nvPr/>
        </p:nvSpPr>
        <p:spPr bwMode="auto">
          <a:xfrm>
            <a:off x="3308649" y="5124897"/>
            <a:ext cx="1962150"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56" name="Rectangle 55"/>
          <p:cNvSpPr/>
          <p:nvPr/>
        </p:nvSpPr>
        <p:spPr bwMode="auto">
          <a:xfrm>
            <a:off x="3461049" y="5277297"/>
            <a:ext cx="1962150"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57" name="Rectangle 56"/>
          <p:cNvSpPr/>
          <p:nvPr/>
        </p:nvSpPr>
        <p:spPr bwMode="auto">
          <a:xfrm>
            <a:off x="3613449" y="5429697"/>
            <a:ext cx="1962150"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tx1"/>
                </a:solidFill>
                <a:effectLst/>
                <a:latin typeface="Calibri" pitchFamily="34" charset="0"/>
              </a:rPr>
              <a:t>Drivers CXX</a:t>
            </a:r>
          </a:p>
        </p:txBody>
      </p:sp>
      <p:cxnSp>
        <p:nvCxnSpPr>
          <p:cNvPr id="65" name="Connecteur droit avec flèche 64"/>
          <p:cNvCxnSpPr/>
          <p:nvPr/>
        </p:nvCxnSpPr>
        <p:spPr bwMode="auto">
          <a:xfrm>
            <a:off x="4337937" y="4931705"/>
            <a:ext cx="0" cy="223893"/>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28815680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46543" y="3057645"/>
            <a:ext cx="8783804" cy="331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 Les catalogues s’imbriquent les uns dans les autres</a:t>
            </a:r>
          </a:p>
          <a:p>
            <a:pPr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 Les variables communes (par exemple spatiales ou temporelles) sont contenues dans le catalogue commun</a:t>
            </a: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cs typeface="Arial" panose="020B0604020202020204" pitchFamily="34" charset="0"/>
              </a:rPr>
              <a:t> </a:t>
            </a:r>
            <a:r>
              <a:rPr lang="fr-FR" altLang="fr-FR" sz="2000" dirty="0" smtClean="0">
                <a:solidFill>
                  <a:srgbClr val="002060"/>
                </a:solidFill>
                <a:cs typeface="Arial" panose="020B0604020202020204" pitchFamily="34" charset="0"/>
              </a:rPr>
              <a:t>Un second niveau de  catalogue est créé par ‘physique’</a:t>
            </a:r>
          </a:p>
          <a:p>
            <a:pPr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 Les données manquantes sont ajoutées dans un catalogue spécifique à chaque code (cela peut être seulement un pointeur sur un fichier de données)</a:t>
            </a: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cs typeface="Arial" panose="020B0604020202020204" pitchFamily="34" charset="0"/>
              </a:rPr>
              <a:t> </a:t>
            </a:r>
            <a:r>
              <a:rPr lang="fr-FR" altLang="fr-FR" sz="2000" dirty="0" smtClean="0">
                <a:solidFill>
                  <a:srgbClr val="002060"/>
                </a:solidFill>
                <a:cs typeface="Arial" panose="020B0604020202020204" pitchFamily="34" charset="0"/>
              </a:rPr>
              <a:t>Les interactions sont clairement décrites</a:t>
            </a:r>
          </a:p>
          <a:p>
            <a:pPr eaLnBrk="1">
              <a:spcBef>
                <a:spcPts val="300"/>
              </a:spcBef>
              <a:spcAft>
                <a:spcPct val="25000"/>
              </a:spcAft>
              <a:buClr>
                <a:srgbClr val="001A70"/>
              </a:buClr>
              <a:buFont typeface="Wingdings" panose="05000000000000000000" pitchFamily="2" charset="2"/>
              <a:buChar char=""/>
            </a:pPr>
            <a:endParaRPr lang="fr-FR" altLang="fr-FR" sz="2000" dirty="0" smtClean="0">
              <a:solidFill>
                <a:srgbClr val="002060"/>
              </a:solidFill>
              <a:cs typeface="Arial" panose="020B0604020202020204" pitchFamily="34" charset="0"/>
            </a:endParaRPr>
          </a:p>
          <a:p>
            <a:pPr eaLnBrk="1">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cs typeface="Arial" panose="020B0604020202020204" pitchFamily="34" charset="0"/>
            </a:endParaRPr>
          </a:p>
          <a:p>
            <a:pPr lvl="1" eaLnBrk="1">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9</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l’interchangeabilité des codes</a:t>
            </a:r>
            <a:endParaRPr lang="fr-FR" altLang="fr-FR" sz="2800" dirty="0">
              <a:solidFill>
                <a:srgbClr val="001A70"/>
              </a:solidFill>
              <a:cs typeface="Arial" panose="020B0604020202020204" pitchFamily="34" charset="0"/>
            </a:endParaRPr>
          </a:p>
        </p:txBody>
      </p:sp>
      <p:grpSp>
        <p:nvGrpSpPr>
          <p:cNvPr id="6" name="Groupe 5"/>
          <p:cNvGrpSpPr/>
          <p:nvPr/>
        </p:nvGrpSpPr>
        <p:grpSpPr>
          <a:xfrm>
            <a:off x="911591" y="905145"/>
            <a:ext cx="6408712" cy="1944216"/>
            <a:chOff x="683568" y="1124744"/>
            <a:chExt cx="7632848" cy="3312368"/>
          </a:xfrm>
        </p:grpSpPr>
        <p:sp>
          <p:nvSpPr>
            <p:cNvPr id="7" name="Rectangle à coins arrondis 6"/>
            <p:cNvSpPr/>
            <p:nvPr/>
          </p:nvSpPr>
          <p:spPr bwMode="auto">
            <a:xfrm>
              <a:off x="683568" y="1124744"/>
              <a:ext cx="7632848" cy="3312368"/>
            </a:xfrm>
            <a:prstGeom prst="roundRect">
              <a:avLst/>
            </a:prstGeom>
            <a:solidFill>
              <a:schemeClr val="accent6">
                <a:lumMod val="20000"/>
                <a:lumOff val="80000"/>
              </a:schemeClr>
            </a:solidFill>
            <a:ln w="9525" algn="ctr">
              <a:solidFill>
                <a:schemeClr val="accent6">
                  <a:lumMod val="20000"/>
                  <a:lumOff val="80000"/>
                </a:schemeClr>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8" name="Rectangle à coins arrondis 7"/>
            <p:cNvSpPr/>
            <p:nvPr/>
          </p:nvSpPr>
          <p:spPr bwMode="auto">
            <a:xfrm>
              <a:off x="1187624" y="1372126"/>
              <a:ext cx="6761809" cy="369332"/>
            </a:xfrm>
            <a:prstGeom prst="roundRect">
              <a:avLst/>
            </a:prstGeom>
            <a:solidFill>
              <a:schemeClr val="bg1"/>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9" name="ZoneTexte 8"/>
            <p:cNvSpPr txBox="1"/>
            <p:nvPr/>
          </p:nvSpPr>
          <p:spPr>
            <a:xfrm>
              <a:off x="1121807" y="1287262"/>
              <a:ext cx="6756370" cy="524361"/>
            </a:xfrm>
            <a:prstGeom prst="rect">
              <a:avLst/>
            </a:prstGeom>
            <a:noFill/>
          </p:spPr>
          <p:txBody>
            <a:bodyPr wrap="square" rtlCol="0">
              <a:spAutoFit/>
            </a:bodyPr>
            <a:lstStyle/>
            <a:p>
              <a:pPr algn="ctr"/>
              <a:r>
                <a:rPr lang="en-US" sz="1400" dirty="0">
                  <a:solidFill>
                    <a:schemeClr val="tx1"/>
                  </a:solidFill>
                  <a:latin typeface="+mn-lt"/>
                </a:rPr>
                <a:t>Common catalogue for </a:t>
              </a:r>
              <a:r>
                <a:rPr lang="en-US" sz="1400" dirty="0" smtClean="0">
                  <a:solidFill>
                    <a:schemeClr val="tx1"/>
                  </a:solidFill>
                  <a:latin typeface="+mn-lt"/>
                </a:rPr>
                <a:t>“all”  </a:t>
              </a:r>
              <a:r>
                <a:rPr lang="en-US" sz="1400" dirty="0">
                  <a:solidFill>
                    <a:schemeClr val="tx1"/>
                  </a:solidFill>
                  <a:latin typeface="+mn-lt"/>
                </a:rPr>
                <a:t>physics </a:t>
              </a:r>
            </a:p>
          </p:txBody>
        </p:sp>
        <p:sp>
          <p:nvSpPr>
            <p:cNvPr id="10" name="Rectangle à coins arrondis 9"/>
            <p:cNvSpPr/>
            <p:nvPr/>
          </p:nvSpPr>
          <p:spPr bwMode="auto">
            <a:xfrm>
              <a:off x="4781081" y="1957401"/>
              <a:ext cx="3168352" cy="864177"/>
            </a:xfrm>
            <a:prstGeom prst="roundRect">
              <a:avLst/>
            </a:prstGeom>
            <a:solidFill>
              <a:schemeClr val="accent6">
                <a:lumMod val="60000"/>
                <a:lumOff val="40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1" name="ZoneTexte 10"/>
            <p:cNvSpPr txBox="1"/>
            <p:nvPr/>
          </p:nvSpPr>
          <p:spPr>
            <a:xfrm>
              <a:off x="4884091" y="1956235"/>
              <a:ext cx="2831989" cy="307777"/>
            </a:xfrm>
            <a:prstGeom prst="rect">
              <a:avLst/>
            </a:prstGeom>
            <a:noFill/>
          </p:spPr>
          <p:txBody>
            <a:bodyPr wrap="square" rtlCol="0">
              <a:spAutoFit/>
            </a:bodyPr>
            <a:lstStyle/>
            <a:p>
              <a:pPr algn="ctr"/>
              <a:r>
                <a:rPr lang="en-US" sz="1400" dirty="0">
                  <a:latin typeface="+mn-lt"/>
                </a:rPr>
                <a:t>Common catalogue for CFD codes </a:t>
              </a:r>
            </a:p>
          </p:txBody>
        </p:sp>
        <p:sp>
          <p:nvSpPr>
            <p:cNvPr id="12" name="Rectangle à coins arrondis 11"/>
            <p:cNvSpPr/>
            <p:nvPr/>
          </p:nvSpPr>
          <p:spPr bwMode="auto">
            <a:xfrm>
              <a:off x="1196608" y="1947942"/>
              <a:ext cx="3168352" cy="864177"/>
            </a:xfrm>
            <a:prstGeom prst="roundRect">
              <a:avLst/>
            </a:prstGeom>
            <a:solidFill>
              <a:schemeClr val="accent6">
                <a:lumMod val="60000"/>
                <a:lumOff val="40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3" name="ZoneTexte 12"/>
            <p:cNvSpPr txBox="1"/>
            <p:nvPr/>
          </p:nvSpPr>
          <p:spPr>
            <a:xfrm>
              <a:off x="1316331" y="1959760"/>
              <a:ext cx="2831989" cy="307777"/>
            </a:xfrm>
            <a:prstGeom prst="rect">
              <a:avLst/>
            </a:prstGeom>
            <a:noFill/>
          </p:spPr>
          <p:txBody>
            <a:bodyPr wrap="square" rtlCol="0">
              <a:spAutoFit/>
            </a:bodyPr>
            <a:lstStyle/>
            <a:p>
              <a:pPr algn="ctr"/>
              <a:r>
                <a:rPr lang="en-US" sz="1400">
                  <a:latin typeface="+mn-lt"/>
                </a:rPr>
                <a:t>Common catalogue for DPD codes </a:t>
              </a:r>
            </a:p>
          </p:txBody>
        </p:sp>
        <p:sp>
          <p:nvSpPr>
            <p:cNvPr id="14" name="Rectangle à coins arrondis 13"/>
            <p:cNvSpPr/>
            <p:nvPr/>
          </p:nvSpPr>
          <p:spPr bwMode="auto">
            <a:xfrm>
              <a:off x="1484653" y="310250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5" name="ZoneTexte 14"/>
            <p:cNvSpPr txBox="1"/>
            <p:nvPr/>
          </p:nvSpPr>
          <p:spPr>
            <a:xfrm rot="16200000">
              <a:off x="1456670" y="3697167"/>
              <a:ext cx="704039" cy="307778"/>
            </a:xfrm>
            <a:prstGeom prst="rect">
              <a:avLst/>
            </a:prstGeom>
            <a:noFill/>
          </p:spPr>
          <p:txBody>
            <a:bodyPr wrap="none" rtlCol="0">
              <a:spAutoFit/>
            </a:bodyPr>
            <a:lstStyle/>
            <a:p>
              <a:r>
                <a:rPr lang="en-US" sz="1400" dirty="0">
                  <a:solidFill>
                    <a:schemeClr val="bg1"/>
                  </a:solidFill>
                  <a:latin typeface="+mn-lt"/>
                </a:rPr>
                <a:t>Code A</a:t>
              </a:r>
            </a:p>
          </p:txBody>
        </p:sp>
        <p:sp>
          <p:nvSpPr>
            <p:cNvPr id="16" name="Rectangle à coins arrondis 15"/>
            <p:cNvSpPr/>
            <p:nvPr/>
          </p:nvSpPr>
          <p:spPr bwMode="auto">
            <a:xfrm>
              <a:off x="2448077" y="3107048"/>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7" name="ZoneTexte 16"/>
            <p:cNvSpPr txBox="1"/>
            <p:nvPr/>
          </p:nvSpPr>
          <p:spPr>
            <a:xfrm rot="16200000">
              <a:off x="2400055" y="3701713"/>
              <a:ext cx="744115" cy="307778"/>
            </a:xfrm>
            <a:prstGeom prst="rect">
              <a:avLst/>
            </a:prstGeom>
            <a:noFill/>
          </p:spPr>
          <p:txBody>
            <a:bodyPr wrap="none" rtlCol="0">
              <a:spAutoFit/>
            </a:bodyPr>
            <a:lstStyle/>
            <a:p>
              <a:r>
                <a:rPr lang="en-US" sz="1400">
                  <a:solidFill>
                    <a:schemeClr val="bg1"/>
                  </a:solidFill>
                  <a:latin typeface="+mn-lt"/>
                </a:rPr>
                <a:t>Code A’</a:t>
              </a:r>
            </a:p>
          </p:txBody>
        </p:sp>
        <p:sp>
          <p:nvSpPr>
            <p:cNvPr id="18" name="Rectangle à coins arrondis 17"/>
            <p:cNvSpPr/>
            <p:nvPr/>
          </p:nvSpPr>
          <p:spPr bwMode="auto">
            <a:xfrm>
              <a:off x="3419872" y="310250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9" name="ZoneTexte 18"/>
            <p:cNvSpPr txBox="1"/>
            <p:nvPr/>
          </p:nvSpPr>
          <p:spPr>
            <a:xfrm rot="16200000">
              <a:off x="3352840" y="3697167"/>
              <a:ext cx="782136" cy="307778"/>
            </a:xfrm>
            <a:prstGeom prst="rect">
              <a:avLst/>
            </a:prstGeom>
            <a:noFill/>
          </p:spPr>
          <p:txBody>
            <a:bodyPr wrap="none" rtlCol="0">
              <a:spAutoFit/>
            </a:bodyPr>
            <a:lstStyle/>
            <a:p>
              <a:r>
                <a:rPr lang="en-US" sz="1400">
                  <a:solidFill>
                    <a:schemeClr val="bg1"/>
                  </a:solidFill>
                  <a:latin typeface="+mn-lt"/>
                </a:rPr>
                <a:t>Code A’’</a:t>
              </a:r>
            </a:p>
          </p:txBody>
        </p:sp>
        <p:sp>
          <p:nvSpPr>
            <p:cNvPr id="20" name="Rectangle à coins arrondis 19"/>
            <p:cNvSpPr/>
            <p:nvPr/>
          </p:nvSpPr>
          <p:spPr bwMode="auto">
            <a:xfrm>
              <a:off x="5085053" y="310594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1" name="ZoneTexte 20"/>
            <p:cNvSpPr txBox="1"/>
            <p:nvPr/>
          </p:nvSpPr>
          <p:spPr>
            <a:xfrm rot="16200000">
              <a:off x="5060275" y="3700607"/>
              <a:ext cx="697627" cy="307778"/>
            </a:xfrm>
            <a:prstGeom prst="rect">
              <a:avLst/>
            </a:prstGeom>
            <a:noFill/>
          </p:spPr>
          <p:txBody>
            <a:bodyPr wrap="none" rtlCol="0">
              <a:spAutoFit/>
            </a:bodyPr>
            <a:lstStyle/>
            <a:p>
              <a:r>
                <a:rPr lang="en-US" sz="1400">
                  <a:solidFill>
                    <a:schemeClr val="bg1"/>
                  </a:solidFill>
                  <a:latin typeface="+mn-lt"/>
                </a:rPr>
                <a:t>Code B</a:t>
              </a:r>
            </a:p>
          </p:txBody>
        </p:sp>
        <p:sp>
          <p:nvSpPr>
            <p:cNvPr id="22" name="Rectangle à coins arrondis 21"/>
            <p:cNvSpPr/>
            <p:nvPr/>
          </p:nvSpPr>
          <p:spPr bwMode="auto">
            <a:xfrm>
              <a:off x="6048477" y="3110488"/>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3" name="ZoneTexte 22"/>
            <p:cNvSpPr txBox="1"/>
            <p:nvPr/>
          </p:nvSpPr>
          <p:spPr>
            <a:xfrm rot="16200000">
              <a:off x="6001258" y="3705154"/>
              <a:ext cx="742512" cy="307778"/>
            </a:xfrm>
            <a:prstGeom prst="rect">
              <a:avLst/>
            </a:prstGeom>
            <a:noFill/>
          </p:spPr>
          <p:txBody>
            <a:bodyPr wrap="none" rtlCol="0">
              <a:spAutoFit/>
            </a:bodyPr>
            <a:lstStyle/>
            <a:p>
              <a:r>
                <a:rPr lang="en-US" sz="1400">
                  <a:solidFill>
                    <a:schemeClr val="bg1"/>
                  </a:solidFill>
                  <a:latin typeface="+mn-lt"/>
                </a:rPr>
                <a:t>Code B’</a:t>
              </a:r>
            </a:p>
          </p:txBody>
        </p:sp>
        <p:sp>
          <p:nvSpPr>
            <p:cNvPr id="24" name="Rectangle à coins arrondis 23"/>
            <p:cNvSpPr/>
            <p:nvPr/>
          </p:nvSpPr>
          <p:spPr bwMode="auto">
            <a:xfrm>
              <a:off x="7020272" y="310594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5" name="ZoneTexte 24"/>
            <p:cNvSpPr txBox="1"/>
            <p:nvPr/>
          </p:nvSpPr>
          <p:spPr>
            <a:xfrm rot="16200000">
              <a:off x="6950611" y="3700607"/>
              <a:ext cx="787396" cy="307778"/>
            </a:xfrm>
            <a:prstGeom prst="rect">
              <a:avLst/>
            </a:prstGeom>
            <a:noFill/>
          </p:spPr>
          <p:txBody>
            <a:bodyPr wrap="none" rtlCol="0">
              <a:spAutoFit/>
            </a:bodyPr>
            <a:lstStyle/>
            <a:p>
              <a:r>
                <a:rPr lang="en-US" sz="1400">
                  <a:solidFill>
                    <a:schemeClr val="bg1"/>
                  </a:solidFill>
                  <a:latin typeface="+mn-lt"/>
                </a:rPr>
                <a:t>Code B’’</a:t>
              </a:r>
            </a:p>
          </p:txBody>
        </p:sp>
      </p:grpSp>
    </p:spTree>
    <p:extLst>
      <p:ext uri="{BB962C8B-B14F-4D97-AF65-F5344CB8AC3E}">
        <p14:creationId xmlns:p14="http://schemas.microsoft.com/office/powerpoint/2010/main" val="223588099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5" name="Rectangle 6154"/>
          <p:cNvSpPr/>
          <p:nvPr/>
        </p:nvSpPr>
        <p:spPr bwMode="auto">
          <a:xfrm>
            <a:off x="1962870" y="5565024"/>
            <a:ext cx="2043086" cy="1292975"/>
          </a:xfrm>
          <a:prstGeom prst="rect">
            <a:avLst/>
          </a:prstGeom>
          <a:solidFill>
            <a:srgbClr val="ADADEB"/>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10</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les jeux de données</a:t>
            </a:r>
            <a:endParaRPr lang="fr-FR" altLang="fr-FR" sz="2800" dirty="0">
              <a:solidFill>
                <a:srgbClr val="001A70"/>
              </a:solidFill>
              <a:cs typeface="Arial" panose="020B0604020202020204" pitchFamily="34" charset="0"/>
            </a:endParaRPr>
          </a:p>
        </p:txBody>
      </p:sp>
      <p:sp>
        <p:nvSpPr>
          <p:cNvPr id="45" name="Rectangle 44"/>
          <p:cNvSpPr/>
          <p:nvPr/>
        </p:nvSpPr>
        <p:spPr bwMode="auto">
          <a:xfrm>
            <a:off x="7895207" y="4939190"/>
            <a:ext cx="489527" cy="123825"/>
          </a:xfrm>
          <a:prstGeom prst="rect">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sz="1200" dirty="0" smtClean="0">
                <a:latin typeface="Calibri" pitchFamily="34" charset="0"/>
              </a:rPr>
              <a:t>outil</a:t>
            </a:r>
            <a:endParaRPr kumimoji="0" lang="fr-FR" sz="1200" b="0" i="0" u="none" strike="noStrike" cap="none" normalizeH="0" baseline="0" dirty="0" smtClean="0">
              <a:ln>
                <a:noFill/>
              </a:ln>
              <a:effectLst/>
              <a:latin typeface="Calibri" pitchFamily="34" charset="0"/>
            </a:endParaRPr>
          </a:p>
        </p:txBody>
      </p:sp>
      <p:sp>
        <p:nvSpPr>
          <p:cNvPr id="46" name="Rectangle 45"/>
          <p:cNvSpPr/>
          <p:nvPr/>
        </p:nvSpPr>
        <p:spPr bwMode="auto">
          <a:xfrm>
            <a:off x="7895207" y="4720080"/>
            <a:ext cx="619126" cy="150109"/>
          </a:xfrm>
          <a:prstGeom prst="rect">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200" b="0" i="0" u="none" strike="noStrike" cap="none" normalizeH="0" baseline="0" dirty="0" smtClean="0">
                <a:ln>
                  <a:noFill/>
                </a:ln>
                <a:effectLst/>
                <a:latin typeface="Calibri" pitchFamily="34" charset="0"/>
              </a:rPr>
              <a:t>généré</a:t>
            </a:r>
          </a:p>
        </p:txBody>
      </p:sp>
      <p:sp>
        <p:nvSpPr>
          <p:cNvPr id="47" name="Rectangle 46"/>
          <p:cNvSpPr/>
          <p:nvPr/>
        </p:nvSpPr>
        <p:spPr bwMode="auto">
          <a:xfrm>
            <a:off x="7689303" y="4789081"/>
            <a:ext cx="205904" cy="150109"/>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48" name="Rectangle 47"/>
          <p:cNvSpPr/>
          <p:nvPr/>
        </p:nvSpPr>
        <p:spPr bwMode="auto">
          <a:xfrm>
            <a:off x="7552583" y="4728008"/>
            <a:ext cx="936167" cy="948891"/>
          </a:xfrm>
          <a:prstGeom prst="rect">
            <a:avLst/>
          </a:prstGeom>
          <a:noFill/>
          <a:ln w="9525" cap="flat" cmpd="sng" algn="ctr">
            <a:solidFill>
              <a:schemeClr val="tx1"/>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49" name="Rectangle 48"/>
          <p:cNvSpPr/>
          <p:nvPr/>
        </p:nvSpPr>
        <p:spPr bwMode="auto">
          <a:xfrm>
            <a:off x="7689303" y="5012918"/>
            <a:ext cx="205904" cy="159810"/>
          </a:xfrm>
          <a:prstGeom prst="rect">
            <a:avLst/>
          </a:prstGeom>
          <a:solidFill>
            <a:srgbClr val="DADAF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2" name="Rectangle 1"/>
          <p:cNvSpPr/>
          <p:nvPr/>
        </p:nvSpPr>
        <p:spPr bwMode="auto">
          <a:xfrm>
            <a:off x="251919" y="710287"/>
            <a:ext cx="7392897" cy="1826122"/>
          </a:xfrm>
          <a:prstGeom prst="rect">
            <a:avLst/>
          </a:prstGeom>
          <a:solidFill>
            <a:srgbClr val="E7F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grpSp>
        <p:nvGrpSpPr>
          <p:cNvPr id="79" name="Groupe 78"/>
          <p:cNvGrpSpPr/>
          <p:nvPr/>
        </p:nvGrpSpPr>
        <p:grpSpPr>
          <a:xfrm>
            <a:off x="464400" y="798992"/>
            <a:ext cx="2307537" cy="696070"/>
            <a:chOff x="79590" y="939521"/>
            <a:chExt cx="2387918" cy="716757"/>
          </a:xfrm>
        </p:grpSpPr>
        <p:sp>
          <p:nvSpPr>
            <p:cNvPr id="80" name="Ellipse 79"/>
            <p:cNvSpPr/>
            <p:nvPr/>
          </p:nvSpPr>
          <p:spPr bwMode="auto">
            <a:xfrm>
              <a:off x="81894" y="939521"/>
              <a:ext cx="2385614" cy="455773"/>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81" name="Ellipse 80"/>
            <p:cNvSpPr/>
            <p:nvPr/>
          </p:nvSpPr>
          <p:spPr bwMode="auto">
            <a:xfrm>
              <a:off x="79590" y="1043233"/>
              <a:ext cx="2385614" cy="455773"/>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76" name="Ellipse 75"/>
            <p:cNvSpPr/>
            <p:nvPr/>
          </p:nvSpPr>
          <p:spPr bwMode="auto">
            <a:xfrm>
              <a:off x="79590" y="1200505"/>
              <a:ext cx="2385614" cy="455773"/>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smtClean="0">
                  <a:solidFill>
                    <a:schemeClr val="tx1"/>
                  </a:solidFill>
                </a:rPr>
                <a:t>Modèles MDM</a:t>
              </a:r>
              <a:endParaRPr kumimoji="0" lang="fr-FR" sz="1800" b="0" i="0" u="none" strike="noStrike" cap="none" normalizeH="0" baseline="0" dirty="0" smtClean="0">
                <a:ln>
                  <a:noFill/>
                </a:ln>
                <a:solidFill>
                  <a:schemeClr val="tx1"/>
                </a:solidFill>
                <a:effectLst/>
                <a:latin typeface="Calibri" pitchFamily="34" charset="0"/>
              </a:endParaRPr>
            </a:p>
          </p:txBody>
        </p:sp>
      </p:grpSp>
      <p:sp>
        <p:nvSpPr>
          <p:cNvPr id="83" name="Rectangle 82"/>
          <p:cNvSpPr/>
          <p:nvPr/>
        </p:nvSpPr>
        <p:spPr bwMode="auto">
          <a:xfrm>
            <a:off x="2994236" y="1153126"/>
            <a:ext cx="1315083" cy="1207305"/>
          </a:xfrm>
          <a:prstGeom prst="rect">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600" b="0" i="0" u="none" strike="noStrike" cap="none" normalizeH="0" baseline="0" dirty="0" smtClean="0">
              <a:ln>
                <a:noFill/>
              </a:ln>
              <a:solidFill>
                <a:schemeClr val="tx1"/>
              </a:solidFill>
              <a:effectLst/>
            </a:endParaRPr>
          </a:p>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600" b="0" i="0" u="none" strike="noStrike" cap="none" normalizeH="0" baseline="0" dirty="0" err="1" smtClean="0">
                <a:ln>
                  <a:noFill/>
                </a:ln>
                <a:solidFill>
                  <a:schemeClr val="tx1"/>
                </a:solidFill>
                <a:effectLst/>
              </a:rPr>
              <a:t>Ihm</a:t>
            </a:r>
            <a:r>
              <a:rPr kumimoji="0" lang="fr-FR" sz="1600" b="0" i="0" u="none" strike="noStrike" cap="none" normalizeH="0" baseline="0" dirty="0" smtClean="0">
                <a:ln>
                  <a:noFill/>
                </a:ln>
                <a:solidFill>
                  <a:schemeClr val="tx1"/>
                </a:solidFill>
                <a:effectLst/>
              </a:rPr>
              <a:t> d’aide</a:t>
            </a:r>
            <a:r>
              <a:rPr kumimoji="0" lang="fr-FR" sz="1600" b="0" i="0" u="none" strike="noStrike" cap="none" normalizeH="0" dirty="0" smtClean="0">
                <a:ln>
                  <a:noFill/>
                </a:ln>
                <a:solidFill>
                  <a:schemeClr val="tx1"/>
                </a:solidFill>
                <a:effectLst/>
              </a:rPr>
              <a:t> à la saisie</a:t>
            </a:r>
          </a:p>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sz="1600" baseline="0" dirty="0" smtClean="0">
                <a:solidFill>
                  <a:schemeClr val="tx1"/>
                </a:solidFill>
              </a:rPr>
              <a:t>(Optionnelle)</a:t>
            </a:r>
            <a:endParaRPr kumimoji="0" lang="fr-FR" sz="1600" b="0" i="0" u="none" strike="noStrike" cap="none" normalizeH="0" baseline="0" dirty="0" smtClean="0">
              <a:ln>
                <a:noFill/>
              </a:ln>
              <a:solidFill>
                <a:schemeClr val="tx1"/>
              </a:solidFill>
              <a:effectLst/>
            </a:endParaRPr>
          </a:p>
        </p:txBody>
      </p:sp>
      <p:sp>
        <p:nvSpPr>
          <p:cNvPr id="82" name="ZoneTexte 81"/>
          <p:cNvSpPr txBox="1"/>
          <p:nvPr/>
        </p:nvSpPr>
        <p:spPr>
          <a:xfrm>
            <a:off x="251917" y="723773"/>
            <a:ext cx="7392899" cy="369332"/>
          </a:xfrm>
          <a:prstGeom prst="rect">
            <a:avLst/>
          </a:prstGeom>
          <a:noFill/>
        </p:spPr>
        <p:txBody>
          <a:bodyPr wrap="square" rtlCol="0">
            <a:spAutoFit/>
          </a:bodyPr>
          <a:lstStyle/>
          <a:p>
            <a:pPr algn="ctr"/>
            <a:r>
              <a:rPr lang="fr-FR" dirty="0" smtClean="0">
                <a:solidFill>
                  <a:schemeClr val="tx1"/>
                </a:solidFill>
              </a:rPr>
              <a:t> MDM</a:t>
            </a:r>
            <a:endParaRPr lang="fr-FR" dirty="0">
              <a:solidFill>
                <a:schemeClr val="tx1"/>
              </a:solidFill>
            </a:endParaRPr>
          </a:p>
        </p:txBody>
      </p:sp>
      <p:sp>
        <p:nvSpPr>
          <p:cNvPr id="88" name="Rectangle 87"/>
          <p:cNvSpPr/>
          <p:nvPr/>
        </p:nvSpPr>
        <p:spPr bwMode="auto">
          <a:xfrm>
            <a:off x="4393368" y="1175472"/>
            <a:ext cx="1379696" cy="1184959"/>
          </a:xfrm>
          <a:prstGeom prst="rect">
            <a:avLst/>
          </a:prstGeom>
          <a:solidFill>
            <a:srgbClr val="BAE6FF"/>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400" b="0" i="0" u="none" strike="noStrike" cap="none" normalizeH="0" baseline="0" dirty="0" smtClean="0">
                <a:ln>
                  <a:noFill/>
                </a:ln>
                <a:solidFill>
                  <a:schemeClr val="tx1"/>
                </a:solidFill>
                <a:effectLst/>
                <a:latin typeface="Calibri" pitchFamily="34" charset="0"/>
              </a:rPr>
              <a:t>Classes </a:t>
            </a:r>
            <a:r>
              <a:rPr kumimoji="0" lang="fr-FR" sz="1400" b="0" i="0" u="none" strike="noStrike" cap="none" normalizeH="0" baseline="0" dirty="0" err="1" smtClean="0">
                <a:ln>
                  <a:noFill/>
                </a:ln>
                <a:solidFill>
                  <a:schemeClr val="tx1"/>
                </a:solidFill>
                <a:effectLst/>
                <a:latin typeface="Calibri" pitchFamily="34" charset="0"/>
              </a:rPr>
              <a:t>Accas</a:t>
            </a:r>
            <a:endParaRPr kumimoji="0" lang="fr-FR" sz="1400" b="0" i="0" u="none" strike="noStrike" cap="none" normalizeH="0" baseline="0" dirty="0" smtClean="0">
              <a:ln>
                <a:noFill/>
              </a:ln>
              <a:solidFill>
                <a:schemeClr val="tx1"/>
              </a:solidFill>
              <a:effectLst/>
              <a:latin typeface="Calibri" pitchFamily="34" charset="0"/>
            </a:endParaRPr>
          </a:p>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lang="fr-FR" sz="1600" dirty="0" smtClean="0">
              <a:solidFill>
                <a:schemeClr val="tx1"/>
              </a:solidFill>
              <a:latin typeface="Calibri" pitchFamily="34" charset="0"/>
            </a:endParaRPr>
          </a:p>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sz="1600" dirty="0" smtClean="0">
                <a:solidFill>
                  <a:schemeClr val="tx1"/>
                </a:solidFill>
                <a:latin typeface="Calibri" pitchFamily="34" charset="0"/>
              </a:rPr>
              <a:t>Validation </a:t>
            </a:r>
            <a:r>
              <a:rPr lang="fr-FR" sz="1600" dirty="0" err="1" smtClean="0">
                <a:solidFill>
                  <a:schemeClr val="tx1"/>
                </a:solidFill>
                <a:latin typeface="Calibri" pitchFamily="34" charset="0"/>
              </a:rPr>
              <a:t>Accas</a:t>
            </a:r>
            <a:endParaRPr kumimoji="0" lang="fr-FR" sz="1600" b="0" i="0" u="none" strike="noStrike" cap="none" normalizeH="0" baseline="0" dirty="0" smtClean="0">
              <a:ln>
                <a:noFill/>
              </a:ln>
              <a:solidFill>
                <a:schemeClr val="tx1"/>
              </a:solidFill>
              <a:effectLst/>
              <a:latin typeface="Calibri" pitchFamily="34" charset="0"/>
            </a:endParaRPr>
          </a:p>
        </p:txBody>
      </p:sp>
      <p:sp>
        <p:nvSpPr>
          <p:cNvPr id="63" name="Rectangle 62"/>
          <p:cNvSpPr/>
          <p:nvPr/>
        </p:nvSpPr>
        <p:spPr bwMode="auto">
          <a:xfrm>
            <a:off x="5857113" y="1396896"/>
            <a:ext cx="1477137" cy="963535"/>
          </a:xfrm>
          <a:prstGeom prst="rect">
            <a:avLst/>
          </a:prstGeom>
          <a:solidFill>
            <a:srgbClr val="DADAF6"/>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400" b="0" i="0" u="none" strike="noStrike" cap="none" normalizeH="0" baseline="0" dirty="0" smtClean="0">
                <a:ln>
                  <a:noFill/>
                </a:ln>
                <a:solidFill>
                  <a:schemeClr val="tx1"/>
                </a:solidFill>
                <a:effectLst/>
                <a:latin typeface="Calibri" pitchFamily="34" charset="0"/>
              </a:rPr>
              <a:t>Classes </a:t>
            </a:r>
            <a:r>
              <a:rPr kumimoji="0" lang="fr-FR" sz="1400" b="0" i="0" u="none" strike="noStrike" cap="none" normalizeH="0" baseline="0" dirty="0" err="1" smtClean="0">
                <a:ln>
                  <a:noFill/>
                </a:ln>
                <a:solidFill>
                  <a:schemeClr val="tx1"/>
                </a:solidFill>
                <a:effectLst/>
                <a:latin typeface="Calibri" pitchFamily="34" charset="0"/>
              </a:rPr>
              <a:t>Pyxb</a:t>
            </a:r>
            <a:endParaRPr kumimoji="0" lang="fr-FR" sz="1400" b="0" i="0" u="none" strike="noStrike" cap="none" normalizeH="0" baseline="0" dirty="0" smtClean="0">
              <a:ln>
                <a:noFill/>
              </a:ln>
              <a:solidFill>
                <a:schemeClr val="tx1"/>
              </a:solidFill>
              <a:effectLst/>
              <a:latin typeface="Calibri" pitchFamily="34" charset="0"/>
            </a:endParaRPr>
          </a:p>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lang="fr-FR" sz="1600" dirty="0">
              <a:solidFill>
                <a:schemeClr val="tx1"/>
              </a:solidFill>
              <a:latin typeface="Calibri" pitchFamily="34" charset="0"/>
            </a:endParaRPr>
          </a:p>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sz="1600" dirty="0" smtClean="0">
                <a:solidFill>
                  <a:schemeClr val="tx1"/>
                </a:solidFill>
                <a:latin typeface="Calibri" pitchFamily="34" charset="0"/>
              </a:rPr>
              <a:t>Validation XSD</a:t>
            </a:r>
            <a:endParaRPr kumimoji="0" lang="fr-FR" sz="1600" b="0" i="0" u="none" strike="noStrike" cap="none" normalizeH="0" baseline="0" dirty="0" smtClean="0">
              <a:ln>
                <a:noFill/>
              </a:ln>
              <a:solidFill>
                <a:schemeClr val="tx1"/>
              </a:solidFill>
              <a:effectLst/>
              <a:latin typeface="Calibri" pitchFamily="34" charset="0"/>
            </a:endParaRPr>
          </a:p>
        </p:txBody>
      </p:sp>
      <p:grpSp>
        <p:nvGrpSpPr>
          <p:cNvPr id="91" name="Groupe 90"/>
          <p:cNvGrpSpPr/>
          <p:nvPr/>
        </p:nvGrpSpPr>
        <p:grpSpPr>
          <a:xfrm>
            <a:off x="464400" y="1543686"/>
            <a:ext cx="2307537" cy="696070"/>
            <a:chOff x="79590" y="939521"/>
            <a:chExt cx="2387918" cy="716757"/>
          </a:xfrm>
        </p:grpSpPr>
        <p:sp>
          <p:nvSpPr>
            <p:cNvPr id="92" name="Ellipse 91"/>
            <p:cNvSpPr/>
            <p:nvPr/>
          </p:nvSpPr>
          <p:spPr bwMode="auto">
            <a:xfrm>
              <a:off x="81894" y="939521"/>
              <a:ext cx="2385614" cy="455773"/>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93" name="Ellipse 92"/>
            <p:cNvSpPr/>
            <p:nvPr/>
          </p:nvSpPr>
          <p:spPr bwMode="auto">
            <a:xfrm>
              <a:off x="79590" y="1043233"/>
              <a:ext cx="2385614" cy="455773"/>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94" name="Ellipse 93"/>
            <p:cNvSpPr/>
            <p:nvPr/>
          </p:nvSpPr>
          <p:spPr bwMode="auto">
            <a:xfrm>
              <a:off x="79590" y="1200505"/>
              <a:ext cx="2385614" cy="455773"/>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smtClean="0">
                  <a:solidFill>
                    <a:schemeClr val="tx1"/>
                  </a:solidFill>
                </a:rPr>
                <a:t>Modèles XSD</a:t>
              </a:r>
              <a:endParaRPr kumimoji="0" lang="fr-FR" sz="1800" b="0" i="0" u="none" strike="noStrike" cap="none" normalizeH="0" baseline="0" dirty="0" smtClean="0">
                <a:ln>
                  <a:noFill/>
                </a:ln>
                <a:solidFill>
                  <a:schemeClr val="tx1"/>
                </a:solidFill>
                <a:effectLst/>
                <a:latin typeface="Calibri" pitchFamily="34" charset="0"/>
              </a:endParaRPr>
            </a:p>
          </p:txBody>
        </p:sp>
      </p:grpSp>
      <p:grpSp>
        <p:nvGrpSpPr>
          <p:cNvPr id="6150" name="Groupe 6149"/>
          <p:cNvGrpSpPr/>
          <p:nvPr/>
        </p:nvGrpSpPr>
        <p:grpSpPr>
          <a:xfrm>
            <a:off x="103846" y="3001242"/>
            <a:ext cx="7570772" cy="1395591"/>
            <a:chOff x="0" y="3505839"/>
            <a:chExt cx="8162925" cy="1761486"/>
          </a:xfrm>
        </p:grpSpPr>
        <p:sp>
          <p:nvSpPr>
            <p:cNvPr id="106" name="ZoneTexte 105"/>
            <p:cNvSpPr txBox="1"/>
            <p:nvPr/>
          </p:nvSpPr>
          <p:spPr>
            <a:xfrm>
              <a:off x="252383" y="3671922"/>
              <a:ext cx="7392900" cy="369333"/>
            </a:xfrm>
            <a:prstGeom prst="rect">
              <a:avLst/>
            </a:prstGeom>
            <a:noFill/>
          </p:spPr>
          <p:txBody>
            <a:bodyPr wrap="square" rtlCol="0">
              <a:spAutoFit/>
            </a:bodyPr>
            <a:lstStyle/>
            <a:p>
              <a:pPr algn="ctr"/>
              <a:r>
                <a:rPr lang="fr-FR" dirty="0" smtClean="0">
                  <a:solidFill>
                    <a:schemeClr val="tx1"/>
                  </a:solidFill>
                </a:rPr>
                <a:t> Jeux de données (équivalents dans les 3 formats)</a:t>
              </a:r>
              <a:endParaRPr lang="fr-FR" dirty="0">
                <a:solidFill>
                  <a:schemeClr val="tx1"/>
                </a:solidFill>
              </a:endParaRPr>
            </a:p>
          </p:txBody>
        </p:sp>
        <p:grpSp>
          <p:nvGrpSpPr>
            <p:cNvPr id="109" name="Groupe 108"/>
            <p:cNvGrpSpPr/>
            <p:nvPr/>
          </p:nvGrpSpPr>
          <p:grpSpPr>
            <a:xfrm>
              <a:off x="2896944" y="4407148"/>
              <a:ext cx="2337174" cy="633773"/>
              <a:chOff x="81894" y="1350125"/>
              <a:chExt cx="2418587" cy="652608"/>
            </a:xfrm>
          </p:grpSpPr>
          <p:sp>
            <p:nvSpPr>
              <p:cNvPr id="110" name="Ellipse 109"/>
              <p:cNvSpPr/>
              <p:nvPr/>
            </p:nvSpPr>
            <p:spPr bwMode="auto">
              <a:xfrm>
                <a:off x="104728" y="1350125"/>
                <a:ext cx="2385615" cy="455773"/>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tx1"/>
                    </a:solidFill>
                    <a:effectLst/>
                    <a:latin typeface="Calibri" pitchFamily="34" charset="0"/>
                  </a:rPr>
                  <a:t>+</a:t>
                </a:r>
              </a:p>
            </p:txBody>
          </p:sp>
          <p:sp>
            <p:nvSpPr>
              <p:cNvPr id="111" name="Ellipse 110"/>
              <p:cNvSpPr/>
              <p:nvPr/>
            </p:nvSpPr>
            <p:spPr bwMode="auto">
              <a:xfrm>
                <a:off x="81894" y="1456548"/>
                <a:ext cx="2385614" cy="455773"/>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112" name="Ellipse 111"/>
              <p:cNvSpPr/>
              <p:nvPr/>
            </p:nvSpPr>
            <p:spPr bwMode="auto">
              <a:xfrm>
                <a:off x="114867" y="1546960"/>
                <a:ext cx="2385614" cy="455773"/>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smtClean="0">
                    <a:solidFill>
                      <a:schemeClr val="tx1"/>
                    </a:solidFill>
                  </a:rPr>
                  <a:t>En XML</a:t>
                </a:r>
                <a:endParaRPr kumimoji="0" lang="fr-FR" sz="1800" b="0" i="0" u="none" strike="noStrike" cap="none" normalizeH="0" baseline="0" dirty="0" smtClean="0">
                  <a:ln>
                    <a:noFill/>
                  </a:ln>
                  <a:solidFill>
                    <a:schemeClr val="tx1"/>
                  </a:solidFill>
                  <a:effectLst/>
                  <a:latin typeface="Calibri" pitchFamily="34" charset="0"/>
                </a:endParaRPr>
              </a:p>
            </p:txBody>
          </p:sp>
        </p:grpSp>
        <p:grpSp>
          <p:nvGrpSpPr>
            <p:cNvPr id="116" name="Groupe 115"/>
            <p:cNvGrpSpPr/>
            <p:nvPr/>
          </p:nvGrpSpPr>
          <p:grpSpPr>
            <a:xfrm>
              <a:off x="437008" y="4139955"/>
              <a:ext cx="2305345" cy="600364"/>
              <a:chOff x="79590" y="1038071"/>
              <a:chExt cx="2385650" cy="618207"/>
            </a:xfrm>
          </p:grpSpPr>
          <p:sp>
            <p:nvSpPr>
              <p:cNvPr id="117" name="Ellipse 116"/>
              <p:cNvSpPr/>
              <p:nvPr/>
            </p:nvSpPr>
            <p:spPr bwMode="auto">
              <a:xfrm>
                <a:off x="79626" y="1038071"/>
                <a:ext cx="2385614" cy="455773"/>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118" name="Ellipse 117"/>
              <p:cNvSpPr/>
              <p:nvPr/>
            </p:nvSpPr>
            <p:spPr bwMode="auto">
              <a:xfrm>
                <a:off x="79590" y="1128440"/>
                <a:ext cx="2385614" cy="455773"/>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119" name="Ellipse 118"/>
              <p:cNvSpPr/>
              <p:nvPr/>
            </p:nvSpPr>
            <p:spPr bwMode="auto">
              <a:xfrm>
                <a:off x="79590" y="1200505"/>
                <a:ext cx="2385614" cy="455773"/>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dirty="0" smtClean="0">
                    <a:solidFill>
                      <a:schemeClr val="tx1"/>
                    </a:solidFill>
                  </a:rPr>
                  <a:t>En Python</a:t>
                </a:r>
                <a:endParaRPr kumimoji="0" lang="fr-FR" sz="1800" b="0" i="0" u="none" strike="noStrike" cap="none" normalizeH="0" baseline="0" dirty="0" smtClean="0">
                  <a:ln>
                    <a:noFill/>
                  </a:ln>
                  <a:solidFill>
                    <a:schemeClr val="tx1"/>
                  </a:solidFill>
                  <a:effectLst/>
                  <a:latin typeface="Calibri" pitchFamily="34" charset="0"/>
                </a:endParaRPr>
              </a:p>
            </p:txBody>
          </p:sp>
        </p:grpSp>
        <p:sp>
          <p:nvSpPr>
            <p:cNvPr id="6149" name="Ellipse 6148"/>
            <p:cNvSpPr/>
            <p:nvPr/>
          </p:nvSpPr>
          <p:spPr bwMode="auto">
            <a:xfrm>
              <a:off x="0" y="3505839"/>
              <a:ext cx="8162925" cy="1761486"/>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grpSp>
      <p:grpSp>
        <p:nvGrpSpPr>
          <p:cNvPr id="123" name="Groupe 122"/>
          <p:cNvGrpSpPr/>
          <p:nvPr/>
        </p:nvGrpSpPr>
        <p:grpSpPr>
          <a:xfrm>
            <a:off x="5182431" y="3539789"/>
            <a:ext cx="1756224" cy="597429"/>
            <a:chOff x="-1210213" y="-894692"/>
            <a:chExt cx="1621867" cy="615184"/>
          </a:xfrm>
        </p:grpSpPr>
        <p:sp>
          <p:nvSpPr>
            <p:cNvPr id="134" name="Ellipse 133"/>
            <p:cNvSpPr/>
            <p:nvPr/>
          </p:nvSpPr>
          <p:spPr bwMode="auto">
            <a:xfrm>
              <a:off x="-1188277" y="-894692"/>
              <a:ext cx="1597313" cy="455774"/>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135" name="Ellipse 134"/>
            <p:cNvSpPr/>
            <p:nvPr/>
          </p:nvSpPr>
          <p:spPr bwMode="auto">
            <a:xfrm>
              <a:off x="-1187963" y="-817287"/>
              <a:ext cx="1599617" cy="455774"/>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dirty="0" smtClean="0">
                <a:ln>
                  <a:noFill/>
                </a:ln>
                <a:solidFill>
                  <a:schemeClr val="tx1"/>
                </a:solidFill>
                <a:effectLst/>
                <a:latin typeface="Calibri" pitchFamily="34" charset="0"/>
              </a:endParaRPr>
            </a:p>
          </p:txBody>
        </p:sp>
        <p:sp>
          <p:nvSpPr>
            <p:cNvPr id="136" name="Ellipse 135"/>
            <p:cNvSpPr/>
            <p:nvPr/>
          </p:nvSpPr>
          <p:spPr bwMode="auto">
            <a:xfrm>
              <a:off x="-1210213" y="-735282"/>
              <a:ext cx="1599617" cy="455774"/>
            </a:xfrm>
            <a:prstGeom prst="ellipse">
              <a:avLst/>
            </a:prstGeom>
            <a:solidFill>
              <a:srgbClr val="BAE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lang="fr-FR" sz="1600" dirty="0" smtClean="0">
                  <a:solidFill>
                    <a:schemeClr val="tx1"/>
                  </a:solidFill>
                </a:rPr>
                <a:t>propriétaire</a:t>
              </a:r>
              <a:endParaRPr kumimoji="0" lang="fr-FR" sz="1600" b="0" i="0" u="none" strike="noStrike" cap="none" normalizeH="0" baseline="0" dirty="0" smtClean="0">
                <a:ln>
                  <a:noFill/>
                </a:ln>
                <a:solidFill>
                  <a:schemeClr val="tx1"/>
                </a:solidFill>
                <a:effectLst/>
              </a:endParaRPr>
            </a:p>
          </p:txBody>
        </p:sp>
      </p:grpSp>
      <p:grpSp>
        <p:nvGrpSpPr>
          <p:cNvPr id="6154" name="Groupe 6153"/>
          <p:cNvGrpSpPr/>
          <p:nvPr/>
        </p:nvGrpSpPr>
        <p:grpSpPr>
          <a:xfrm>
            <a:off x="7281317" y="1517100"/>
            <a:ext cx="1817535" cy="994519"/>
            <a:chOff x="6912693" y="2765175"/>
            <a:chExt cx="1817535" cy="994519"/>
          </a:xfrm>
        </p:grpSpPr>
        <p:sp>
          <p:nvSpPr>
            <p:cNvPr id="137" name="Rectangle 136"/>
            <p:cNvSpPr/>
            <p:nvPr/>
          </p:nvSpPr>
          <p:spPr bwMode="auto">
            <a:xfrm>
              <a:off x="7077641" y="2765175"/>
              <a:ext cx="1652587" cy="71044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38" name="Rectangle 137"/>
            <p:cNvSpPr/>
            <p:nvPr/>
          </p:nvSpPr>
          <p:spPr bwMode="auto">
            <a:xfrm>
              <a:off x="7016765" y="2867174"/>
              <a:ext cx="1586584" cy="71967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39" name="Rectangle 138"/>
            <p:cNvSpPr/>
            <p:nvPr/>
          </p:nvSpPr>
          <p:spPr bwMode="auto">
            <a:xfrm>
              <a:off x="6912693" y="2987913"/>
              <a:ext cx="1585678"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tx1"/>
                  </a:solidFill>
                  <a:effectLst/>
                  <a:latin typeface="Calibri" pitchFamily="34" charset="0"/>
                </a:rPr>
                <a:t>Drivers python</a:t>
              </a:r>
            </a:p>
          </p:txBody>
        </p:sp>
      </p:grpSp>
      <p:grpSp>
        <p:nvGrpSpPr>
          <p:cNvPr id="6158" name="Groupe 6157"/>
          <p:cNvGrpSpPr/>
          <p:nvPr/>
        </p:nvGrpSpPr>
        <p:grpSpPr>
          <a:xfrm>
            <a:off x="2699188" y="4700004"/>
            <a:ext cx="1136740" cy="781500"/>
            <a:chOff x="2699188" y="4476471"/>
            <a:chExt cx="1817535" cy="994519"/>
          </a:xfrm>
        </p:grpSpPr>
        <p:sp>
          <p:nvSpPr>
            <p:cNvPr id="143" name="Rectangle 142"/>
            <p:cNvSpPr/>
            <p:nvPr/>
          </p:nvSpPr>
          <p:spPr bwMode="auto">
            <a:xfrm>
              <a:off x="2864136" y="4476471"/>
              <a:ext cx="1652587" cy="71044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44" name="Rectangle 143"/>
            <p:cNvSpPr/>
            <p:nvPr/>
          </p:nvSpPr>
          <p:spPr bwMode="auto">
            <a:xfrm>
              <a:off x="2803260" y="4578470"/>
              <a:ext cx="1586584" cy="71967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45" name="Rectangle 144"/>
            <p:cNvSpPr/>
            <p:nvPr/>
          </p:nvSpPr>
          <p:spPr bwMode="auto">
            <a:xfrm>
              <a:off x="2699188" y="4699209"/>
              <a:ext cx="1585678"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tx1"/>
                  </a:solidFill>
                  <a:effectLst/>
                  <a:latin typeface="Calibri" pitchFamily="34" charset="0"/>
                </a:rPr>
                <a:t>Drivers CXX</a:t>
              </a:r>
            </a:p>
          </p:txBody>
        </p:sp>
      </p:grpSp>
      <p:sp>
        <p:nvSpPr>
          <p:cNvPr id="6152" name="Flèche vers le bas 6151"/>
          <p:cNvSpPr/>
          <p:nvPr/>
        </p:nvSpPr>
        <p:spPr bwMode="auto">
          <a:xfrm rot="1622538">
            <a:off x="1100332" y="4405427"/>
            <a:ext cx="284493" cy="382501"/>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bg1"/>
                </a:solidFill>
                <a:effectLst/>
                <a:latin typeface="Calibri" pitchFamily="34" charset="0"/>
              </a:rPr>
              <a:t>cv</a:t>
            </a:r>
          </a:p>
        </p:txBody>
      </p:sp>
      <p:sp>
        <p:nvSpPr>
          <p:cNvPr id="148" name="Flèche vers le bas 147"/>
          <p:cNvSpPr/>
          <p:nvPr/>
        </p:nvSpPr>
        <p:spPr bwMode="auto">
          <a:xfrm rot="12295113">
            <a:off x="963164" y="4257747"/>
            <a:ext cx="284493" cy="422044"/>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6153" name="Rectangle 6152"/>
          <p:cNvSpPr/>
          <p:nvPr/>
        </p:nvSpPr>
        <p:spPr bwMode="auto">
          <a:xfrm>
            <a:off x="103846" y="4946860"/>
            <a:ext cx="1314647" cy="596736"/>
          </a:xfrm>
          <a:prstGeom prst="rect">
            <a:avLst/>
          </a:prstGeom>
          <a:solidFill>
            <a:srgbClr val="DADAF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accent4"/>
                </a:solidFill>
                <a:effectLst/>
                <a:latin typeface="Calibri" pitchFamily="34" charset="0"/>
              </a:rPr>
              <a:t>   Solveur</a:t>
            </a:r>
          </a:p>
        </p:txBody>
      </p:sp>
      <p:grpSp>
        <p:nvGrpSpPr>
          <p:cNvPr id="155" name="Groupe 154"/>
          <p:cNvGrpSpPr/>
          <p:nvPr/>
        </p:nvGrpSpPr>
        <p:grpSpPr>
          <a:xfrm>
            <a:off x="4606805" y="4737356"/>
            <a:ext cx="1282397" cy="745881"/>
            <a:chOff x="6912693" y="2765175"/>
            <a:chExt cx="1817535" cy="994519"/>
          </a:xfrm>
        </p:grpSpPr>
        <p:sp>
          <p:nvSpPr>
            <p:cNvPr id="156" name="Rectangle 155"/>
            <p:cNvSpPr/>
            <p:nvPr/>
          </p:nvSpPr>
          <p:spPr bwMode="auto">
            <a:xfrm>
              <a:off x="7077641" y="2765175"/>
              <a:ext cx="1652587" cy="71044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57" name="Rectangle 156"/>
            <p:cNvSpPr/>
            <p:nvPr/>
          </p:nvSpPr>
          <p:spPr bwMode="auto">
            <a:xfrm>
              <a:off x="7016765" y="2867174"/>
              <a:ext cx="1586584" cy="719678"/>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58" name="Rectangle 157"/>
            <p:cNvSpPr/>
            <p:nvPr/>
          </p:nvSpPr>
          <p:spPr bwMode="auto">
            <a:xfrm>
              <a:off x="6912693" y="2987913"/>
              <a:ext cx="1585678" cy="77178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tx1"/>
                  </a:solidFill>
                  <a:effectLst/>
                  <a:latin typeface="Calibri" pitchFamily="34" charset="0"/>
                </a:rPr>
                <a:t>Drivers python</a:t>
              </a:r>
            </a:p>
          </p:txBody>
        </p:sp>
      </p:grpSp>
      <p:sp>
        <p:nvSpPr>
          <p:cNvPr id="161" name="Rectangle 160"/>
          <p:cNvSpPr/>
          <p:nvPr/>
        </p:nvSpPr>
        <p:spPr bwMode="auto">
          <a:xfrm>
            <a:off x="4690597" y="5783517"/>
            <a:ext cx="1369946" cy="674434"/>
          </a:xfrm>
          <a:prstGeom prst="rect">
            <a:avLst/>
          </a:prstGeom>
          <a:solidFill>
            <a:srgbClr val="DADAF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accent4"/>
                </a:solidFill>
                <a:effectLst/>
                <a:latin typeface="Calibri" pitchFamily="34" charset="0"/>
              </a:rPr>
              <a:t>Mappeur</a:t>
            </a:r>
          </a:p>
        </p:txBody>
      </p:sp>
      <p:sp>
        <p:nvSpPr>
          <p:cNvPr id="162" name="Rectangle 161"/>
          <p:cNvSpPr/>
          <p:nvPr/>
        </p:nvSpPr>
        <p:spPr bwMode="auto">
          <a:xfrm>
            <a:off x="2165044" y="5836020"/>
            <a:ext cx="1605429" cy="877551"/>
          </a:xfrm>
          <a:prstGeom prst="rect">
            <a:avLst/>
          </a:prstGeom>
          <a:solidFill>
            <a:srgbClr val="DADAF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buClr>
                <a:srgbClr val="000000"/>
              </a:buClr>
              <a:buSzPct val="100000"/>
            </a:pPr>
            <a:r>
              <a:rPr lang="fr-FR" dirty="0" smtClean="0">
                <a:solidFill>
                  <a:schemeClr val="accent4"/>
                </a:solidFill>
              </a:rPr>
              <a:t>      </a:t>
            </a:r>
          </a:p>
          <a:p>
            <a:pPr eaLnBrk="1" hangingPunct="1">
              <a:buClr>
                <a:srgbClr val="000000"/>
              </a:buClr>
              <a:buSzPct val="100000"/>
            </a:pPr>
            <a:r>
              <a:rPr lang="fr-FR" dirty="0">
                <a:solidFill>
                  <a:schemeClr val="accent4"/>
                </a:solidFill>
              </a:rPr>
              <a:t> </a:t>
            </a:r>
            <a:r>
              <a:rPr lang="fr-FR" dirty="0" smtClean="0">
                <a:solidFill>
                  <a:schemeClr val="accent4"/>
                </a:solidFill>
              </a:rPr>
              <a:t>      Solveur</a:t>
            </a:r>
            <a:endParaRPr lang="fr-FR" dirty="0">
              <a:solidFill>
                <a:schemeClr val="accent4"/>
              </a:solidFill>
            </a:endParaRPr>
          </a:p>
        </p:txBody>
      </p:sp>
      <p:sp>
        <p:nvSpPr>
          <p:cNvPr id="6156" name="ZoneTexte 6155"/>
          <p:cNvSpPr txBox="1"/>
          <p:nvPr/>
        </p:nvSpPr>
        <p:spPr>
          <a:xfrm>
            <a:off x="2097648" y="5506911"/>
            <a:ext cx="1605429" cy="369332"/>
          </a:xfrm>
          <a:prstGeom prst="rect">
            <a:avLst/>
          </a:prstGeom>
          <a:noFill/>
        </p:spPr>
        <p:txBody>
          <a:bodyPr wrap="square" rtlCol="0">
            <a:spAutoFit/>
          </a:bodyPr>
          <a:lstStyle/>
          <a:p>
            <a:pPr algn="ctr"/>
            <a:r>
              <a:rPr lang="fr-FR" dirty="0" err="1" smtClean="0">
                <a:solidFill>
                  <a:schemeClr val="accent4"/>
                </a:solidFill>
              </a:rPr>
              <a:t>wrapper</a:t>
            </a:r>
            <a:endParaRPr lang="fr-FR" dirty="0">
              <a:solidFill>
                <a:schemeClr val="accent4"/>
              </a:solidFill>
            </a:endParaRPr>
          </a:p>
        </p:txBody>
      </p:sp>
      <p:sp>
        <p:nvSpPr>
          <p:cNvPr id="167" name="Flèche vers le bas 166"/>
          <p:cNvSpPr/>
          <p:nvPr/>
        </p:nvSpPr>
        <p:spPr bwMode="auto">
          <a:xfrm rot="10800000">
            <a:off x="3872907" y="2567741"/>
            <a:ext cx="284493" cy="382501"/>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69" name="Flèche vers le bas 168"/>
          <p:cNvSpPr/>
          <p:nvPr/>
        </p:nvSpPr>
        <p:spPr bwMode="auto">
          <a:xfrm>
            <a:off x="4111042" y="2617105"/>
            <a:ext cx="284493" cy="382501"/>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70" name="Flèche vers le bas 169"/>
          <p:cNvSpPr/>
          <p:nvPr/>
        </p:nvSpPr>
        <p:spPr bwMode="auto">
          <a:xfrm rot="19567951">
            <a:off x="4901521" y="4279480"/>
            <a:ext cx="284493" cy="480119"/>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71" name="Flèche vers le bas 170"/>
          <p:cNvSpPr/>
          <p:nvPr/>
        </p:nvSpPr>
        <p:spPr bwMode="auto">
          <a:xfrm rot="8502577">
            <a:off x="5053362" y="4159570"/>
            <a:ext cx="284493" cy="435010"/>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72" name="Flèche vers le bas 171"/>
          <p:cNvSpPr/>
          <p:nvPr/>
        </p:nvSpPr>
        <p:spPr bwMode="auto">
          <a:xfrm rot="1015530">
            <a:off x="3383439" y="4321258"/>
            <a:ext cx="284493" cy="382501"/>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r>
              <a:rPr kumimoji="0" lang="fr-FR" sz="1800" b="0" i="0" u="none" strike="noStrike" cap="none" normalizeH="0" baseline="0" dirty="0" smtClean="0">
                <a:ln>
                  <a:noFill/>
                </a:ln>
                <a:solidFill>
                  <a:schemeClr val="bg1"/>
                </a:solidFill>
                <a:effectLst/>
                <a:latin typeface="Calibri" pitchFamily="34" charset="0"/>
              </a:rPr>
              <a:t>cv</a:t>
            </a:r>
          </a:p>
        </p:txBody>
      </p:sp>
      <p:sp>
        <p:nvSpPr>
          <p:cNvPr id="173" name="Flèche vers le bas 172"/>
          <p:cNvSpPr/>
          <p:nvPr/>
        </p:nvSpPr>
        <p:spPr bwMode="auto">
          <a:xfrm rot="11688105">
            <a:off x="3141937" y="4248392"/>
            <a:ext cx="284493" cy="422044"/>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6160" name="ZoneTexte 6159"/>
          <p:cNvSpPr txBox="1"/>
          <p:nvPr/>
        </p:nvSpPr>
        <p:spPr>
          <a:xfrm>
            <a:off x="7944556" y="5251948"/>
            <a:ext cx="931387" cy="461665"/>
          </a:xfrm>
          <a:prstGeom prst="rect">
            <a:avLst/>
          </a:prstGeom>
          <a:noFill/>
        </p:spPr>
        <p:txBody>
          <a:bodyPr wrap="square" rtlCol="0">
            <a:spAutoFit/>
          </a:bodyPr>
          <a:lstStyle/>
          <a:p>
            <a:r>
              <a:rPr lang="fr-FR" sz="1200" dirty="0" smtClean="0">
                <a:solidFill>
                  <a:schemeClr val="tx1"/>
                </a:solidFill>
              </a:rPr>
              <a:t>Lecture</a:t>
            </a:r>
          </a:p>
          <a:p>
            <a:r>
              <a:rPr lang="fr-FR" sz="1200" dirty="0" smtClean="0">
                <a:solidFill>
                  <a:schemeClr val="accent4"/>
                </a:solidFill>
              </a:rPr>
              <a:t>écriture</a:t>
            </a:r>
            <a:endParaRPr lang="fr-FR" sz="1200" dirty="0"/>
          </a:p>
        </p:txBody>
      </p:sp>
      <p:grpSp>
        <p:nvGrpSpPr>
          <p:cNvPr id="6161" name="Groupe 6160"/>
          <p:cNvGrpSpPr/>
          <p:nvPr/>
        </p:nvGrpSpPr>
        <p:grpSpPr>
          <a:xfrm>
            <a:off x="7709524" y="5384529"/>
            <a:ext cx="152401" cy="193949"/>
            <a:chOff x="7731237" y="5437489"/>
            <a:chExt cx="152401" cy="193949"/>
          </a:xfrm>
        </p:grpSpPr>
        <p:sp>
          <p:nvSpPr>
            <p:cNvPr id="182" name="Flèche vers le bas 181"/>
            <p:cNvSpPr/>
            <p:nvPr/>
          </p:nvSpPr>
          <p:spPr bwMode="auto">
            <a:xfrm rot="16200000" flipH="1" flipV="1">
              <a:off x="7774231" y="5522031"/>
              <a:ext cx="66414" cy="152400"/>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
          <p:nvSpPr>
            <p:cNvPr id="183" name="Flèche vers le bas 182"/>
            <p:cNvSpPr/>
            <p:nvPr/>
          </p:nvSpPr>
          <p:spPr bwMode="auto">
            <a:xfrm rot="5400000" flipV="1">
              <a:off x="7774230" y="5394496"/>
              <a:ext cx="66414" cy="152400"/>
            </a:xfrm>
            <a:prstGeom prst="down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grpSp>
    </p:spTree>
    <p:extLst>
      <p:ext uri="{BB962C8B-B14F-4D97-AF65-F5344CB8AC3E}">
        <p14:creationId xmlns:p14="http://schemas.microsoft.com/office/powerpoint/2010/main" val="219843785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57997" y="1110914"/>
            <a:ext cx="8663274" cy="44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 la validation MDM permet d’exprimer des conditions et des références</a:t>
            </a: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cs typeface="Arial" panose="020B0604020202020204" pitchFamily="34" charset="0"/>
              </a:rPr>
              <a:t> </a:t>
            </a:r>
            <a:r>
              <a:rPr lang="fr-FR" altLang="fr-FR" sz="2000" dirty="0" smtClean="0">
                <a:solidFill>
                  <a:srgbClr val="002060"/>
                </a:solidFill>
                <a:cs typeface="Arial" panose="020B0604020202020204" pitchFamily="34" charset="0"/>
              </a:rPr>
              <a:t>le double format python/XML des jeux de données permet d’avoir une double vision des données :</a:t>
            </a:r>
          </a:p>
          <a:p>
            <a:pPr lvl="1"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Sous forme de jeux de données au sens </a:t>
            </a:r>
            <a:r>
              <a:rPr lang="fr-FR" altLang="fr-FR" sz="2000" dirty="0" err="1" smtClean="0">
                <a:solidFill>
                  <a:srgbClr val="002060"/>
                </a:solidFill>
                <a:cs typeface="Arial" panose="020B0604020202020204" pitchFamily="34" charset="0"/>
              </a:rPr>
              <a:t>xml</a:t>
            </a:r>
            <a:r>
              <a:rPr lang="fr-FR" altLang="fr-FR" sz="2000" dirty="0" smtClean="0">
                <a:solidFill>
                  <a:srgbClr val="002060"/>
                </a:solidFill>
                <a:cs typeface="Arial" panose="020B0604020202020204" pitchFamily="34" charset="0"/>
              </a:rPr>
              <a:t> du terme</a:t>
            </a:r>
          </a:p>
          <a:p>
            <a:pPr lvl="1"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Sous forme de fichier python exécutable avec toutes les possibilités associées permettant d’envisager une génération dynamique des Workflows</a:t>
            </a:r>
            <a:endParaRPr lang="fr-FR" altLang="fr-FR" sz="2000" dirty="0">
              <a:solidFill>
                <a:srgbClr val="002060"/>
              </a:solidFill>
              <a:cs typeface="Arial" panose="020B0604020202020204" pitchFamily="34" charset="0"/>
            </a:endParaRPr>
          </a:p>
          <a:p>
            <a:pPr lvl="1" eaLnBrk="1">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11</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les jeux de données</a:t>
            </a:r>
            <a:endParaRPr lang="fr-FR" altLang="fr-FR" sz="2800" dirty="0">
              <a:solidFill>
                <a:srgbClr val="001A70"/>
              </a:solidFill>
              <a:cs typeface="Arial" panose="020B0604020202020204" pitchFamily="34" charset="0"/>
            </a:endParaRPr>
          </a:p>
        </p:txBody>
      </p:sp>
    </p:spTree>
    <p:extLst>
      <p:ext uri="{BB962C8B-B14F-4D97-AF65-F5344CB8AC3E}">
        <p14:creationId xmlns:p14="http://schemas.microsoft.com/office/powerpoint/2010/main" val="46362475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29422" y="1071283"/>
            <a:ext cx="4823578" cy="44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cs typeface="Arial" panose="020B0604020202020204" pitchFamily="34" charset="0"/>
            </a:endParaRPr>
          </a:p>
          <a:p>
            <a:pPr lvl="1"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Les API nécessaires entre la couche banc (lot 4) et la couche simulation sont réduites :</a:t>
            </a:r>
          </a:p>
          <a:p>
            <a:pPr lvl="2" eaLnBrk="1">
              <a:spcBef>
                <a:spcPts val="300"/>
              </a:spcBef>
              <a:spcAft>
                <a:spcPct val="25000"/>
              </a:spcAft>
              <a:buClr>
                <a:srgbClr val="001A70"/>
              </a:buClr>
              <a:buFont typeface="Wingdings" panose="05000000000000000000" pitchFamily="2" charset="2"/>
              <a:buChar char=""/>
            </a:pPr>
            <a:r>
              <a:rPr lang="fr-FR" altLang="fr-FR" sz="2000" dirty="0" smtClean="0">
                <a:solidFill>
                  <a:srgbClr val="002060"/>
                </a:solidFill>
                <a:cs typeface="Arial" panose="020B0604020202020204" pitchFamily="34" charset="0"/>
              </a:rPr>
              <a:t>Put</a:t>
            </a:r>
          </a:p>
          <a:p>
            <a:pPr lvl="2" eaLnBrk="1">
              <a:spcBef>
                <a:spcPts val="300"/>
              </a:spcBef>
              <a:spcAft>
                <a:spcPct val="25000"/>
              </a:spcAft>
              <a:buClr>
                <a:srgbClr val="001A70"/>
              </a:buClr>
              <a:buFont typeface="Wingdings" panose="05000000000000000000" pitchFamily="2" charset="2"/>
              <a:buChar char=""/>
            </a:pPr>
            <a:r>
              <a:rPr lang="fr-FR" altLang="fr-FR" sz="2000" dirty="0" err="1" smtClean="0">
                <a:solidFill>
                  <a:srgbClr val="002060"/>
                </a:solidFill>
                <a:cs typeface="Arial" panose="020B0604020202020204" pitchFamily="34" charset="0"/>
              </a:rPr>
              <a:t>Run</a:t>
            </a:r>
            <a:endParaRPr lang="fr-FR" altLang="fr-FR" sz="2000" dirty="0" smtClean="0">
              <a:solidFill>
                <a:srgbClr val="002060"/>
              </a:solidFill>
              <a:cs typeface="Arial" panose="020B0604020202020204" pitchFamily="34" charset="0"/>
            </a:endParaRPr>
          </a:p>
          <a:p>
            <a:pPr lvl="2" eaLnBrk="1">
              <a:spcBef>
                <a:spcPts val="300"/>
              </a:spcBef>
              <a:spcAft>
                <a:spcPct val="25000"/>
              </a:spcAft>
              <a:buClr>
                <a:srgbClr val="001A70"/>
              </a:buClr>
              <a:buFont typeface="Wingdings" panose="05000000000000000000" pitchFamily="2" charset="2"/>
              <a:buChar char=""/>
            </a:pPr>
            <a:r>
              <a:rPr lang="fr-FR" altLang="fr-FR" sz="2000" dirty="0" err="1" smtClean="0">
                <a:solidFill>
                  <a:srgbClr val="002060"/>
                </a:solidFill>
                <a:cs typeface="Arial" panose="020B0604020202020204" pitchFamily="34" charset="0"/>
              </a:rPr>
              <a:t>Get</a:t>
            </a:r>
            <a:endParaRPr lang="fr-FR" altLang="fr-FR" sz="2000" dirty="0" smtClean="0">
              <a:solidFill>
                <a:srgbClr val="002060"/>
              </a:solidFill>
              <a:cs typeface="Arial" panose="020B0604020202020204" pitchFamily="34" charset="0"/>
            </a:endParaRPr>
          </a:p>
          <a:p>
            <a:pPr marL="457200" lvl="1" indent="0" eaLnBrk="1">
              <a:spcBef>
                <a:spcPts val="300"/>
              </a:spcBef>
              <a:spcAft>
                <a:spcPct val="25000"/>
              </a:spcAft>
              <a:buClr>
                <a:srgbClr val="001A70"/>
              </a:buClr>
            </a:pPr>
            <a:r>
              <a:rPr lang="fr-FR" altLang="fr-FR" sz="2000" dirty="0" smtClean="0">
                <a:solidFill>
                  <a:srgbClr val="002060"/>
                </a:solidFill>
                <a:cs typeface="Arial" panose="020B0604020202020204" pitchFamily="34" charset="0"/>
              </a:rPr>
              <a:t> </a:t>
            </a: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12</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Intégration dans l’architecture globale</a:t>
            </a:r>
            <a:endParaRPr lang="fr-FR" altLang="fr-FR" sz="2800" dirty="0">
              <a:solidFill>
                <a:srgbClr val="001A70"/>
              </a:solidFill>
              <a:cs typeface="Arial" panose="020B0604020202020204" pitchFamily="34" charset="0"/>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59" y="1442104"/>
            <a:ext cx="3223015" cy="4123000"/>
          </a:xfrm>
          <a:prstGeom prst="rect">
            <a:avLst/>
          </a:prstGeom>
        </p:spPr>
      </p:pic>
    </p:spTree>
    <p:extLst>
      <p:ext uri="{BB962C8B-B14F-4D97-AF65-F5344CB8AC3E}">
        <p14:creationId xmlns:p14="http://schemas.microsoft.com/office/powerpoint/2010/main" val="3052459028"/>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23"/>
          <p:cNvPicPr/>
          <p:nvPr/>
        </p:nvPicPr>
        <p:blipFill>
          <a:blip r:embed="rId2"/>
          <a:srcRect l="9656" t="17454" r="8998" b="17461"/>
          <a:stretch/>
        </p:blipFill>
        <p:spPr>
          <a:xfrm>
            <a:off x="3722040" y="3782880"/>
            <a:ext cx="2471040" cy="1240200"/>
          </a:xfrm>
          <a:prstGeom prst="rect">
            <a:avLst/>
          </a:prstGeom>
          <a:ln>
            <a:noFill/>
          </a:ln>
        </p:spPr>
      </p:pic>
      <p:sp>
        <p:nvSpPr>
          <p:cNvPr id="3" name="CustomShape 1"/>
          <p:cNvSpPr/>
          <p:nvPr/>
        </p:nvSpPr>
        <p:spPr>
          <a:xfrm>
            <a:off x="3705840" y="3782880"/>
            <a:ext cx="2487240" cy="138060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pic>
        <p:nvPicPr>
          <p:cNvPr id="4" name="Immagine 23"/>
          <p:cNvPicPr/>
          <p:nvPr/>
        </p:nvPicPr>
        <p:blipFill>
          <a:blip r:embed="rId2"/>
          <a:srcRect l="9656" t="17454" r="8998" b="17413"/>
          <a:stretch/>
        </p:blipFill>
        <p:spPr>
          <a:xfrm>
            <a:off x="482400" y="3776760"/>
            <a:ext cx="2471760" cy="1246320"/>
          </a:xfrm>
          <a:prstGeom prst="rect">
            <a:avLst/>
          </a:prstGeom>
          <a:ln>
            <a:noFill/>
          </a:ln>
        </p:spPr>
      </p:pic>
      <p:sp>
        <p:nvSpPr>
          <p:cNvPr id="5" name="CustomShape 2"/>
          <p:cNvSpPr/>
          <p:nvPr/>
        </p:nvSpPr>
        <p:spPr>
          <a:xfrm>
            <a:off x="465840" y="3776760"/>
            <a:ext cx="2488320" cy="138636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sp>
        <p:nvSpPr>
          <p:cNvPr id="6" name="CustomShape 3"/>
          <p:cNvSpPr/>
          <p:nvPr/>
        </p:nvSpPr>
        <p:spPr>
          <a:xfrm>
            <a:off x="466560" y="548640"/>
            <a:ext cx="8206920" cy="368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1" strike="noStrike" spc="-1" dirty="0">
                <a:solidFill>
                  <a:srgbClr val="12235A"/>
                </a:solidFill>
                <a:latin typeface="Calibri"/>
                <a:ea typeface="DejaVu Sans"/>
              </a:rPr>
              <a:t>Illustration of the CDM on practical workflows</a:t>
            </a:r>
            <a:r>
              <a:rPr lang="en-US" sz="2000" b="1" strike="noStrike" spc="-1" dirty="0" smtClean="0">
                <a:solidFill>
                  <a:srgbClr val="12235A"/>
                </a:solidFill>
                <a:latin typeface="Calibri"/>
                <a:ea typeface="DejaVu Sans"/>
              </a:rPr>
              <a:t>:</a:t>
            </a:r>
            <a:endParaRPr lang="en-US" sz="2000" b="0" strike="noStrike" spc="-1" dirty="0">
              <a:latin typeface="Arial"/>
            </a:endParaRPr>
          </a:p>
        </p:txBody>
      </p:sp>
      <p:sp>
        <p:nvSpPr>
          <p:cNvPr id="7" name="CustomShape 4"/>
          <p:cNvSpPr/>
          <p:nvPr/>
        </p:nvSpPr>
        <p:spPr>
          <a:xfrm>
            <a:off x="831600" y="5557320"/>
            <a:ext cx="156744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008000"/>
                </a:solidFill>
                <a:latin typeface="Calibri"/>
                <a:ea typeface="DejaVu Sans"/>
              </a:rPr>
              <a:t>CFD</a:t>
            </a:r>
            <a:endParaRPr lang="en-US" sz="1400" b="0" strike="noStrike" spc="-1">
              <a:latin typeface="Arial"/>
            </a:endParaRPr>
          </a:p>
        </p:txBody>
      </p:sp>
      <p:sp>
        <p:nvSpPr>
          <p:cNvPr id="8" name="CustomShape 5"/>
          <p:cNvSpPr/>
          <p:nvPr/>
        </p:nvSpPr>
        <p:spPr>
          <a:xfrm>
            <a:off x="3028320" y="4439160"/>
            <a:ext cx="567000" cy="360"/>
          </a:xfrm>
          <a:custGeom>
            <a:avLst/>
            <a:gdLst/>
            <a:ahLst/>
            <a:cxnLst/>
            <a:rect l="l" t="t" r="r" b="b"/>
            <a:pathLst>
              <a:path w="21600" h="21600">
                <a:moveTo>
                  <a:pt x="0" y="0"/>
                </a:moveTo>
                <a:lnTo>
                  <a:pt x="21600" y="21600"/>
                </a:lnTo>
              </a:path>
            </a:pathLst>
          </a:custGeom>
          <a:noFill/>
          <a:ln w="31680">
            <a:solidFill>
              <a:srgbClr val="2B7ED2"/>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9" name="CustomShape 8"/>
          <p:cNvSpPr/>
          <p:nvPr/>
        </p:nvSpPr>
        <p:spPr>
          <a:xfrm>
            <a:off x="6939720" y="5557320"/>
            <a:ext cx="18954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008000"/>
                </a:solidFill>
                <a:latin typeface="Calibri"/>
                <a:ea typeface="DejaVu Sans"/>
              </a:rPr>
              <a:t>DEM</a:t>
            </a:r>
            <a:endParaRPr lang="en-US" sz="1400" b="0" strike="noStrike" spc="-1">
              <a:latin typeface="Arial"/>
            </a:endParaRPr>
          </a:p>
        </p:txBody>
      </p:sp>
      <p:sp>
        <p:nvSpPr>
          <p:cNvPr id="10" name="CustomShape 9"/>
          <p:cNvSpPr/>
          <p:nvPr/>
        </p:nvSpPr>
        <p:spPr>
          <a:xfrm>
            <a:off x="895320" y="326664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11" name="CustomShape 11"/>
          <p:cNvSpPr/>
          <p:nvPr/>
        </p:nvSpPr>
        <p:spPr>
          <a:xfrm rot="18628800">
            <a:off x="1251360" y="2798280"/>
            <a:ext cx="93816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Fluid </a:t>
            </a:r>
            <a:r>
              <a:t/>
            </a:r>
            <a:br/>
            <a:r>
              <a:rPr lang="en-US" sz="1200" b="0" strike="noStrike" spc="-1">
                <a:solidFill>
                  <a:srgbClr val="7E3FBE"/>
                </a:solidFill>
                <a:latin typeface="Calibri"/>
                <a:ea typeface="DejaVu Sans"/>
              </a:rPr>
              <a:t> properties</a:t>
            </a:r>
            <a:endParaRPr lang="en-US" sz="1200" b="0" strike="noStrike" spc="-1">
              <a:latin typeface="Arial"/>
            </a:endParaRPr>
          </a:p>
        </p:txBody>
      </p:sp>
      <p:sp>
        <p:nvSpPr>
          <p:cNvPr id="12" name="CustomShape 12"/>
          <p:cNvSpPr/>
          <p:nvPr/>
        </p:nvSpPr>
        <p:spPr>
          <a:xfrm>
            <a:off x="1563840" y="327924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13" name="CustomShape 13"/>
          <p:cNvSpPr/>
          <p:nvPr/>
        </p:nvSpPr>
        <p:spPr>
          <a:xfrm rot="18628800">
            <a:off x="643680" y="2857320"/>
            <a:ext cx="76644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Mesh</a:t>
            </a:r>
            <a:endParaRPr lang="en-US" sz="1200" b="0" strike="noStrike" spc="-1">
              <a:latin typeface="Arial"/>
            </a:endParaRPr>
          </a:p>
        </p:txBody>
      </p:sp>
      <p:sp>
        <p:nvSpPr>
          <p:cNvPr id="14" name="CustomShape 14"/>
          <p:cNvSpPr/>
          <p:nvPr/>
        </p:nvSpPr>
        <p:spPr>
          <a:xfrm>
            <a:off x="2340720" y="328716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15" name="CustomShape 15"/>
          <p:cNvSpPr/>
          <p:nvPr/>
        </p:nvSpPr>
        <p:spPr>
          <a:xfrm rot="18628800">
            <a:off x="2019600" y="2795040"/>
            <a:ext cx="98172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Time</a:t>
            </a:r>
            <a:endParaRPr lang="en-US" sz="1200" b="0" strike="noStrike" spc="-1">
              <a:latin typeface="Arial"/>
            </a:endParaRPr>
          </a:p>
        </p:txBody>
      </p:sp>
      <p:sp>
        <p:nvSpPr>
          <p:cNvPr id="16" name="CustomShape 16"/>
          <p:cNvSpPr/>
          <p:nvPr/>
        </p:nvSpPr>
        <p:spPr>
          <a:xfrm>
            <a:off x="2878920" y="3850920"/>
            <a:ext cx="751320" cy="438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2B7ED2"/>
                </a:solidFill>
                <a:latin typeface="Calibri"/>
                <a:ea typeface="DejaVu Sans"/>
              </a:rPr>
              <a:t>Flow</a:t>
            </a:r>
            <a:r>
              <a:t/>
            </a:r>
            <a:br/>
            <a:r>
              <a:rPr lang="en-US" sz="1400" b="0" strike="noStrike" spc="-1">
                <a:solidFill>
                  <a:srgbClr val="2B7ED2"/>
                </a:solidFill>
                <a:latin typeface="Calibri"/>
                <a:ea typeface="DejaVu Sans"/>
              </a:rPr>
              <a:t> field</a:t>
            </a:r>
            <a:endParaRPr lang="en-US" sz="1400" b="0" strike="noStrike" spc="-1">
              <a:latin typeface="Arial"/>
            </a:endParaRPr>
          </a:p>
        </p:txBody>
      </p:sp>
      <p:sp>
        <p:nvSpPr>
          <p:cNvPr id="17" name="CustomShape 17"/>
          <p:cNvSpPr/>
          <p:nvPr/>
        </p:nvSpPr>
        <p:spPr>
          <a:xfrm>
            <a:off x="3697200" y="5557320"/>
            <a:ext cx="23076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008000"/>
                </a:solidFill>
                <a:latin typeface="Calibri"/>
                <a:ea typeface="DejaVu Sans"/>
              </a:rPr>
              <a:t>Wrapper/Mapper or tracking</a:t>
            </a:r>
            <a:endParaRPr lang="en-US" sz="1400" b="0" strike="noStrike" spc="-1">
              <a:latin typeface="Arial"/>
            </a:endParaRPr>
          </a:p>
        </p:txBody>
      </p:sp>
      <p:sp>
        <p:nvSpPr>
          <p:cNvPr id="18" name="CustomShape 18"/>
          <p:cNvSpPr/>
          <p:nvPr/>
        </p:nvSpPr>
        <p:spPr>
          <a:xfrm>
            <a:off x="831600" y="5285880"/>
            <a:ext cx="156744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i="1" strike="noStrike" spc="-1">
                <a:solidFill>
                  <a:srgbClr val="333333"/>
                </a:solidFill>
                <a:latin typeface="Calibri"/>
                <a:ea typeface="DejaVu Sans"/>
              </a:rPr>
              <a:t>Code_Saturne</a:t>
            </a:r>
            <a:endParaRPr lang="en-US" sz="1400" b="0" strike="noStrike" spc="-1">
              <a:latin typeface="Arial"/>
            </a:endParaRPr>
          </a:p>
        </p:txBody>
      </p:sp>
      <p:sp>
        <p:nvSpPr>
          <p:cNvPr id="19" name="CustomShape 20"/>
          <p:cNvSpPr/>
          <p:nvPr/>
        </p:nvSpPr>
        <p:spPr>
          <a:xfrm>
            <a:off x="6939720" y="5285880"/>
            <a:ext cx="18954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i="1" strike="noStrike" spc="-1">
                <a:solidFill>
                  <a:srgbClr val="333333"/>
                </a:solidFill>
                <a:latin typeface="Calibri"/>
                <a:ea typeface="DejaVu Sans"/>
              </a:rPr>
              <a:t>DEM_SD</a:t>
            </a:r>
            <a:endParaRPr lang="en-US" sz="1400" b="0" strike="noStrike" spc="-1">
              <a:latin typeface="Arial"/>
            </a:endParaRPr>
          </a:p>
        </p:txBody>
      </p:sp>
      <p:sp>
        <p:nvSpPr>
          <p:cNvPr id="20" name="CustomShape 21"/>
          <p:cNvSpPr/>
          <p:nvPr/>
        </p:nvSpPr>
        <p:spPr>
          <a:xfrm>
            <a:off x="4021200" y="5285880"/>
            <a:ext cx="16632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333333"/>
                </a:solidFill>
                <a:latin typeface="Calibri"/>
                <a:ea typeface="DejaVu Sans"/>
              </a:rPr>
              <a:t>Own code</a:t>
            </a:r>
            <a:endParaRPr lang="en-US" sz="1400" b="0" strike="noStrike" spc="-1">
              <a:latin typeface="Arial"/>
            </a:endParaRPr>
          </a:p>
        </p:txBody>
      </p:sp>
      <p:sp>
        <p:nvSpPr>
          <p:cNvPr id="21" name="CustomShape 22"/>
          <p:cNvSpPr/>
          <p:nvPr/>
        </p:nvSpPr>
        <p:spPr>
          <a:xfrm>
            <a:off x="4410720" y="328752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22" name="CustomShape 23"/>
          <p:cNvSpPr/>
          <p:nvPr/>
        </p:nvSpPr>
        <p:spPr>
          <a:xfrm rot="18628800">
            <a:off x="4074480" y="2757240"/>
            <a:ext cx="964080" cy="352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Number of</a:t>
            </a:r>
            <a:r>
              <a:t/>
            </a:r>
            <a:br/>
            <a:r>
              <a:rPr lang="en-US" sz="1200" b="0" strike="noStrike" spc="-1">
                <a:solidFill>
                  <a:srgbClr val="7E3FBE"/>
                </a:solidFill>
                <a:latin typeface="Calibri"/>
                <a:ea typeface="DejaVu Sans"/>
              </a:rPr>
              <a:t> tracers</a:t>
            </a:r>
            <a:endParaRPr lang="en-US" sz="1200" b="0" strike="noStrike" spc="-1">
              <a:latin typeface="Arial"/>
            </a:endParaRPr>
          </a:p>
        </p:txBody>
      </p:sp>
      <p:sp>
        <p:nvSpPr>
          <p:cNvPr id="23" name="CustomShape 24"/>
          <p:cNvSpPr/>
          <p:nvPr/>
        </p:nvSpPr>
        <p:spPr>
          <a:xfrm>
            <a:off x="5357160" y="329148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24" name="CustomShape 25"/>
          <p:cNvSpPr/>
          <p:nvPr/>
        </p:nvSpPr>
        <p:spPr>
          <a:xfrm rot="18628800">
            <a:off x="5084280" y="2861280"/>
            <a:ext cx="685440" cy="36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Time</a:t>
            </a:r>
            <a:endParaRPr lang="en-US" sz="1200" b="0" strike="noStrike" spc="-1">
              <a:latin typeface="Arial"/>
            </a:endParaRPr>
          </a:p>
        </p:txBody>
      </p:sp>
      <p:pic>
        <p:nvPicPr>
          <p:cNvPr id="25" name="Immagine 32"/>
          <p:cNvPicPr/>
          <p:nvPr/>
        </p:nvPicPr>
        <p:blipFill>
          <a:blip r:embed="rId3"/>
          <a:srcRect l="24095" t="24717" r="20148" b="21344"/>
          <a:stretch/>
        </p:blipFill>
        <p:spPr>
          <a:xfrm>
            <a:off x="2107800" y="4206600"/>
            <a:ext cx="441000" cy="432720"/>
          </a:xfrm>
          <a:prstGeom prst="rect">
            <a:avLst/>
          </a:prstGeom>
          <a:ln>
            <a:noFill/>
          </a:ln>
        </p:spPr>
      </p:pic>
      <p:pic>
        <p:nvPicPr>
          <p:cNvPr id="26" name="Immagine 33"/>
          <p:cNvPicPr/>
          <p:nvPr/>
        </p:nvPicPr>
        <p:blipFill>
          <a:blip r:embed="rId3"/>
          <a:srcRect l="24095" t="24717" r="20148" b="21344"/>
          <a:stretch/>
        </p:blipFill>
        <p:spPr>
          <a:xfrm flipH="1">
            <a:off x="845640" y="4202280"/>
            <a:ext cx="441000" cy="432360"/>
          </a:xfrm>
          <a:prstGeom prst="rect">
            <a:avLst/>
          </a:prstGeom>
          <a:ln>
            <a:noFill/>
          </a:ln>
        </p:spPr>
      </p:pic>
      <p:sp>
        <p:nvSpPr>
          <p:cNvPr id="27" name="CustomShape 26"/>
          <p:cNvSpPr/>
          <p:nvPr/>
        </p:nvSpPr>
        <p:spPr>
          <a:xfrm>
            <a:off x="820440" y="4231080"/>
            <a:ext cx="4726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60</a:t>
            </a:r>
            <a:r>
              <a:t/>
            </a:r>
            <a:br/>
            <a:r>
              <a:rPr lang="en-US" sz="800" b="1" strike="noStrike" spc="-1">
                <a:solidFill>
                  <a:srgbClr val="000000"/>
                </a:solidFill>
                <a:latin typeface="Calibri"/>
              </a:rPr>
              <a:t>rpm</a:t>
            </a:r>
            <a:endParaRPr lang="en-US" sz="800" b="0" strike="noStrike" spc="-1">
              <a:latin typeface="Arial"/>
            </a:endParaRPr>
          </a:p>
        </p:txBody>
      </p:sp>
      <p:sp>
        <p:nvSpPr>
          <p:cNvPr id="28" name="CustomShape 27"/>
          <p:cNvSpPr/>
          <p:nvPr/>
        </p:nvSpPr>
        <p:spPr>
          <a:xfrm>
            <a:off x="2044080" y="4267080"/>
            <a:ext cx="5914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120 </a:t>
            </a:r>
            <a:r>
              <a:t/>
            </a:r>
            <a:br/>
            <a:r>
              <a:rPr lang="en-US" sz="800" b="1" strike="noStrike" spc="-1">
                <a:solidFill>
                  <a:srgbClr val="000000"/>
                </a:solidFill>
                <a:latin typeface="Calibri"/>
              </a:rPr>
              <a:t>rpm</a:t>
            </a:r>
            <a:endParaRPr lang="en-US" sz="800" b="0" strike="noStrike" spc="-1">
              <a:latin typeface="Arial"/>
            </a:endParaRPr>
          </a:p>
        </p:txBody>
      </p:sp>
      <p:sp>
        <p:nvSpPr>
          <p:cNvPr id="29" name="CustomShape 28"/>
          <p:cNvSpPr/>
          <p:nvPr/>
        </p:nvSpPr>
        <p:spPr>
          <a:xfrm>
            <a:off x="410400" y="3602160"/>
            <a:ext cx="2579760" cy="16855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30" name="CustomShape 29"/>
          <p:cNvSpPr/>
          <p:nvPr/>
        </p:nvSpPr>
        <p:spPr>
          <a:xfrm>
            <a:off x="3594240" y="3602520"/>
            <a:ext cx="2651760" cy="16855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31" name="CustomShape 30"/>
          <p:cNvSpPr/>
          <p:nvPr/>
        </p:nvSpPr>
        <p:spPr>
          <a:xfrm>
            <a:off x="6268320" y="4446360"/>
            <a:ext cx="567000" cy="360"/>
          </a:xfrm>
          <a:custGeom>
            <a:avLst/>
            <a:gdLst/>
            <a:ahLst/>
            <a:cxnLst/>
            <a:rect l="l" t="t" r="r" b="b"/>
            <a:pathLst>
              <a:path w="21600" h="21600">
                <a:moveTo>
                  <a:pt x="0" y="0"/>
                </a:moveTo>
                <a:lnTo>
                  <a:pt x="21600" y="21600"/>
                </a:lnTo>
              </a:path>
            </a:pathLst>
          </a:custGeom>
          <a:noFill/>
          <a:ln w="31680">
            <a:solidFill>
              <a:srgbClr val="2B7ED2"/>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32" name="CustomShape 31"/>
          <p:cNvSpPr/>
          <p:nvPr/>
        </p:nvSpPr>
        <p:spPr>
          <a:xfrm>
            <a:off x="6190920" y="3678120"/>
            <a:ext cx="751320" cy="70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2B7ED2"/>
                </a:solidFill>
                <a:latin typeface="Source Han Sans TW Medium"/>
                <a:ea typeface="Source Han Sans TW Medium"/>
              </a:rPr>
              <a:t>∇</a:t>
            </a:r>
            <a:r>
              <a:rPr lang="en-US" sz="1400" b="1" strike="noStrike" spc="-1">
                <a:solidFill>
                  <a:srgbClr val="2B7ED2"/>
                </a:solidFill>
                <a:latin typeface="Calibri"/>
                <a:ea typeface="Source Han Sans TW Medium"/>
              </a:rPr>
              <a:t>v</a:t>
            </a:r>
            <a:r>
              <a:rPr lang="en-US" sz="1400" b="0" strike="noStrike" spc="-1">
                <a:solidFill>
                  <a:srgbClr val="2B7ED2"/>
                </a:solidFill>
                <a:latin typeface="Calibri"/>
                <a:ea typeface="Source Han Sans TW Medium"/>
              </a:rPr>
              <a:t> along tracers</a:t>
            </a:r>
            <a:endParaRPr lang="en-US" sz="1400" b="0" strike="noStrike" spc="-1">
              <a:latin typeface="Arial"/>
            </a:endParaRPr>
          </a:p>
        </p:txBody>
      </p:sp>
      <p:pic>
        <p:nvPicPr>
          <p:cNvPr id="33" name="Immagine 9"/>
          <p:cNvPicPr/>
          <p:nvPr/>
        </p:nvPicPr>
        <p:blipFill>
          <a:blip r:embed="rId4"/>
          <a:stretch/>
        </p:blipFill>
        <p:spPr>
          <a:xfrm>
            <a:off x="6910560" y="3714120"/>
            <a:ext cx="1939680" cy="1440000"/>
          </a:xfrm>
          <a:prstGeom prst="rect">
            <a:avLst/>
          </a:prstGeom>
          <a:ln>
            <a:noFill/>
          </a:ln>
        </p:spPr>
      </p:pic>
      <p:sp>
        <p:nvSpPr>
          <p:cNvPr id="34" name="CustomShape 32"/>
          <p:cNvSpPr/>
          <p:nvPr/>
        </p:nvSpPr>
        <p:spPr>
          <a:xfrm>
            <a:off x="6880320" y="3602160"/>
            <a:ext cx="1989360" cy="16855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35" name="CustomShape 33"/>
          <p:cNvSpPr/>
          <p:nvPr/>
        </p:nvSpPr>
        <p:spPr>
          <a:xfrm>
            <a:off x="7362720" y="329940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36" name="CustomShape 34"/>
          <p:cNvSpPr/>
          <p:nvPr/>
        </p:nvSpPr>
        <p:spPr>
          <a:xfrm rot="18628800">
            <a:off x="7026480" y="2769120"/>
            <a:ext cx="964080" cy="352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Aggregate</a:t>
            </a:r>
            <a:r>
              <a:t/>
            </a:r>
            <a:br/>
            <a:r>
              <a:rPr lang="en-US" sz="1200" b="0" strike="noStrike" spc="-1">
                <a:solidFill>
                  <a:srgbClr val="7E3FBE"/>
                </a:solidFill>
                <a:latin typeface="Calibri"/>
                <a:ea typeface="DejaVu Sans"/>
              </a:rPr>
              <a:t> properties</a:t>
            </a:r>
            <a:endParaRPr lang="en-US" sz="1200" b="0" strike="noStrike" spc="-1">
              <a:latin typeface="Arial"/>
            </a:endParaRPr>
          </a:p>
        </p:txBody>
      </p:sp>
      <p:sp>
        <p:nvSpPr>
          <p:cNvPr id="37" name="CustomShape 35"/>
          <p:cNvSpPr/>
          <p:nvPr/>
        </p:nvSpPr>
        <p:spPr>
          <a:xfrm>
            <a:off x="8309160" y="330336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38" name="CustomShape 36"/>
          <p:cNvSpPr/>
          <p:nvPr/>
        </p:nvSpPr>
        <p:spPr>
          <a:xfrm rot="18628800">
            <a:off x="8017200" y="2832120"/>
            <a:ext cx="793800" cy="36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Adhesion</a:t>
            </a:r>
            <a:r>
              <a:t/>
            </a:r>
            <a:br/>
            <a:r>
              <a:rPr lang="en-US" sz="1200" b="0" strike="noStrike" spc="-1">
                <a:solidFill>
                  <a:srgbClr val="7E3FBE"/>
                </a:solidFill>
                <a:latin typeface="Calibri"/>
                <a:ea typeface="DejaVu Sans"/>
              </a:rPr>
              <a:t> forces</a:t>
            </a:r>
            <a:endParaRPr lang="en-US" sz="1200" b="0" strike="noStrike" spc="-1">
              <a:latin typeface="Arial"/>
            </a:endParaRPr>
          </a:p>
        </p:txBody>
      </p:sp>
      <p:pic>
        <p:nvPicPr>
          <p:cNvPr id="39" name="Immagine 32"/>
          <p:cNvPicPr/>
          <p:nvPr/>
        </p:nvPicPr>
        <p:blipFill>
          <a:blip r:embed="rId3"/>
          <a:srcRect l="24095" t="24717" r="20148" b="21344"/>
          <a:stretch/>
        </p:blipFill>
        <p:spPr>
          <a:xfrm>
            <a:off x="5347080" y="4210920"/>
            <a:ext cx="440640" cy="430920"/>
          </a:xfrm>
          <a:prstGeom prst="rect">
            <a:avLst/>
          </a:prstGeom>
          <a:ln>
            <a:noFill/>
          </a:ln>
        </p:spPr>
      </p:pic>
      <p:pic>
        <p:nvPicPr>
          <p:cNvPr id="40" name="Immagine 33"/>
          <p:cNvPicPr/>
          <p:nvPr/>
        </p:nvPicPr>
        <p:blipFill>
          <a:blip r:embed="rId3"/>
          <a:srcRect l="24095" t="24717" r="20148" b="21344"/>
          <a:stretch/>
        </p:blipFill>
        <p:spPr>
          <a:xfrm flipH="1">
            <a:off x="4085640" y="4206960"/>
            <a:ext cx="440640" cy="430560"/>
          </a:xfrm>
          <a:prstGeom prst="rect">
            <a:avLst/>
          </a:prstGeom>
          <a:ln>
            <a:noFill/>
          </a:ln>
        </p:spPr>
      </p:pic>
      <p:sp>
        <p:nvSpPr>
          <p:cNvPr id="41" name="CustomShape 37"/>
          <p:cNvSpPr/>
          <p:nvPr/>
        </p:nvSpPr>
        <p:spPr>
          <a:xfrm>
            <a:off x="4075920" y="4257720"/>
            <a:ext cx="47268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60 </a:t>
            </a:r>
            <a:r>
              <a:t/>
            </a:r>
            <a:br/>
            <a:r>
              <a:rPr lang="en-US" sz="700" b="1" strike="noStrike" spc="-1">
                <a:solidFill>
                  <a:srgbClr val="000000"/>
                </a:solidFill>
                <a:latin typeface="Calibri"/>
              </a:rPr>
              <a:t>rpm</a:t>
            </a:r>
            <a:endParaRPr lang="en-US" sz="700" b="0" strike="noStrike" spc="-1">
              <a:latin typeface="Arial"/>
            </a:endParaRPr>
          </a:p>
        </p:txBody>
      </p:sp>
      <p:sp>
        <p:nvSpPr>
          <p:cNvPr id="42" name="CustomShape 38"/>
          <p:cNvSpPr/>
          <p:nvPr/>
        </p:nvSpPr>
        <p:spPr>
          <a:xfrm>
            <a:off x="5259960" y="4269960"/>
            <a:ext cx="59076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120 </a:t>
            </a:r>
            <a:r>
              <a:t/>
            </a:r>
            <a:br/>
            <a:r>
              <a:rPr lang="en-US" sz="700" b="1" strike="noStrike" spc="-1">
                <a:solidFill>
                  <a:srgbClr val="000000"/>
                </a:solidFill>
                <a:latin typeface="Calibri"/>
              </a:rPr>
              <a:t>rpm</a:t>
            </a:r>
            <a:endParaRPr lang="en-US" sz="700" b="0" strike="noStrike" spc="-1">
              <a:latin typeface="Arial"/>
            </a:endParaRPr>
          </a:p>
        </p:txBody>
      </p:sp>
      <p:sp>
        <p:nvSpPr>
          <p:cNvPr id="43" name="CustomShape 39"/>
          <p:cNvSpPr/>
          <p:nvPr/>
        </p:nvSpPr>
        <p:spPr>
          <a:xfrm>
            <a:off x="4519080" y="3655440"/>
            <a:ext cx="943200" cy="19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F10D0C"/>
                </a:solidFill>
                <a:latin typeface="Calibri"/>
              </a:rPr>
              <a:t>tracer particles</a:t>
            </a:r>
            <a:endParaRPr lang="en-US" sz="700" b="0" strike="noStrike" spc="-1">
              <a:latin typeface="Arial"/>
            </a:endParaRPr>
          </a:p>
        </p:txBody>
      </p:sp>
      <p:sp>
        <p:nvSpPr>
          <p:cNvPr id="44" name="CustomShape 40"/>
          <p:cNvSpPr/>
          <p:nvPr/>
        </p:nvSpPr>
        <p:spPr>
          <a:xfrm>
            <a:off x="4802760" y="3989520"/>
            <a:ext cx="404280" cy="603720"/>
          </a:xfrm>
          <a:custGeom>
            <a:avLst/>
            <a:gdLst/>
            <a:ahLst/>
            <a:cxnLst/>
            <a:rect l="l" t="t" r="r" b="b"/>
            <a:pathLst>
              <a:path w="671804" h="1007706">
                <a:moveTo>
                  <a:pt x="671804" y="0"/>
                </a:moveTo>
                <a:cubicBezTo>
                  <a:pt x="513183" y="86308"/>
                  <a:pt x="354563" y="172616"/>
                  <a:pt x="289249" y="289249"/>
                </a:cubicBezTo>
                <a:cubicBezTo>
                  <a:pt x="223935" y="405882"/>
                  <a:pt x="328126" y="580053"/>
                  <a:pt x="279918" y="699796"/>
                </a:cubicBezTo>
                <a:cubicBezTo>
                  <a:pt x="231710" y="819539"/>
                  <a:pt x="76200" y="892629"/>
                  <a:pt x="0" y="1007706"/>
                </a:cubicBezTo>
              </a:path>
            </a:pathLst>
          </a:custGeom>
          <a:noFill/>
          <a:ln w="29160">
            <a:solidFill>
              <a:srgbClr val="C00000"/>
            </a:solidFill>
            <a:miter/>
          </a:ln>
        </p:spPr>
        <p:style>
          <a:lnRef idx="0">
            <a:scrgbClr r="0" g="0" b="0"/>
          </a:lnRef>
          <a:fillRef idx="0">
            <a:scrgbClr r="0" g="0" b="0"/>
          </a:fillRef>
          <a:effectRef idx="0">
            <a:scrgbClr r="0" g="0" b="0"/>
          </a:effectRef>
          <a:fontRef idx="minor"/>
        </p:style>
      </p:sp>
      <p:sp>
        <p:nvSpPr>
          <p:cNvPr id="45" name="CustomShape 41"/>
          <p:cNvSpPr/>
          <p:nvPr/>
        </p:nvSpPr>
        <p:spPr>
          <a:xfrm flipV="1">
            <a:off x="5205240" y="3947040"/>
            <a:ext cx="61560" cy="6120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46" name="Freeform 42"/>
          <p:cNvSpPr/>
          <p:nvPr/>
        </p:nvSpPr>
        <p:spPr>
          <a:xfrm>
            <a:off x="4646520" y="3956760"/>
            <a:ext cx="197640" cy="442080"/>
          </a:xfrm>
          <a:custGeom>
            <a:avLst/>
            <a:gdLst/>
            <a:ahLst/>
            <a:cxnLst/>
            <a:rect l="0" t="0" r="r" b="b"/>
            <a:pathLst>
              <a:path w="549" h="1228">
                <a:moveTo>
                  <a:pt x="447" y="1227"/>
                </a:moveTo>
                <a:cubicBezTo>
                  <a:pt x="432" y="1175"/>
                  <a:pt x="447" y="1121"/>
                  <a:pt x="464" y="1074"/>
                </a:cubicBezTo>
                <a:cubicBezTo>
                  <a:pt x="485" y="1015"/>
                  <a:pt x="528" y="962"/>
                  <a:pt x="528" y="897"/>
                </a:cubicBezTo>
                <a:cubicBezTo>
                  <a:pt x="528" y="841"/>
                  <a:pt x="548" y="784"/>
                  <a:pt x="523" y="729"/>
                </a:cubicBezTo>
                <a:cubicBezTo>
                  <a:pt x="499" y="674"/>
                  <a:pt x="452" y="631"/>
                  <a:pt x="446" y="570"/>
                </a:cubicBezTo>
                <a:cubicBezTo>
                  <a:pt x="440" y="510"/>
                  <a:pt x="394" y="465"/>
                  <a:pt x="382" y="408"/>
                </a:cubicBezTo>
                <a:cubicBezTo>
                  <a:pt x="371" y="348"/>
                  <a:pt x="329" y="303"/>
                  <a:pt x="305" y="249"/>
                </a:cubicBezTo>
                <a:cubicBezTo>
                  <a:pt x="276" y="182"/>
                  <a:pt x="201" y="150"/>
                  <a:pt x="155" y="95"/>
                </a:cubicBezTo>
                <a:cubicBezTo>
                  <a:pt x="117" y="48"/>
                  <a:pt x="60" y="14"/>
                  <a:pt x="0" y="0"/>
                </a:cubicBezTo>
              </a:path>
            </a:pathLst>
          </a:custGeom>
          <a:ln w="29160">
            <a:solidFill>
              <a:srgbClr val="C9211E"/>
            </a:solidFill>
            <a:round/>
          </a:ln>
        </p:spPr>
      </p:sp>
      <p:sp>
        <p:nvSpPr>
          <p:cNvPr id="47" name="CustomShape 43"/>
          <p:cNvSpPr/>
          <p:nvPr/>
        </p:nvSpPr>
        <p:spPr>
          <a:xfrm flipV="1">
            <a:off x="4598640" y="3924720"/>
            <a:ext cx="61560" cy="6084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48" name="Freeform 44"/>
          <p:cNvSpPr/>
          <p:nvPr/>
        </p:nvSpPr>
        <p:spPr>
          <a:xfrm>
            <a:off x="3855240" y="4103280"/>
            <a:ext cx="226800" cy="726120"/>
          </a:xfrm>
          <a:custGeom>
            <a:avLst/>
            <a:gdLst/>
            <a:ahLst/>
            <a:cxnLst/>
            <a:rect l="0" t="0" r="r" b="b"/>
            <a:pathLst>
              <a:path w="630" h="2017">
                <a:moveTo>
                  <a:pt x="124" y="0"/>
                </a:moveTo>
                <a:cubicBezTo>
                  <a:pt x="108" y="72"/>
                  <a:pt x="67" y="139"/>
                  <a:pt x="56" y="213"/>
                </a:cubicBezTo>
                <a:cubicBezTo>
                  <a:pt x="43" y="295"/>
                  <a:pt x="20" y="374"/>
                  <a:pt x="20" y="458"/>
                </a:cubicBezTo>
                <a:cubicBezTo>
                  <a:pt x="20" y="527"/>
                  <a:pt x="0" y="596"/>
                  <a:pt x="6" y="666"/>
                </a:cubicBezTo>
                <a:cubicBezTo>
                  <a:pt x="11" y="736"/>
                  <a:pt x="18" y="805"/>
                  <a:pt x="34" y="874"/>
                </a:cubicBezTo>
                <a:cubicBezTo>
                  <a:pt x="50" y="948"/>
                  <a:pt x="46" y="1030"/>
                  <a:pt x="84" y="1097"/>
                </a:cubicBezTo>
                <a:cubicBezTo>
                  <a:pt x="116" y="1155"/>
                  <a:pt x="128" y="1216"/>
                  <a:pt x="148" y="1278"/>
                </a:cubicBezTo>
                <a:cubicBezTo>
                  <a:pt x="171" y="1353"/>
                  <a:pt x="198" y="1426"/>
                  <a:pt x="234" y="1495"/>
                </a:cubicBezTo>
                <a:cubicBezTo>
                  <a:pt x="264" y="1558"/>
                  <a:pt x="284" y="1628"/>
                  <a:pt x="335" y="1681"/>
                </a:cubicBezTo>
                <a:cubicBezTo>
                  <a:pt x="386" y="1736"/>
                  <a:pt x="415" y="1803"/>
                  <a:pt x="475" y="1858"/>
                </a:cubicBezTo>
                <a:cubicBezTo>
                  <a:pt x="529" y="1907"/>
                  <a:pt x="571" y="1967"/>
                  <a:pt x="629" y="2012"/>
                </a:cubicBezTo>
                <a:lnTo>
                  <a:pt x="629" y="2016"/>
                </a:lnTo>
              </a:path>
            </a:pathLst>
          </a:custGeom>
          <a:ln w="29160">
            <a:solidFill>
              <a:srgbClr val="C9211E"/>
            </a:solidFill>
            <a:round/>
          </a:ln>
        </p:spPr>
      </p:sp>
      <p:sp>
        <p:nvSpPr>
          <p:cNvPr id="49" name="CustomShape 45"/>
          <p:cNvSpPr/>
          <p:nvPr/>
        </p:nvSpPr>
        <p:spPr>
          <a:xfrm flipV="1">
            <a:off x="4073760" y="4809960"/>
            <a:ext cx="61560" cy="6120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50" name="CustomShape 46"/>
          <p:cNvSpPr/>
          <p:nvPr/>
        </p:nvSpPr>
        <p:spPr>
          <a:xfrm>
            <a:off x="448200" y="1268640"/>
            <a:ext cx="8207640" cy="46800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70000" indent="-269640">
              <a:lnSpc>
                <a:spcPct val="100000"/>
              </a:lnSpc>
              <a:spcAft>
                <a:spcPts val="675"/>
              </a:spcAft>
              <a:buClr>
                <a:srgbClr val="12235A"/>
              </a:buClr>
              <a:buFont typeface="Wingdings" charset="2"/>
              <a:buChar char=""/>
            </a:pPr>
            <a:r>
              <a:rPr lang="en-US" sz="2000" b="1" strike="noStrike" spc="-1" dirty="0">
                <a:solidFill>
                  <a:srgbClr val="000000"/>
                </a:solidFill>
                <a:latin typeface="Calibri"/>
              </a:rPr>
              <a:t>Principle</a:t>
            </a:r>
            <a:r>
              <a:rPr lang="en-US" sz="2000" b="0" strike="noStrike" spc="-1" dirty="0">
                <a:solidFill>
                  <a:srgbClr val="000000"/>
                </a:solidFill>
                <a:latin typeface="Calibri"/>
              </a:rPr>
              <a:t>:  </a:t>
            </a:r>
            <a:r>
              <a:rPr lang="en-US" sz="1800" b="0" strike="noStrike" spc="-1" dirty="0">
                <a:solidFill>
                  <a:srgbClr val="000000"/>
                </a:solidFill>
                <a:latin typeface="Calibri"/>
              </a:rPr>
              <a:t>Workflow with 4 steps to compute aggregate fragmentation in rotors</a:t>
            </a:r>
            <a:endParaRPr lang="en-US" sz="1800" b="0" strike="noStrike" spc="-1" dirty="0">
              <a:latin typeface="Arial"/>
            </a:endParaRPr>
          </a:p>
          <a:p>
            <a:pPr marL="270000" indent="-269640">
              <a:lnSpc>
                <a:spcPct val="100000"/>
              </a:lnSpc>
              <a:spcAft>
                <a:spcPts val="675"/>
              </a:spcAft>
              <a:buClr>
                <a:srgbClr val="12235A"/>
              </a:buClr>
              <a:buFont typeface="Wingdings" charset="2"/>
              <a:buChar char=""/>
            </a:pPr>
            <a:r>
              <a:rPr lang="en-US" sz="1800" b="0" strike="noStrike" spc="-1" dirty="0">
                <a:solidFill>
                  <a:srgbClr val="000000"/>
                </a:solidFill>
                <a:latin typeface="Calibri"/>
              </a:rPr>
              <a:t>(Only 3 steps are shown here)</a:t>
            </a:r>
            <a:endParaRPr lang="en-US" sz="1800" b="0" strike="noStrike" spc="-1" dirty="0">
              <a:latin typeface="Arial"/>
            </a:endParaRPr>
          </a:p>
        </p:txBody>
      </p:sp>
      <p:sp>
        <p:nvSpPr>
          <p:cNvPr id="51" name="CustomShape 6"/>
          <p:cNvSpPr/>
          <p:nvPr/>
        </p:nvSpPr>
        <p:spPr>
          <a:xfrm>
            <a:off x="132120" y="2103120"/>
            <a:ext cx="8909280" cy="3748320"/>
          </a:xfrm>
          <a:prstGeom prst="roundRect">
            <a:avLst>
              <a:gd name="adj" fmla="val 8029"/>
            </a:avLst>
          </a:prstGeom>
          <a:noFill/>
          <a:ln w="19080">
            <a:solidFill>
              <a:srgbClr val="FF0000"/>
            </a:solidFill>
            <a:custDash>
              <a:ds d="200000" sp="100000"/>
            </a:custDash>
            <a:miter/>
          </a:ln>
        </p:spPr>
        <p:style>
          <a:lnRef idx="0">
            <a:scrgbClr r="0" g="0" b="0"/>
          </a:lnRef>
          <a:fillRef idx="0">
            <a:scrgbClr r="0" g="0" b="0"/>
          </a:fillRef>
          <a:effectRef idx="0">
            <a:scrgbClr r="0" g="0" b="0"/>
          </a:effectRef>
          <a:fontRef idx="minor"/>
        </p:style>
      </p:sp>
      <p:sp>
        <p:nvSpPr>
          <p:cNvPr id="52" name="CustomShape 47"/>
          <p:cNvSpPr/>
          <p:nvPr/>
        </p:nvSpPr>
        <p:spPr>
          <a:xfrm>
            <a:off x="8099640" y="2247120"/>
            <a:ext cx="878040" cy="4489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53" name="CustomShape 48"/>
          <p:cNvSpPr/>
          <p:nvPr/>
        </p:nvSpPr>
        <p:spPr>
          <a:xfrm>
            <a:off x="7997314" y="2208648"/>
            <a:ext cx="1082692" cy="39221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i="1" strike="noStrike" spc="-1" dirty="0">
                <a:solidFill>
                  <a:srgbClr val="333333"/>
                </a:solidFill>
                <a:latin typeface="Calibri"/>
                <a:ea typeface="DejaVu Sans"/>
              </a:rPr>
              <a:t>MD </a:t>
            </a:r>
            <a:r>
              <a:rPr dirty="0"/>
              <a:t/>
            </a:r>
            <a:br>
              <a:rPr dirty="0"/>
            </a:br>
            <a:r>
              <a:rPr lang="en-US" sz="1400" b="0" i="1" strike="noStrike" spc="-1" dirty="0">
                <a:solidFill>
                  <a:srgbClr val="333333"/>
                </a:solidFill>
                <a:latin typeface="Calibri"/>
                <a:ea typeface="DejaVu Sans"/>
              </a:rPr>
              <a:t>simulations</a:t>
            </a:r>
            <a:endParaRPr lang="en-US" sz="1400" b="0" strike="noStrike" spc="-1" dirty="0">
              <a:latin typeface="Arial"/>
            </a:endParaRPr>
          </a:p>
        </p:txBody>
      </p:sp>
      <p:sp>
        <p:nvSpPr>
          <p:cNvPr id="54" name="CustomShape 10"/>
          <p:cNvSpPr/>
          <p:nvPr/>
        </p:nvSpPr>
        <p:spPr>
          <a:xfrm>
            <a:off x="112680" y="2852640"/>
            <a:ext cx="726840" cy="358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dirty="0">
                <a:solidFill>
                  <a:srgbClr val="7E3FBE"/>
                </a:solidFill>
                <a:latin typeface="Calibri"/>
                <a:ea typeface="DejaVu Sans"/>
              </a:rPr>
              <a:t>Input</a:t>
            </a:r>
            <a:endParaRPr lang="en-US" sz="1400" b="0" strike="noStrike" spc="-1" dirty="0">
              <a:latin typeface="Arial"/>
            </a:endParaRPr>
          </a:p>
        </p:txBody>
      </p:sp>
      <p:sp>
        <p:nvSpPr>
          <p:cNvPr id="55" name="Rectangle 54"/>
          <p:cNvSpPr/>
          <p:nvPr/>
        </p:nvSpPr>
        <p:spPr>
          <a:xfrm>
            <a:off x="328201" y="5556995"/>
            <a:ext cx="559256" cy="307777"/>
          </a:xfrm>
          <a:prstGeom prst="rect">
            <a:avLst/>
          </a:prstGeom>
        </p:spPr>
        <p:txBody>
          <a:bodyPr wrap="none">
            <a:spAutoFit/>
          </a:bodyPr>
          <a:lstStyle/>
          <a:p>
            <a:r>
              <a:rPr lang="en-US" sz="1400" spc="-1" dirty="0">
                <a:solidFill>
                  <a:srgbClr val="008000"/>
                </a:solidFill>
                <a:latin typeface="Calibri"/>
                <a:ea typeface="DejaVu Sans"/>
              </a:rPr>
              <a:t>Code</a:t>
            </a:r>
            <a:endParaRPr lang="fr-FR" sz="1400" dirty="0"/>
          </a:p>
        </p:txBody>
      </p:sp>
      <p:sp>
        <p:nvSpPr>
          <p:cNvPr id="56" name="Rectangle 55"/>
          <p:cNvSpPr/>
          <p:nvPr/>
        </p:nvSpPr>
        <p:spPr>
          <a:xfrm>
            <a:off x="4238671" y="3244334"/>
            <a:ext cx="666657" cy="369332"/>
          </a:xfrm>
          <a:prstGeom prst="rect">
            <a:avLst/>
          </a:prstGeom>
        </p:spPr>
        <p:txBody>
          <a:bodyPr wrap="none">
            <a:spAutoFit/>
          </a:bodyPr>
          <a:lstStyle/>
          <a:p>
            <a:r>
              <a:rPr lang="en-US" spc="-1" dirty="0">
                <a:solidFill>
                  <a:srgbClr val="008000"/>
                </a:solidFill>
                <a:latin typeface="Calibri"/>
                <a:ea typeface="DejaVu Sans"/>
              </a:rPr>
              <a:t>Code</a:t>
            </a:r>
            <a:endParaRPr lang="fr-FR" dirty="0"/>
          </a:p>
        </p:txBody>
      </p:sp>
      <p:sp>
        <p:nvSpPr>
          <p:cNvPr id="57" name="CustomShape 19"/>
          <p:cNvSpPr/>
          <p:nvPr/>
        </p:nvSpPr>
        <p:spPr>
          <a:xfrm>
            <a:off x="11878" y="5299116"/>
            <a:ext cx="11916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dirty="0">
                <a:solidFill>
                  <a:srgbClr val="333333"/>
                </a:solidFill>
                <a:latin typeface="Calibri"/>
                <a:ea typeface="DejaVu Sans"/>
              </a:rPr>
              <a:t>Tool</a:t>
            </a:r>
            <a:endParaRPr lang="en-US" sz="1400" b="0" strike="noStrike" spc="-1" dirty="0">
              <a:latin typeface="Arial"/>
            </a:endParaRPr>
          </a:p>
        </p:txBody>
      </p:sp>
      <p:sp>
        <p:nvSpPr>
          <p:cNvPr id="58" name="Text Box 2"/>
          <p:cNvSpPr txBox="1">
            <a:spLocks noChangeArrowheads="1"/>
          </p:cNvSpPr>
          <p:nvPr/>
        </p:nvSpPr>
        <p:spPr bwMode="auto">
          <a:xfrm>
            <a:off x="10633" y="1"/>
            <a:ext cx="9133367" cy="545760"/>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illustration pratique 1/4</a:t>
            </a:r>
            <a:endParaRPr lang="fr-FR" altLang="fr-FR" sz="2800" dirty="0">
              <a:solidFill>
                <a:srgbClr val="001A70"/>
              </a:solidFill>
              <a:cs typeface="Arial" panose="020B0604020202020204" pitchFamily="34" charset="0"/>
            </a:endParaRPr>
          </a:p>
        </p:txBody>
      </p:sp>
    </p:spTree>
    <p:extLst>
      <p:ext uri="{BB962C8B-B14F-4D97-AF65-F5344CB8AC3E}">
        <p14:creationId xmlns:p14="http://schemas.microsoft.com/office/powerpoint/2010/main" val="24031917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ustomShape 1"/>
          <p:cNvSpPr/>
          <p:nvPr/>
        </p:nvSpPr>
        <p:spPr>
          <a:xfrm>
            <a:off x="466560" y="548640"/>
            <a:ext cx="8206920" cy="368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1" strike="noStrike" spc="-1">
                <a:solidFill>
                  <a:srgbClr val="12235A"/>
                </a:solidFill>
                <a:latin typeface="Calibri"/>
                <a:ea typeface="DejaVu Sans"/>
              </a:rPr>
              <a:t>Illustration of the CDM on practical workflows: use-case 3 (Continental)</a:t>
            </a:r>
            <a:endParaRPr lang="en-US" sz="2000" b="0" strike="noStrike" spc="-1">
              <a:latin typeface="Arial"/>
            </a:endParaRPr>
          </a:p>
        </p:txBody>
      </p:sp>
      <p:sp>
        <p:nvSpPr>
          <p:cNvPr id="108" name="CustomShape 1"/>
          <p:cNvSpPr/>
          <p:nvPr/>
        </p:nvSpPr>
        <p:spPr>
          <a:xfrm>
            <a:off x="466560" y="548640"/>
            <a:ext cx="8206920" cy="368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1" strike="noStrike" spc="-1">
                <a:solidFill>
                  <a:srgbClr val="12235A"/>
                </a:solidFill>
                <a:latin typeface="Calibri"/>
                <a:ea typeface="DejaVu Sans"/>
              </a:rPr>
              <a:t>Illustration of the CDM on practical workflows: use-case 3 (Continental)</a:t>
            </a:r>
            <a:endParaRPr lang="en-US" sz="2000" b="0" strike="noStrike" spc="-1">
              <a:latin typeface="Arial"/>
            </a:endParaRPr>
          </a:p>
        </p:txBody>
      </p:sp>
      <p:sp>
        <p:nvSpPr>
          <p:cNvPr id="112" name="CustomShape 2"/>
          <p:cNvSpPr/>
          <p:nvPr/>
        </p:nvSpPr>
        <p:spPr>
          <a:xfrm>
            <a:off x="2273400" y="2013840"/>
            <a:ext cx="1735200" cy="32652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86760" tIns="41760" rIns="86760" bIns="41760">
            <a:spAutoFit/>
          </a:bodyPr>
          <a:lstStyle/>
          <a:p>
            <a:pPr>
              <a:lnSpc>
                <a:spcPct val="100000"/>
              </a:lnSpc>
              <a:spcAft>
                <a:spcPts val="479"/>
              </a:spcAft>
            </a:pPr>
            <a:r>
              <a:rPr lang="en-US" sz="1600" b="1" strike="noStrike" spc="-1">
                <a:solidFill>
                  <a:srgbClr val="CE181E"/>
                </a:solidFill>
                <a:latin typeface="Calibri"/>
                <a:ea typeface="DejaVu Sans"/>
              </a:rPr>
              <a:t>Continuum system</a:t>
            </a:r>
            <a:endParaRPr lang="en-US" sz="1600" b="0" strike="noStrike" spc="-1">
              <a:latin typeface="Arial"/>
            </a:endParaRPr>
          </a:p>
        </p:txBody>
      </p:sp>
      <p:pic>
        <p:nvPicPr>
          <p:cNvPr id="113" name="Immagine 23"/>
          <p:cNvPicPr/>
          <p:nvPr/>
        </p:nvPicPr>
        <p:blipFill>
          <a:blip r:embed="rId2"/>
          <a:srcRect l="9656" t="17454" r="8998" b="10100"/>
          <a:stretch/>
        </p:blipFill>
        <p:spPr>
          <a:xfrm>
            <a:off x="318240" y="1567800"/>
            <a:ext cx="1773360" cy="994680"/>
          </a:xfrm>
          <a:prstGeom prst="rect">
            <a:avLst/>
          </a:prstGeom>
          <a:ln>
            <a:noFill/>
          </a:ln>
        </p:spPr>
      </p:pic>
      <p:sp>
        <p:nvSpPr>
          <p:cNvPr id="114" name="CustomShape 3"/>
          <p:cNvSpPr/>
          <p:nvPr/>
        </p:nvSpPr>
        <p:spPr>
          <a:xfrm>
            <a:off x="306360" y="1567800"/>
            <a:ext cx="1785240" cy="99468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pic>
        <p:nvPicPr>
          <p:cNvPr id="115" name="Immagine 32"/>
          <p:cNvPicPr/>
          <p:nvPr/>
        </p:nvPicPr>
        <p:blipFill>
          <a:blip r:embed="rId3"/>
          <a:srcRect l="24095" t="24717" r="20148" b="21344"/>
          <a:stretch/>
        </p:blipFill>
        <p:spPr>
          <a:xfrm>
            <a:off x="1484640" y="1876320"/>
            <a:ext cx="316440" cy="310320"/>
          </a:xfrm>
          <a:prstGeom prst="rect">
            <a:avLst/>
          </a:prstGeom>
          <a:ln>
            <a:noFill/>
          </a:ln>
        </p:spPr>
      </p:pic>
      <p:pic>
        <p:nvPicPr>
          <p:cNvPr id="116" name="Immagine 33"/>
          <p:cNvPicPr/>
          <p:nvPr/>
        </p:nvPicPr>
        <p:blipFill>
          <a:blip r:embed="rId3"/>
          <a:srcRect l="24095" t="24717" r="20148" b="21344"/>
          <a:stretch/>
        </p:blipFill>
        <p:spPr>
          <a:xfrm flipH="1">
            <a:off x="578880" y="1873080"/>
            <a:ext cx="316440" cy="310320"/>
          </a:xfrm>
          <a:prstGeom prst="rect">
            <a:avLst/>
          </a:prstGeom>
          <a:ln>
            <a:noFill/>
          </a:ln>
        </p:spPr>
      </p:pic>
      <p:sp>
        <p:nvSpPr>
          <p:cNvPr id="117" name="CustomShape 4"/>
          <p:cNvSpPr/>
          <p:nvPr/>
        </p:nvSpPr>
        <p:spPr>
          <a:xfrm>
            <a:off x="509040" y="1849680"/>
            <a:ext cx="444960" cy="333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60</a:t>
            </a:r>
            <a:r>
              <a:t/>
            </a:r>
            <a:br/>
            <a:r>
              <a:rPr lang="en-US" sz="800" b="1" strike="noStrike" spc="-1">
                <a:solidFill>
                  <a:srgbClr val="000000"/>
                </a:solidFill>
                <a:latin typeface="Calibri"/>
              </a:rPr>
              <a:t>rpm</a:t>
            </a:r>
            <a:endParaRPr lang="en-US" sz="800" b="0" strike="noStrike" spc="-1">
              <a:latin typeface="Arial"/>
            </a:endParaRPr>
          </a:p>
        </p:txBody>
      </p:sp>
      <p:sp>
        <p:nvSpPr>
          <p:cNvPr id="118" name="CustomShape 5"/>
          <p:cNvSpPr/>
          <p:nvPr/>
        </p:nvSpPr>
        <p:spPr>
          <a:xfrm>
            <a:off x="1442520" y="1863360"/>
            <a:ext cx="4240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120 </a:t>
            </a:r>
            <a:r>
              <a:t/>
            </a:r>
            <a:br/>
            <a:r>
              <a:rPr lang="en-US" sz="800" b="1" strike="noStrike" spc="-1">
                <a:solidFill>
                  <a:srgbClr val="000000"/>
                </a:solidFill>
                <a:latin typeface="Calibri"/>
              </a:rPr>
              <a:t>rpm</a:t>
            </a:r>
            <a:endParaRPr lang="en-US" sz="800" b="0" strike="noStrike" spc="-1">
              <a:latin typeface="Arial"/>
            </a:endParaRPr>
          </a:p>
        </p:txBody>
      </p:sp>
      <p:sp>
        <p:nvSpPr>
          <p:cNvPr id="119" name="CustomShape 6"/>
          <p:cNvSpPr/>
          <p:nvPr/>
        </p:nvSpPr>
        <p:spPr>
          <a:xfrm>
            <a:off x="266760" y="1495800"/>
            <a:ext cx="1850760" cy="108396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120" name="CustomShape 7"/>
          <p:cNvSpPr/>
          <p:nvPr/>
        </p:nvSpPr>
        <p:spPr>
          <a:xfrm>
            <a:off x="274680" y="3191040"/>
            <a:ext cx="1847160" cy="106956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pic>
        <p:nvPicPr>
          <p:cNvPr id="121" name="Immagine 23"/>
          <p:cNvPicPr/>
          <p:nvPr/>
        </p:nvPicPr>
        <p:blipFill>
          <a:blip r:embed="rId2"/>
          <a:srcRect l="9656" t="17454" r="8998" b="10100"/>
          <a:stretch/>
        </p:blipFill>
        <p:spPr>
          <a:xfrm>
            <a:off x="365400" y="3293280"/>
            <a:ext cx="1719360" cy="947160"/>
          </a:xfrm>
          <a:prstGeom prst="rect">
            <a:avLst/>
          </a:prstGeom>
          <a:ln>
            <a:noFill/>
          </a:ln>
        </p:spPr>
      </p:pic>
      <p:sp>
        <p:nvSpPr>
          <p:cNvPr id="122" name="CustomShape 8"/>
          <p:cNvSpPr/>
          <p:nvPr/>
        </p:nvSpPr>
        <p:spPr>
          <a:xfrm>
            <a:off x="354600" y="3293280"/>
            <a:ext cx="1730160" cy="94716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pic>
        <p:nvPicPr>
          <p:cNvPr id="123" name="Immagine 32"/>
          <p:cNvPicPr/>
          <p:nvPr/>
        </p:nvPicPr>
        <p:blipFill>
          <a:blip r:embed="rId3"/>
          <a:srcRect l="24095" t="24717" r="20148" b="21344"/>
          <a:stretch/>
        </p:blipFill>
        <p:spPr>
          <a:xfrm>
            <a:off x="1492200" y="3588840"/>
            <a:ext cx="313920" cy="294120"/>
          </a:xfrm>
          <a:prstGeom prst="rect">
            <a:avLst/>
          </a:prstGeom>
          <a:ln>
            <a:noFill/>
          </a:ln>
        </p:spPr>
      </p:pic>
      <p:pic>
        <p:nvPicPr>
          <p:cNvPr id="124" name="Immagine 33"/>
          <p:cNvPicPr/>
          <p:nvPr/>
        </p:nvPicPr>
        <p:blipFill>
          <a:blip r:embed="rId3"/>
          <a:srcRect l="24095" t="24717" r="20148" b="21344"/>
          <a:stretch/>
        </p:blipFill>
        <p:spPr>
          <a:xfrm flipH="1">
            <a:off x="618840" y="3586320"/>
            <a:ext cx="302760" cy="295200"/>
          </a:xfrm>
          <a:prstGeom prst="rect">
            <a:avLst/>
          </a:prstGeom>
          <a:ln>
            <a:noFill/>
          </a:ln>
        </p:spPr>
      </p:pic>
      <p:sp>
        <p:nvSpPr>
          <p:cNvPr id="125" name="CustomShape 9"/>
          <p:cNvSpPr/>
          <p:nvPr/>
        </p:nvSpPr>
        <p:spPr>
          <a:xfrm>
            <a:off x="582120" y="3577320"/>
            <a:ext cx="39204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60 </a:t>
            </a:r>
            <a:r>
              <a:t/>
            </a:r>
            <a:br/>
            <a:r>
              <a:rPr lang="en-US" sz="700" b="1" strike="noStrike" spc="-1">
                <a:solidFill>
                  <a:srgbClr val="000000"/>
                </a:solidFill>
                <a:latin typeface="Calibri"/>
              </a:rPr>
              <a:t>rpm</a:t>
            </a:r>
            <a:endParaRPr lang="en-US" sz="700" b="0" strike="noStrike" spc="-1">
              <a:latin typeface="Arial"/>
            </a:endParaRPr>
          </a:p>
        </p:txBody>
      </p:sp>
      <p:sp>
        <p:nvSpPr>
          <p:cNvPr id="126" name="CustomShape 10"/>
          <p:cNvSpPr/>
          <p:nvPr/>
        </p:nvSpPr>
        <p:spPr>
          <a:xfrm>
            <a:off x="1452600" y="3580920"/>
            <a:ext cx="41328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120 </a:t>
            </a:r>
            <a:r>
              <a:t/>
            </a:r>
            <a:br/>
            <a:r>
              <a:rPr lang="en-US" sz="700" b="1" strike="noStrike" spc="-1">
                <a:solidFill>
                  <a:srgbClr val="000000"/>
                </a:solidFill>
                <a:latin typeface="Calibri"/>
              </a:rPr>
              <a:t>rpm</a:t>
            </a:r>
            <a:endParaRPr lang="en-US" sz="700" b="0" strike="noStrike" spc="-1">
              <a:latin typeface="Arial"/>
            </a:endParaRPr>
          </a:p>
        </p:txBody>
      </p:sp>
      <p:sp>
        <p:nvSpPr>
          <p:cNvPr id="127" name="CustomShape 11"/>
          <p:cNvSpPr/>
          <p:nvPr/>
        </p:nvSpPr>
        <p:spPr>
          <a:xfrm>
            <a:off x="810360" y="3160800"/>
            <a:ext cx="819720" cy="19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F10D0C"/>
                </a:solidFill>
                <a:latin typeface="Calibri"/>
              </a:rPr>
              <a:t>tracer particles</a:t>
            </a:r>
            <a:endParaRPr lang="en-US" sz="700" b="0" strike="noStrike" spc="-1">
              <a:latin typeface="Arial"/>
            </a:endParaRPr>
          </a:p>
        </p:txBody>
      </p:sp>
      <p:sp>
        <p:nvSpPr>
          <p:cNvPr id="128" name="CustomShape 12"/>
          <p:cNvSpPr/>
          <p:nvPr/>
        </p:nvSpPr>
        <p:spPr>
          <a:xfrm>
            <a:off x="1118880" y="3432600"/>
            <a:ext cx="280800" cy="414720"/>
          </a:xfrm>
          <a:custGeom>
            <a:avLst/>
            <a:gdLst/>
            <a:ahLst/>
            <a:cxnLst/>
            <a:rect l="l" t="t" r="r" b="b"/>
            <a:pathLst>
              <a:path w="671804" h="1007706">
                <a:moveTo>
                  <a:pt x="671804" y="0"/>
                </a:moveTo>
                <a:cubicBezTo>
                  <a:pt x="513183" y="86308"/>
                  <a:pt x="354563" y="172616"/>
                  <a:pt x="289249" y="289249"/>
                </a:cubicBezTo>
                <a:cubicBezTo>
                  <a:pt x="223935" y="405882"/>
                  <a:pt x="328126" y="580053"/>
                  <a:pt x="279918" y="699796"/>
                </a:cubicBezTo>
                <a:cubicBezTo>
                  <a:pt x="231710" y="819539"/>
                  <a:pt x="76200" y="892629"/>
                  <a:pt x="0" y="1007706"/>
                </a:cubicBezTo>
              </a:path>
            </a:pathLst>
          </a:custGeom>
          <a:noFill/>
          <a:ln w="29160">
            <a:solidFill>
              <a:srgbClr val="C00000"/>
            </a:solidFill>
            <a:miter/>
          </a:ln>
        </p:spPr>
        <p:style>
          <a:lnRef idx="0">
            <a:scrgbClr r="0" g="0" b="0"/>
          </a:lnRef>
          <a:fillRef idx="0">
            <a:scrgbClr r="0" g="0" b="0"/>
          </a:fillRef>
          <a:effectRef idx="0">
            <a:scrgbClr r="0" g="0" b="0"/>
          </a:effectRef>
          <a:fontRef idx="minor"/>
        </p:style>
      </p:sp>
      <p:sp>
        <p:nvSpPr>
          <p:cNvPr id="129" name="CustomShape 13"/>
          <p:cNvSpPr/>
          <p:nvPr/>
        </p:nvSpPr>
        <p:spPr>
          <a:xfrm flipV="1">
            <a:off x="1397880" y="3408120"/>
            <a:ext cx="42480" cy="4248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130" name="Freeform 14"/>
          <p:cNvSpPr/>
          <p:nvPr/>
        </p:nvSpPr>
        <p:spPr>
          <a:xfrm>
            <a:off x="1007640" y="3412800"/>
            <a:ext cx="137880" cy="302400"/>
          </a:xfrm>
          <a:custGeom>
            <a:avLst/>
            <a:gdLst/>
            <a:ahLst/>
            <a:cxnLst/>
            <a:rect l="0" t="0" r="r" b="b"/>
            <a:pathLst>
              <a:path w="383" h="840">
                <a:moveTo>
                  <a:pt x="311" y="839"/>
                </a:moveTo>
                <a:cubicBezTo>
                  <a:pt x="301" y="803"/>
                  <a:pt x="311" y="767"/>
                  <a:pt x="323" y="734"/>
                </a:cubicBezTo>
                <a:cubicBezTo>
                  <a:pt x="338" y="695"/>
                  <a:pt x="368" y="658"/>
                  <a:pt x="368" y="613"/>
                </a:cubicBezTo>
                <a:cubicBezTo>
                  <a:pt x="368" y="575"/>
                  <a:pt x="382" y="537"/>
                  <a:pt x="365" y="498"/>
                </a:cubicBezTo>
                <a:cubicBezTo>
                  <a:pt x="348" y="462"/>
                  <a:pt x="315" y="432"/>
                  <a:pt x="311" y="390"/>
                </a:cubicBezTo>
                <a:cubicBezTo>
                  <a:pt x="307" y="349"/>
                  <a:pt x="274" y="319"/>
                  <a:pt x="266" y="279"/>
                </a:cubicBezTo>
                <a:cubicBezTo>
                  <a:pt x="259" y="238"/>
                  <a:pt x="229" y="208"/>
                  <a:pt x="213" y="171"/>
                </a:cubicBezTo>
                <a:cubicBezTo>
                  <a:pt x="192" y="125"/>
                  <a:pt x="140" y="103"/>
                  <a:pt x="108" y="65"/>
                </a:cubicBezTo>
                <a:cubicBezTo>
                  <a:pt x="82" y="34"/>
                  <a:pt x="42" y="10"/>
                  <a:pt x="0" y="0"/>
                </a:cubicBezTo>
              </a:path>
            </a:pathLst>
          </a:custGeom>
          <a:ln w="29160">
            <a:solidFill>
              <a:srgbClr val="C9211E"/>
            </a:solidFill>
            <a:round/>
          </a:ln>
        </p:spPr>
      </p:sp>
      <p:sp>
        <p:nvSpPr>
          <p:cNvPr id="131" name="CustomShape 15"/>
          <p:cNvSpPr/>
          <p:nvPr/>
        </p:nvSpPr>
        <p:spPr>
          <a:xfrm flipV="1">
            <a:off x="978120" y="3389400"/>
            <a:ext cx="38880" cy="4104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132" name="Freeform 16"/>
          <p:cNvSpPr/>
          <p:nvPr/>
        </p:nvSpPr>
        <p:spPr>
          <a:xfrm>
            <a:off x="456480" y="3513240"/>
            <a:ext cx="158400" cy="496080"/>
          </a:xfrm>
          <a:custGeom>
            <a:avLst/>
            <a:gdLst/>
            <a:ahLst/>
            <a:cxnLst/>
            <a:rect l="0" t="0" r="r" b="b"/>
            <a:pathLst>
              <a:path w="440" h="1378">
                <a:moveTo>
                  <a:pt x="87" y="0"/>
                </a:moveTo>
                <a:cubicBezTo>
                  <a:pt x="75" y="49"/>
                  <a:pt x="47" y="95"/>
                  <a:pt x="39" y="145"/>
                </a:cubicBezTo>
                <a:cubicBezTo>
                  <a:pt x="31" y="201"/>
                  <a:pt x="14" y="255"/>
                  <a:pt x="14" y="313"/>
                </a:cubicBezTo>
                <a:cubicBezTo>
                  <a:pt x="14" y="360"/>
                  <a:pt x="0" y="408"/>
                  <a:pt x="5" y="455"/>
                </a:cubicBezTo>
                <a:cubicBezTo>
                  <a:pt x="8" y="502"/>
                  <a:pt x="13" y="550"/>
                  <a:pt x="24" y="597"/>
                </a:cubicBezTo>
                <a:cubicBezTo>
                  <a:pt x="35" y="648"/>
                  <a:pt x="32" y="703"/>
                  <a:pt x="58" y="750"/>
                </a:cubicBezTo>
                <a:cubicBezTo>
                  <a:pt x="81" y="789"/>
                  <a:pt x="89" y="831"/>
                  <a:pt x="102" y="873"/>
                </a:cubicBezTo>
                <a:cubicBezTo>
                  <a:pt x="119" y="925"/>
                  <a:pt x="138" y="974"/>
                  <a:pt x="163" y="1022"/>
                </a:cubicBezTo>
                <a:cubicBezTo>
                  <a:pt x="185" y="1064"/>
                  <a:pt x="198" y="1113"/>
                  <a:pt x="232" y="1149"/>
                </a:cubicBezTo>
                <a:cubicBezTo>
                  <a:pt x="269" y="1186"/>
                  <a:pt x="289" y="1232"/>
                  <a:pt x="331" y="1269"/>
                </a:cubicBezTo>
                <a:cubicBezTo>
                  <a:pt x="368" y="1303"/>
                  <a:pt x="398" y="1344"/>
                  <a:pt x="438" y="1375"/>
                </a:cubicBezTo>
                <a:lnTo>
                  <a:pt x="439" y="1377"/>
                </a:lnTo>
              </a:path>
            </a:pathLst>
          </a:custGeom>
          <a:ln w="29160">
            <a:solidFill>
              <a:srgbClr val="C9211E"/>
            </a:solidFill>
            <a:round/>
          </a:ln>
        </p:spPr>
      </p:sp>
      <p:sp>
        <p:nvSpPr>
          <p:cNvPr id="133" name="CustomShape 17"/>
          <p:cNvSpPr/>
          <p:nvPr/>
        </p:nvSpPr>
        <p:spPr>
          <a:xfrm flipV="1">
            <a:off x="611640" y="3993840"/>
            <a:ext cx="43200" cy="4140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134" name="CustomShape 18"/>
          <p:cNvSpPr/>
          <p:nvPr/>
        </p:nvSpPr>
        <p:spPr>
          <a:xfrm>
            <a:off x="466560" y="2549880"/>
            <a:ext cx="1567440" cy="293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1" i="1" strike="noStrike" spc="-1">
                <a:solidFill>
                  <a:srgbClr val="333333"/>
                </a:solidFill>
                <a:latin typeface="Calibri"/>
                <a:ea typeface="DejaVu Sans"/>
              </a:rPr>
              <a:t>Fluid phase  </a:t>
            </a:r>
            <a:r>
              <a:rPr lang="en-US" sz="1300" b="1" i="1" strike="noStrike" spc="-1">
                <a:solidFill>
                  <a:srgbClr val="008000"/>
                </a:solidFill>
                <a:latin typeface="Calibri"/>
                <a:ea typeface="DejaVu Sans"/>
              </a:rPr>
              <a:t>(CFD)</a:t>
            </a:r>
            <a:endParaRPr lang="en-US" sz="1300" b="0" strike="noStrike" spc="-1">
              <a:latin typeface="Arial"/>
            </a:endParaRPr>
          </a:p>
        </p:txBody>
      </p:sp>
      <p:sp>
        <p:nvSpPr>
          <p:cNvPr id="135" name="CustomShape 19"/>
          <p:cNvSpPr/>
          <p:nvPr/>
        </p:nvSpPr>
        <p:spPr>
          <a:xfrm>
            <a:off x="1116720" y="2823840"/>
            <a:ext cx="163440" cy="309240"/>
          </a:xfrm>
          <a:custGeom>
            <a:avLst/>
            <a:gdLst/>
            <a:ahLst/>
            <a:cxnLst/>
            <a:rect l="0" t="0" r="r" b="b"/>
            <a:pathLst>
              <a:path w="456" h="861">
                <a:moveTo>
                  <a:pt x="113" y="0"/>
                </a:moveTo>
                <a:lnTo>
                  <a:pt x="113" y="645"/>
                </a:lnTo>
                <a:lnTo>
                  <a:pt x="0" y="645"/>
                </a:lnTo>
                <a:lnTo>
                  <a:pt x="227" y="860"/>
                </a:lnTo>
                <a:lnTo>
                  <a:pt x="455" y="645"/>
                </a:lnTo>
                <a:lnTo>
                  <a:pt x="341" y="645"/>
                </a:lnTo>
                <a:lnTo>
                  <a:pt x="341" y="0"/>
                </a:lnTo>
                <a:lnTo>
                  <a:pt x="113" y="0"/>
                </a:lnTo>
              </a:path>
            </a:pathLst>
          </a:custGeom>
          <a:solidFill>
            <a:srgbClr val="2B7ED2"/>
          </a:solidFill>
          <a:ln>
            <a:solidFill>
              <a:srgbClr val="000000"/>
            </a:solidFill>
          </a:ln>
        </p:spPr>
        <p:style>
          <a:lnRef idx="0">
            <a:scrgbClr r="0" g="0" b="0"/>
          </a:lnRef>
          <a:fillRef idx="0">
            <a:scrgbClr r="0" g="0" b="0"/>
          </a:fillRef>
          <a:effectRef idx="0">
            <a:scrgbClr r="0" g="0" b="0"/>
          </a:effectRef>
          <a:fontRef idx="minor"/>
        </p:style>
      </p:sp>
      <p:sp>
        <p:nvSpPr>
          <p:cNvPr id="136" name="CustomShape 20"/>
          <p:cNvSpPr/>
          <p:nvPr/>
        </p:nvSpPr>
        <p:spPr>
          <a:xfrm>
            <a:off x="128160" y="4237560"/>
            <a:ext cx="2235600" cy="326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0" strike="noStrike" spc="-1">
                <a:solidFill>
                  <a:srgbClr val="333333"/>
                </a:solidFill>
                <a:latin typeface="Calibri"/>
                <a:ea typeface="DejaVu Sans"/>
              </a:rPr>
              <a:t>Coupling</a:t>
            </a:r>
            <a:endParaRPr lang="en-US" sz="1300" b="0" strike="noStrike" spc="-1">
              <a:latin typeface="Arial"/>
            </a:endParaRPr>
          </a:p>
        </p:txBody>
      </p:sp>
      <p:sp>
        <p:nvSpPr>
          <p:cNvPr id="137" name="CustomShape 21"/>
          <p:cNvSpPr/>
          <p:nvPr/>
        </p:nvSpPr>
        <p:spPr>
          <a:xfrm>
            <a:off x="1117080" y="4535640"/>
            <a:ext cx="163440" cy="309240"/>
          </a:xfrm>
          <a:custGeom>
            <a:avLst/>
            <a:gdLst/>
            <a:ahLst/>
            <a:cxnLst/>
            <a:rect l="0" t="0" r="r" b="b"/>
            <a:pathLst>
              <a:path w="456" h="861">
                <a:moveTo>
                  <a:pt x="113" y="0"/>
                </a:moveTo>
                <a:lnTo>
                  <a:pt x="113" y="645"/>
                </a:lnTo>
                <a:lnTo>
                  <a:pt x="0" y="645"/>
                </a:lnTo>
                <a:lnTo>
                  <a:pt x="227" y="860"/>
                </a:lnTo>
                <a:lnTo>
                  <a:pt x="455" y="645"/>
                </a:lnTo>
                <a:lnTo>
                  <a:pt x="341" y="645"/>
                </a:lnTo>
                <a:lnTo>
                  <a:pt x="341" y="0"/>
                </a:lnTo>
                <a:lnTo>
                  <a:pt x="113" y="0"/>
                </a:lnTo>
              </a:path>
            </a:pathLst>
          </a:custGeom>
          <a:solidFill>
            <a:srgbClr val="2B7ED2"/>
          </a:solidFill>
          <a:ln>
            <a:solidFill>
              <a:srgbClr val="000000"/>
            </a:solidFill>
          </a:ln>
        </p:spPr>
        <p:style>
          <a:lnRef idx="0">
            <a:scrgbClr r="0" g="0" b="0"/>
          </a:lnRef>
          <a:fillRef idx="0">
            <a:scrgbClr r="0" g="0" b="0"/>
          </a:fillRef>
          <a:effectRef idx="0">
            <a:scrgbClr r="0" g="0" b="0"/>
          </a:effectRef>
          <a:fontRef idx="minor"/>
        </p:style>
      </p:sp>
      <p:pic>
        <p:nvPicPr>
          <p:cNvPr id="138" name="Immagine 9"/>
          <p:cNvPicPr/>
          <p:nvPr/>
        </p:nvPicPr>
        <p:blipFill>
          <a:blip r:embed="rId4"/>
          <a:stretch/>
        </p:blipFill>
        <p:spPr>
          <a:xfrm>
            <a:off x="479880" y="4939560"/>
            <a:ext cx="1472040" cy="804600"/>
          </a:xfrm>
          <a:prstGeom prst="rect">
            <a:avLst/>
          </a:prstGeom>
          <a:ln>
            <a:noFill/>
          </a:ln>
        </p:spPr>
      </p:pic>
      <p:sp>
        <p:nvSpPr>
          <p:cNvPr id="139" name="CustomShape 23"/>
          <p:cNvSpPr/>
          <p:nvPr/>
        </p:nvSpPr>
        <p:spPr>
          <a:xfrm>
            <a:off x="457200" y="4876920"/>
            <a:ext cx="1509480" cy="9421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141" name="CustomShape 25"/>
          <p:cNvSpPr/>
          <p:nvPr/>
        </p:nvSpPr>
        <p:spPr>
          <a:xfrm>
            <a:off x="3939120" y="2961000"/>
            <a:ext cx="148248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Thermal effects</a:t>
            </a:r>
            <a:endParaRPr lang="en-US" sz="1600" b="0" strike="noStrike" spc="-1">
              <a:latin typeface="Arial"/>
            </a:endParaRPr>
          </a:p>
        </p:txBody>
      </p:sp>
      <p:sp>
        <p:nvSpPr>
          <p:cNvPr id="142" name="Line 26"/>
          <p:cNvSpPr/>
          <p:nvPr/>
        </p:nvSpPr>
        <p:spPr>
          <a:xfrm>
            <a:off x="3464640" y="2780640"/>
            <a:ext cx="0" cy="161460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143" name="CustomShape 27"/>
          <p:cNvSpPr/>
          <p:nvPr/>
        </p:nvSpPr>
        <p:spPr>
          <a:xfrm>
            <a:off x="3069720" y="2497320"/>
            <a:ext cx="200304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1" strike="noStrike" spc="-1">
                <a:solidFill>
                  <a:srgbClr val="55308D"/>
                </a:solidFill>
                <a:latin typeface="Calibri"/>
                <a:ea typeface="DejaVu Sans"/>
              </a:rPr>
              <a:t>Physical description</a:t>
            </a:r>
            <a:endParaRPr lang="en-US" sz="1600" b="0" strike="noStrike" spc="-1">
              <a:latin typeface="Arial"/>
            </a:endParaRPr>
          </a:p>
        </p:txBody>
      </p:sp>
      <p:sp>
        <p:nvSpPr>
          <p:cNvPr id="144" name="CustomShape 28"/>
          <p:cNvSpPr/>
          <p:nvPr/>
        </p:nvSpPr>
        <p:spPr>
          <a:xfrm>
            <a:off x="3939120" y="4257000"/>
            <a:ext cx="172656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Nature of the flow</a:t>
            </a:r>
            <a:endParaRPr lang="en-US" sz="1600" b="0" strike="noStrike" spc="-1">
              <a:latin typeface="Arial"/>
            </a:endParaRPr>
          </a:p>
        </p:txBody>
      </p:sp>
      <p:sp>
        <p:nvSpPr>
          <p:cNvPr id="145" name="CustomShape 29"/>
          <p:cNvSpPr/>
          <p:nvPr/>
        </p:nvSpPr>
        <p:spPr>
          <a:xfrm>
            <a:off x="3939120" y="3609000"/>
            <a:ext cx="198108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Constitutive relations</a:t>
            </a:r>
            <a:endParaRPr lang="en-US" sz="1600" b="0" strike="noStrike" spc="-1">
              <a:latin typeface="Arial"/>
            </a:endParaRPr>
          </a:p>
        </p:txBody>
      </p:sp>
      <p:sp>
        <p:nvSpPr>
          <p:cNvPr id="146" name="CustomShape 30"/>
          <p:cNvSpPr/>
          <p:nvPr/>
        </p:nvSpPr>
        <p:spPr>
          <a:xfrm>
            <a:off x="3468960" y="3782520"/>
            <a:ext cx="44820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47" name="CustomShape 31"/>
          <p:cNvSpPr/>
          <p:nvPr/>
        </p:nvSpPr>
        <p:spPr>
          <a:xfrm>
            <a:off x="3464640" y="439524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48" name="CustomShape 32"/>
          <p:cNvSpPr/>
          <p:nvPr/>
        </p:nvSpPr>
        <p:spPr>
          <a:xfrm>
            <a:off x="6677640" y="2963160"/>
            <a:ext cx="16077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Fluid temperature</a:t>
            </a:r>
            <a:endParaRPr lang="en-US" sz="1500" b="0" strike="noStrike" spc="-1">
              <a:latin typeface="Arial"/>
            </a:endParaRPr>
          </a:p>
        </p:txBody>
      </p:sp>
      <p:sp>
        <p:nvSpPr>
          <p:cNvPr id="149" name="CustomShape 33"/>
          <p:cNvSpPr/>
          <p:nvPr/>
        </p:nvSpPr>
        <p:spPr>
          <a:xfrm>
            <a:off x="5942880" y="3781440"/>
            <a:ext cx="39312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150" name="CustomShape 34"/>
          <p:cNvSpPr/>
          <p:nvPr/>
        </p:nvSpPr>
        <p:spPr>
          <a:xfrm>
            <a:off x="6679800" y="3427920"/>
            <a:ext cx="118692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Fluid density</a:t>
            </a:r>
            <a:endParaRPr lang="en-US" sz="1500" b="0" strike="noStrike" spc="-1">
              <a:latin typeface="Arial"/>
            </a:endParaRPr>
          </a:p>
        </p:txBody>
      </p:sp>
      <p:sp>
        <p:nvSpPr>
          <p:cNvPr id="151" name="CustomShape 35"/>
          <p:cNvSpPr/>
          <p:nvPr/>
        </p:nvSpPr>
        <p:spPr>
          <a:xfrm>
            <a:off x="6679800" y="3787920"/>
            <a:ext cx="17661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Non-Newtonian law</a:t>
            </a:r>
            <a:endParaRPr lang="en-US" sz="1500" b="0" strike="noStrike" spc="-1">
              <a:latin typeface="Arial"/>
            </a:endParaRPr>
          </a:p>
        </p:txBody>
      </p:sp>
      <p:sp>
        <p:nvSpPr>
          <p:cNvPr id="152" name="CustomShape 36"/>
          <p:cNvSpPr/>
          <p:nvPr/>
        </p:nvSpPr>
        <p:spPr>
          <a:xfrm>
            <a:off x="5470560" y="3122640"/>
            <a:ext cx="119484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53" name="CustomShape 37"/>
          <p:cNvSpPr/>
          <p:nvPr/>
        </p:nvSpPr>
        <p:spPr>
          <a:xfrm>
            <a:off x="6334560" y="3590640"/>
            <a:ext cx="33912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54" name="CustomShape 38"/>
          <p:cNvSpPr/>
          <p:nvPr/>
        </p:nvSpPr>
        <p:spPr>
          <a:xfrm>
            <a:off x="6332760" y="395100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55" name="Line 39"/>
          <p:cNvSpPr/>
          <p:nvPr/>
        </p:nvSpPr>
        <p:spPr>
          <a:xfrm>
            <a:off x="6332400" y="3591000"/>
            <a:ext cx="2880" cy="360000"/>
          </a:xfrm>
          <a:prstGeom prst="line">
            <a:avLst/>
          </a:prstGeom>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156" name="CustomShape 40"/>
          <p:cNvSpPr/>
          <p:nvPr/>
        </p:nvSpPr>
        <p:spPr>
          <a:xfrm>
            <a:off x="5716800" y="4410720"/>
            <a:ext cx="95580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57" name="CustomShape 41"/>
          <p:cNvSpPr/>
          <p:nvPr/>
        </p:nvSpPr>
        <p:spPr>
          <a:xfrm>
            <a:off x="6679800" y="4255920"/>
            <a:ext cx="1603080" cy="31860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000000"/>
                </a:solidFill>
                <a:latin typeface="Calibri"/>
                <a:ea typeface="DejaVu Sans"/>
              </a:rPr>
              <a:t>Turbulence model</a:t>
            </a:r>
            <a:endParaRPr lang="en-US" sz="1500" b="0" strike="noStrike" spc="-1">
              <a:solidFill>
                <a:srgbClr val="000000"/>
              </a:solidFill>
              <a:latin typeface="Arial"/>
            </a:endParaRPr>
          </a:p>
        </p:txBody>
      </p:sp>
      <p:sp>
        <p:nvSpPr>
          <p:cNvPr id="158" name="CustomShape 43"/>
          <p:cNvSpPr/>
          <p:nvPr/>
        </p:nvSpPr>
        <p:spPr>
          <a:xfrm flipV="1">
            <a:off x="5033880" y="5919120"/>
            <a:ext cx="160920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59" name="CustomShape 44"/>
          <p:cNvSpPr/>
          <p:nvPr/>
        </p:nvSpPr>
        <p:spPr>
          <a:xfrm>
            <a:off x="6679800" y="5743080"/>
            <a:ext cx="234828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Velocity &amp; velocity gradient</a:t>
            </a:r>
            <a:endParaRPr lang="en-US" sz="1500" b="0" strike="noStrike" spc="-1">
              <a:latin typeface="Arial"/>
            </a:endParaRPr>
          </a:p>
        </p:txBody>
      </p:sp>
      <p:sp>
        <p:nvSpPr>
          <p:cNvPr id="160" name="Line 45"/>
          <p:cNvSpPr/>
          <p:nvPr/>
        </p:nvSpPr>
        <p:spPr>
          <a:xfrm>
            <a:off x="2600640" y="2349000"/>
            <a:ext cx="0" cy="357264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161" name="CustomShape 46"/>
          <p:cNvSpPr/>
          <p:nvPr/>
        </p:nvSpPr>
        <p:spPr>
          <a:xfrm>
            <a:off x="3471840" y="313380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62" name="CustomShape 47"/>
          <p:cNvSpPr/>
          <p:nvPr/>
        </p:nvSpPr>
        <p:spPr>
          <a:xfrm>
            <a:off x="2600640" y="267300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63" name="CustomShape 48"/>
          <p:cNvSpPr/>
          <p:nvPr/>
        </p:nvSpPr>
        <p:spPr>
          <a:xfrm>
            <a:off x="2597400" y="592128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64" name="CustomShape 49"/>
          <p:cNvSpPr/>
          <p:nvPr/>
        </p:nvSpPr>
        <p:spPr>
          <a:xfrm>
            <a:off x="3069720" y="5241240"/>
            <a:ext cx="1927440" cy="333720"/>
          </a:xfrm>
          <a:prstGeom prst="rect">
            <a:avLst/>
          </a:prstGeom>
          <a:solidFill>
            <a:srgbClr val="FFF5C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Software description</a:t>
            </a:r>
            <a:endParaRPr lang="en-US" sz="1600" b="0" strike="noStrike" spc="-1">
              <a:latin typeface="Arial"/>
            </a:endParaRPr>
          </a:p>
        </p:txBody>
      </p:sp>
      <p:sp>
        <p:nvSpPr>
          <p:cNvPr id="165" name="CustomShape 50"/>
          <p:cNvSpPr/>
          <p:nvPr/>
        </p:nvSpPr>
        <p:spPr>
          <a:xfrm flipV="1">
            <a:off x="5033880" y="5415120"/>
            <a:ext cx="160920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66" name="CustomShape 51"/>
          <p:cNvSpPr/>
          <p:nvPr/>
        </p:nvSpPr>
        <p:spPr>
          <a:xfrm>
            <a:off x="6679800" y="5239080"/>
            <a:ext cx="129060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Code_Saturne</a:t>
            </a:r>
            <a:endParaRPr lang="en-US" sz="1500" b="0" strike="noStrike" spc="-1">
              <a:latin typeface="Arial"/>
            </a:endParaRPr>
          </a:p>
        </p:txBody>
      </p:sp>
      <p:sp>
        <p:nvSpPr>
          <p:cNvPr id="167" name="CustomShape 52"/>
          <p:cNvSpPr/>
          <p:nvPr/>
        </p:nvSpPr>
        <p:spPr>
          <a:xfrm>
            <a:off x="2597400" y="541728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68" name="CustomShape 53"/>
          <p:cNvSpPr/>
          <p:nvPr/>
        </p:nvSpPr>
        <p:spPr>
          <a:xfrm>
            <a:off x="3066840" y="4736880"/>
            <a:ext cx="1717200" cy="333720"/>
          </a:xfrm>
          <a:prstGeom prst="rect">
            <a:avLst/>
          </a:prstGeom>
          <a:solidFill>
            <a:srgbClr val="FFD7D7"/>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Model description</a:t>
            </a:r>
            <a:endParaRPr lang="en-US" sz="1600" b="0" strike="noStrike" spc="-1">
              <a:latin typeface="Arial"/>
            </a:endParaRPr>
          </a:p>
        </p:txBody>
      </p:sp>
      <p:sp>
        <p:nvSpPr>
          <p:cNvPr id="169" name="CustomShape 54"/>
          <p:cNvSpPr/>
          <p:nvPr/>
        </p:nvSpPr>
        <p:spPr>
          <a:xfrm>
            <a:off x="2595240" y="4913640"/>
            <a:ext cx="44604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70" name="CustomShape 55"/>
          <p:cNvSpPr/>
          <p:nvPr/>
        </p:nvSpPr>
        <p:spPr>
          <a:xfrm>
            <a:off x="4804200" y="4896720"/>
            <a:ext cx="18471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71" name="CustomShape 56"/>
          <p:cNvSpPr/>
          <p:nvPr/>
        </p:nvSpPr>
        <p:spPr>
          <a:xfrm>
            <a:off x="6683040" y="4727160"/>
            <a:ext cx="18147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Boundary conditions</a:t>
            </a:r>
            <a:endParaRPr lang="en-US" sz="1500" b="0" strike="noStrike" spc="-1">
              <a:latin typeface="Arial"/>
            </a:endParaRPr>
          </a:p>
        </p:txBody>
      </p:sp>
      <p:sp>
        <p:nvSpPr>
          <p:cNvPr id="172" name="CustomShape 57"/>
          <p:cNvSpPr/>
          <p:nvPr/>
        </p:nvSpPr>
        <p:spPr>
          <a:xfrm>
            <a:off x="2273400" y="969840"/>
            <a:ext cx="1418400" cy="32652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86760" tIns="41760" rIns="86760" bIns="41760">
            <a:spAutoFit/>
          </a:bodyPr>
          <a:lstStyle/>
          <a:p>
            <a:pPr>
              <a:lnSpc>
                <a:spcPct val="100000"/>
              </a:lnSpc>
              <a:spcAft>
                <a:spcPts val="479"/>
              </a:spcAft>
            </a:pPr>
            <a:r>
              <a:rPr lang="en-US" sz="1600" b="1" strike="noStrike" spc="-1">
                <a:solidFill>
                  <a:srgbClr val="CE181E"/>
                </a:solidFill>
                <a:latin typeface="Calibri"/>
                <a:ea typeface="DejaVu Sans"/>
              </a:rPr>
              <a:t>Spatial aspects</a:t>
            </a:r>
            <a:endParaRPr lang="en-US" sz="1600" b="0" strike="noStrike" spc="-1">
              <a:latin typeface="Arial"/>
            </a:endParaRPr>
          </a:p>
        </p:txBody>
      </p:sp>
      <p:sp>
        <p:nvSpPr>
          <p:cNvPr id="173" name="CustomShape 58"/>
          <p:cNvSpPr/>
          <p:nvPr/>
        </p:nvSpPr>
        <p:spPr>
          <a:xfrm>
            <a:off x="3069720" y="1452960"/>
            <a:ext cx="200304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1" strike="noStrike" spc="-1">
                <a:solidFill>
                  <a:srgbClr val="55308D"/>
                </a:solidFill>
                <a:latin typeface="Calibri"/>
                <a:ea typeface="DejaVu Sans"/>
              </a:rPr>
              <a:t>Spatial discretisation</a:t>
            </a:r>
            <a:endParaRPr lang="en-US" sz="1600" b="0" strike="noStrike" spc="-1">
              <a:latin typeface="Arial"/>
            </a:endParaRPr>
          </a:p>
        </p:txBody>
      </p:sp>
      <p:sp>
        <p:nvSpPr>
          <p:cNvPr id="174" name="CustomShape 59"/>
          <p:cNvSpPr/>
          <p:nvPr/>
        </p:nvSpPr>
        <p:spPr>
          <a:xfrm>
            <a:off x="2600640" y="162864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75" name="Line 60"/>
          <p:cNvSpPr/>
          <p:nvPr/>
        </p:nvSpPr>
        <p:spPr>
          <a:xfrm>
            <a:off x="2600640" y="1305000"/>
            <a:ext cx="0" cy="32364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176" name="CustomShape 61"/>
          <p:cNvSpPr/>
          <p:nvPr/>
        </p:nvSpPr>
        <p:spPr>
          <a:xfrm>
            <a:off x="6677640" y="1451160"/>
            <a:ext cx="61992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Mesh</a:t>
            </a:r>
            <a:endParaRPr lang="en-US" sz="1500" b="0" strike="noStrike" spc="-1">
              <a:latin typeface="Arial"/>
            </a:endParaRPr>
          </a:p>
        </p:txBody>
      </p:sp>
      <p:sp>
        <p:nvSpPr>
          <p:cNvPr id="177" name="CustomShape 62"/>
          <p:cNvSpPr/>
          <p:nvPr/>
        </p:nvSpPr>
        <p:spPr>
          <a:xfrm>
            <a:off x="5074560" y="1610640"/>
            <a:ext cx="159120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81" name="CustomShape 32"/>
          <p:cNvSpPr/>
          <p:nvPr/>
        </p:nvSpPr>
        <p:spPr>
          <a:xfrm>
            <a:off x="3041280" y="5743080"/>
            <a:ext cx="2090998" cy="337100"/>
          </a:xfrm>
          <a:prstGeom prst="rect">
            <a:avLst/>
          </a:prstGeom>
          <a:solidFill>
            <a:srgbClr val="DDDDDD"/>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pc="-1" dirty="0">
                <a:solidFill>
                  <a:srgbClr val="55308D"/>
                </a:solidFill>
                <a:latin typeface="Calibri"/>
                <a:ea typeface="DejaVu Sans"/>
              </a:rPr>
              <a:t>Output </a:t>
            </a:r>
            <a:r>
              <a:rPr lang="en-US" sz="1600" b="1" spc="-1">
                <a:solidFill>
                  <a:srgbClr val="55308D"/>
                </a:solidFill>
                <a:latin typeface="Calibri"/>
                <a:ea typeface="DejaVu Sans"/>
              </a:rPr>
              <a:t>&amp; visualisation</a:t>
            </a:r>
            <a:endParaRPr lang="en-US" sz="1600" b="0" strike="noStrike" spc="-1" dirty="0">
              <a:latin typeface="Arial"/>
            </a:endParaRPr>
          </a:p>
        </p:txBody>
      </p:sp>
      <p:sp>
        <p:nvSpPr>
          <p:cNvPr id="182" name="CustomShape 21"/>
          <p:cNvSpPr/>
          <p:nvPr/>
        </p:nvSpPr>
        <p:spPr>
          <a:xfrm>
            <a:off x="128160" y="5785200"/>
            <a:ext cx="2235600" cy="326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1" strike="noStrike" spc="-1" dirty="0">
                <a:solidFill>
                  <a:srgbClr val="333333"/>
                </a:solidFill>
                <a:latin typeface="Calibri"/>
                <a:ea typeface="DejaVu Sans"/>
              </a:rPr>
              <a:t>Particle phase </a:t>
            </a:r>
            <a:r>
              <a:rPr lang="en-US" sz="1300" b="1" strike="noStrike" spc="-1" dirty="0">
                <a:solidFill>
                  <a:srgbClr val="008000"/>
                </a:solidFill>
                <a:latin typeface="Calibri"/>
                <a:ea typeface="DejaVu Sans"/>
              </a:rPr>
              <a:t>(Tracking)</a:t>
            </a:r>
            <a:endParaRPr lang="en-US" sz="1300" b="0" strike="noStrike" spc="-1" dirty="0">
              <a:latin typeface="Arial"/>
            </a:endParaRPr>
          </a:p>
        </p:txBody>
      </p:sp>
      <p:sp>
        <p:nvSpPr>
          <p:cNvPr id="184" name="CustomShape 24"/>
          <p:cNvSpPr/>
          <p:nvPr/>
        </p:nvSpPr>
        <p:spPr>
          <a:xfrm>
            <a:off x="202320" y="2819520"/>
            <a:ext cx="2011680" cy="3216240"/>
          </a:xfrm>
          <a:prstGeom prst="rect">
            <a:avLst/>
          </a:prstGeom>
          <a:solidFill>
            <a:srgbClr val="FFFFFF">
              <a:alpha val="75000"/>
            </a:srgbClr>
          </a:solidFill>
          <a:ln>
            <a:noFill/>
          </a:ln>
        </p:spPr>
        <p:style>
          <a:lnRef idx="0">
            <a:scrgbClr r="0" g="0" b="0"/>
          </a:lnRef>
          <a:fillRef idx="0">
            <a:scrgbClr r="0" g="0" b="0"/>
          </a:fillRef>
          <a:effectRef idx="0">
            <a:scrgbClr r="0" g="0" b="0"/>
          </a:effectRef>
          <a:fontRef idx="minor"/>
        </p:style>
      </p:sp>
      <p:sp>
        <p:nvSpPr>
          <p:cNvPr id="72" name="Text Box 2"/>
          <p:cNvSpPr txBox="1">
            <a:spLocks noChangeArrowheads="1"/>
          </p:cNvSpPr>
          <p:nvPr/>
        </p:nvSpPr>
        <p:spPr bwMode="auto">
          <a:xfrm>
            <a:off x="10633" y="1"/>
            <a:ext cx="9133367" cy="545760"/>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illustration pratique 2/4</a:t>
            </a:r>
            <a:endParaRPr lang="fr-FR" altLang="fr-FR" sz="2800" dirty="0">
              <a:solidFill>
                <a:srgbClr val="001A70"/>
              </a:solidFill>
              <a:cs typeface="Arial" panose="020B0604020202020204" pitchFamily="34" charset="0"/>
            </a:endParaRPr>
          </a:p>
        </p:txBody>
      </p:sp>
    </p:spTree>
    <p:extLst>
      <p:ext uri="{BB962C8B-B14F-4D97-AF65-F5344CB8AC3E}">
        <p14:creationId xmlns:p14="http://schemas.microsoft.com/office/powerpoint/2010/main" val="34740826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CustomShape 1"/>
          <p:cNvSpPr/>
          <p:nvPr/>
        </p:nvSpPr>
        <p:spPr>
          <a:xfrm>
            <a:off x="466560" y="548640"/>
            <a:ext cx="8206920" cy="368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1" strike="noStrike" spc="-1" dirty="0">
                <a:solidFill>
                  <a:srgbClr val="12235A"/>
                </a:solidFill>
                <a:latin typeface="Calibri"/>
                <a:ea typeface="DejaVu Sans"/>
              </a:rPr>
              <a:t>Illustration of the CDM on practical </a:t>
            </a:r>
            <a:r>
              <a:rPr lang="en-US" sz="2000" b="1" strike="noStrike" spc="-1" dirty="0" smtClean="0">
                <a:solidFill>
                  <a:srgbClr val="12235A"/>
                </a:solidFill>
                <a:latin typeface="Calibri"/>
                <a:ea typeface="DejaVu Sans"/>
              </a:rPr>
              <a:t>workflow</a:t>
            </a:r>
            <a:endParaRPr lang="en-US" sz="2000" b="0" strike="noStrike" spc="-1" dirty="0">
              <a:latin typeface="Arial"/>
            </a:endParaRPr>
          </a:p>
        </p:txBody>
      </p:sp>
      <p:pic>
        <p:nvPicPr>
          <p:cNvPr id="342" name="Immagine 23"/>
          <p:cNvPicPr/>
          <p:nvPr/>
        </p:nvPicPr>
        <p:blipFill>
          <a:blip r:embed="rId2"/>
          <a:srcRect l="9656" t="17454" r="8998" b="10100"/>
          <a:stretch/>
        </p:blipFill>
        <p:spPr>
          <a:xfrm>
            <a:off x="318240" y="1567800"/>
            <a:ext cx="1773360" cy="994680"/>
          </a:xfrm>
          <a:prstGeom prst="rect">
            <a:avLst/>
          </a:prstGeom>
          <a:ln>
            <a:noFill/>
          </a:ln>
        </p:spPr>
      </p:pic>
      <p:sp>
        <p:nvSpPr>
          <p:cNvPr id="343" name="CustomShape 2"/>
          <p:cNvSpPr/>
          <p:nvPr/>
        </p:nvSpPr>
        <p:spPr>
          <a:xfrm>
            <a:off x="306360" y="1567800"/>
            <a:ext cx="1785240" cy="99468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pic>
        <p:nvPicPr>
          <p:cNvPr id="344" name="Immagine 32"/>
          <p:cNvPicPr/>
          <p:nvPr/>
        </p:nvPicPr>
        <p:blipFill>
          <a:blip r:embed="rId3"/>
          <a:srcRect l="24095" t="24717" r="20148" b="21344"/>
          <a:stretch/>
        </p:blipFill>
        <p:spPr>
          <a:xfrm>
            <a:off x="1484640" y="1876320"/>
            <a:ext cx="316440" cy="310320"/>
          </a:xfrm>
          <a:prstGeom prst="rect">
            <a:avLst/>
          </a:prstGeom>
          <a:ln>
            <a:noFill/>
          </a:ln>
        </p:spPr>
      </p:pic>
      <p:pic>
        <p:nvPicPr>
          <p:cNvPr id="345" name="Immagine 33"/>
          <p:cNvPicPr/>
          <p:nvPr/>
        </p:nvPicPr>
        <p:blipFill>
          <a:blip r:embed="rId3"/>
          <a:srcRect l="24095" t="24717" r="20148" b="21344"/>
          <a:stretch/>
        </p:blipFill>
        <p:spPr>
          <a:xfrm flipH="1">
            <a:off x="578880" y="1873080"/>
            <a:ext cx="316440" cy="310320"/>
          </a:xfrm>
          <a:prstGeom prst="rect">
            <a:avLst/>
          </a:prstGeom>
          <a:ln>
            <a:noFill/>
          </a:ln>
        </p:spPr>
      </p:pic>
      <p:sp>
        <p:nvSpPr>
          <p:cNvPr id="346" name="CustomShape 3"/>
          <p:cNvSpPr/>
          <p:nvPr/>
        </p:nvSpPr>
        <p:spPr>
          <a:xfrm>
            <a:off x="509040" y="1849680"/>
            <a:ext cx="444960" cy="333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60</a:t>
            </a:r>
            <a:r>
              <a:t/>
            </a:r>
            <a:br/>
            <a:r>
              <a:rPr lang="en-US" sz="800" b="1" strike="noStrike" spc="-1">
                <a:solidFill>
                  <a:srgbClr val="000000"/>
                </a:solidFill>
                <a:latin typeface="Calibri"/>
              </a:rPr>
              <a:t>rpm</a:t>
            </a:r>
            <a:endParaRPr lang="en-US" sz="800" b="0" strike="noStrike" spc="-1">
              <a:latin typeface="Arial"/>
            </a:endParaRPr>
          </a:p>
        </p:txBody>
      </p:sp>
      <p:sp>
        <p:nvSpPr>
          <p:cNvPr id="347" name="CustomShape 4"/>
          <p:cNvSpPr/>
          <p:nvPr/>
        </p:nvSpPr>
        <p:spPr>
          <a:xfrm>
            <a:off x="1442520" y="1863360"/>
            <a:ext cx="4240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120 </a:t>
            </a:r>
            <a:r>
              <a:t/>
            </a:r>
            <a:br/>
            <a:r>
              <a:rPr lang="en-US" sz="800" b="1" strike="noStrike" spc="-1">
                <a:solidFill>
                  <a:srgbClr val="000000"/>
                </a:solidFill>
                <a:latin typeface="Calibri"/>
              </a:rPr>
              <a:t>rpm</a:t>
            </a:r>
            <a:endParaRPr lang="en-US" sz="800" b="0" strike="noStrike" spc="-1">
              <a:latin typeface="Arial"/>
            </a:endParaRPr>
          </a:p>
        </p:txBody>
      </p:sp>
      <p:sp>
        <p:nvSpPr>
          <p:cNvPr id="348" name="CustomShape 5"/>
          <p:cNvSpPr/>
          <p:nvPr/>
        </p:nvSpPr>
        <p:spPr>
          <a:xfrm>
            <a:off x="266760" y="1495800"/>
            <a:ext cx="1850760" cy="108396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349" name="CustomShape 6"/>
          <p:cNvSpPr/>
          <p:nvPr/>
        </p:nvSpPr>
        <p:spPr>
          <a:xfrm>
            <a:off x="274680" y="3191040"/>
            <a:ext cx="1847160" cy="106956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pic>
        <p:nvPicPr>
          <p:cNvPr id="350" name="Immagine 23"/>
          <p:cNvPicPr/>
          <p:nvPr/>
        </p:nvPicPr>
        <p:blipFill>
          <a:blip r:embed="rId2"/>
          <a:srcRect l="9656" t="17454" r="8998" b="10100"/>
          <a:stretch/>
        </p:blipFill>
        <p:spPr>
          <a:xfrm>
            <a:off x="365400" y="3293280"/>
            <a:ext cx="1719360" cy="947160"/>
          </a:xfrm>
          <a:prstGeom prst="rect">
            <a:avLst/>
          </a:prstGeom>
          <a:ln>
            <a:noFill/>
          </a:ln>
        </p:spPr>
      </p:pic>
      <p:sp>
        <p:nvSpPr>
          <p:cNvPr id="351" name="CustomShape 7"/>
          <p:cNvSpPr/>
          <p:nvPr/>
        </p:nvSpPr>
        <p:spPr>
          <a:xfrm>
            <a:off x="354600" y="3293280"/>
            <a:ext cx="1730160" cy="94716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pic>
        <p:nvPicPr>
          <p:cNvPr id="352" name="Immagine 32"/>
          <p:cNvPicPr/>
          <p:nvPr/>
        </p:nvPicPr>
        <p:blipFill>
          <a:blip r:embed="rId3"/>
          <a:srcRect l="24095" t="24717" r="20148" b="21344"/>
          <a:stretch/>
        </p:blipFill>
        <p:spPr>
          <a:xfrm>
            <a:off x="1492200" y="3588840"/>
            <a:ext cx="313920" cy="294120"/>
          </a:xfrm>
          <a:prstGeom prst="rect">
            <a:avLst/>
          </a:prstGeom>
          <a:ln>
            <a:noFill/>
          </a:ln>
        </p:spPr>
      </p:pic>
      <p:pic>
        <p:nvPicPr>
          <p:cNvPr id="353" name="Immagine 33"/>
          <p:cNvPicPr/>
          <p:nvPr/>
        </p:nvPicPr>
        <p:blipFill>
          <a:blip r:embed="rId3"/>
          <a:srcRect l="24095" t="24717" r="20148" b="21344"/>
          <a:stretch/>
        </p:blipFill>
        <p:spPr>
          <a:xfrm flipH="1">
            <a:off x="618840" y="3586320"/>
            <a:ext cx="302760" cy="295200"/>
          </a:xfrm>
          <a:prstGeom prst="rect">
            <a:avLst/>
          </a:prstGeom>
          <a:ln>
            <a:noFill/>
          </a:ln>
        </p:spPr>
      </p:pic>
      <p:sp>
        <p:nvSpPr>
          <p:cNvPr id="354" name="CustomShape 8"/>
          <p:cNvSpPr/>
          <p:nvPr/>
        </p:nvSpPr>
        <p:spPr>
          <a:xfrm>
            <a:off x="582120" y="3577320"/>
            <a:ext cx="39204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60 </a:t>
            </a:r>
            <a:r>
              <a:t/>
            </a:r>
            <a:br/>
            <a:r>
              <a:rPr lang="en-US" sz="700" b="1" strike="noStrike" spc="-1">
                <a:solidFill>
                  <a:srgbClr val="000000"/>
                </a:solidFill>
                <a:latin typeface="Calibri"/>
              </a:rPr>
              <a:t>rpm</a:t>
            </a:r>
            <a:endParaRPr lang="en-US" sz="700" b="0" strike="noStrike" spc="-1">
              <a:latin typeface="Arial"/>
            </a:endParaRPr>
          </a:p>
        </p:txBody>
      </p:sp>
      <p:sp>
        <p:nvSpPr>
          <p:cNvPr id="355" name="CustomShape 9"/>
          <p:cNvSpPr/>
          <p:nvPr/>
        </p:nvSpPr>
        <p:spPr>
          <a:xfrm>
            <a:off x="1452600" y="3580920"/>
            <a:ext cx="41328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120 </a:t>
            </a:r>
            <a:r>
              <a:t/>
            </a:r>
            <a:br/>
            <a:r>
              <a:rPr lang="en-US" sz="700" b="1" strike="noStrike" spc="-1">
                <a:solidFill>
                  <a:srgbClr val="000000"/>
                </a:solidFill>
                <a:latin typeface="Calibri"/>
              </a:rPr>
              <a:t>rpm</a:t>
            </a:r>
            <a:endParaRPr lang="en-US" sz="700" b="0" strike="noStrike" spc="-1">
              <a:latin typeface="Arial"/>
            </a:endParaRPr>
          </a:p>
        </p:txBody>
      </p:sp>
      <p:sp>
        <p:nvSpPr>
          <p:cNvPr id="356" name="CustomShape 10"/>
          <p:cNvSpPr/>
          <p:nvPr/>
        </p:nvSpPr>
        <p:spPr>
          <a:xfrm>
            <a:off x="810360" y="3160800"/>
            <a:ext cx="819720" cy="19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F10D0C"/>
                </a:solidFill>
                <a:latin typeface="Calibri"/>
              </a:rPr>
              <a:t>tracer particles</a:t>
            </a:r>
            <a:endParaRPr lang="en-US" sz="700" b="0" strike="noStrike" spc="-1">
              <a:latin typeface="Arial"/>
            </a:endParaRPr>
          </a:p>
        </p:txBody>
      </p:sp>
      <p:sp>
        <p:nvSpPr>
          <p:cNvPr id="357" name="CustomShape 11"/>
          <p:cNvSpPr/>
          <p:nvPr/>
        </p:nvSpPr>
        <p:spPr>
          <a:xfrm>
            <a:off x="1118880" y="3432600"/>
            <a:ext cx="280800" cy="414720"/>
          </a:xfrm>
          <a:custGeom>
            <a:avLst/>
            <a:gdLst/>
            <a:ahLst/>
            <a:cxnLst/>
            <a:rect l="l" t="t" r="r" b="b"/>
            <a:pathLst>
              <a:path w="671804" h="1007706">
                <a:moveTo>
                  <a:pt x="671804" y="0"/>
                </a:moveTo>
                <a:cubicBezTo>
                  <a:pt x="513183" y="86308"/>
                  <a:pt x="354563" y="172616"/>
                  <a:pt x="289249" y="289249"/>
                </a:cubicBezTo>
                <a:cubicBezTo>
                  <a:pt x="223935" y="405882"/>
                  <a:pt x="328126" y="580053"/>
                  <a:pt x="279918" y="699796"/>
                </a:cubicBezTo>
                <a:cubicBezTo>
                  <a:pt x="231710" y="819539"/>
                  <a:pt x="76200" y="892629"/>
                  <a:pt x="0" y="1007706"/>
                </a:cubicBezTo>
              </a:path>
            </a:pathLst>
          </a:custGeom>
          <a:noFill/>
          <a:ln w="29160">
            <a:solidFill>
              <a:srgbClr val="C00000"/>
            </a:solidFill>
            <a:miter/>
          </a:ln>
        </p:spPr>
        <p:style>
          <a:lnRef idx="0">
            <a:scrgbClr r="0" g="0" b="0"/>
          </a:lnRef>
          <a:fillRef idx="0">
            <a:scrgbClr r="0" g="0" b="0"/>
          </a:fillRef>
          <a:effectRef idx="0">
            <a:scrgbClr r="0" g="0" b="0"/>
          </a:effectRef>
          <a:fontRef idx="minor"/>
        </p:style>
      </p:sp>
      <p:sp>
        <p:nvSpPr>
          <p:cNvPr id="358" name="CustomShape 12"/>
          <p:cNvSpPr/>
          <p:nvPr/>
        </p:nvSpPr>
        <p:spPr>
          <a:xfrm flipV="1">
            <a:off x="1397880" y="3408120"/>
            <a:ext cx="42480" cy="4248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359" name="Freeform 13"/>
          <p:cNvSpPr/>
          <p:nvPr/>
        </p:nvSpPr>
        <p:spPr>
          <a:xfrm>
            <a:off x="1007640" y="3412800"/>
            <a:ext cx="137880" cy="302400"/>
          </a:xfrm>
          <a:custGeom>
            <a:avLst/>
            <a:gdLst/>
            <a:ahLst/>
            <a:cxnLst/>
            <a:rect l="0" t="0" r="r" b="b"/>
            <a:pathLst>
              <a:path w="383" h="840">
                <a:moveTo>
                  <a:pt x="311" y="839"/>
                </a:moveTo>
                <a:cubicBezTo>
                  <a:pt x="301" y="803"/>
                  <a:pt x="311" y="767"/>
                  <a:pt x="323" y="734"/>
                </a:cubicBezTo>
                <a:cubicBezTo>
                  <a:pt x="338" y="695"/>
                  <a:pt x="368" y="658"/>
                  <a:pt x="368" y="613"/>
                </a:cubicBezTo>
                <a:cubicBezTo>
                  <a:pt x="368" y="575"/>
                  <a:pt x="382" y="537"/>
                  <a:pt x="365" y="498"/>
                </a:cubicBezTo>
                <a:cubicBezTo>
                  <a:pt x="348" y="462"/>
                  <a:pt x="315" y="432"/>
                  <a:pt x="311" y="390"/>
                </a:cubicBezTo>
                <a:cubicBezTo>
                  <a:pt x="307" y="349"/>
                  <a:pt x="274" y="319"/>
                  <a:pt x="266" y="279"/>
                </a:cubicBezTo>
                <a:cubicBezTo>
                  <a:pt x="259" y="238"/>
                  <a:pt x="229" y="208"/>
                  <a:pt x="213" y="171"/>
                </a:cubicBezTo>
                <a:cubicBezTo>
                  <a:pt x="192" y="125"/>
                  <a:pt x="140" y="103"/>
                  <a:pt x="108" y="65"/>
                </a:cubicBezTo>
                <a:cubicBezTo>
                  <a:pt x="82" y="34"/>
                  <a:pt x="42" y="10"/>
                  <a:pt x="0" y="0"/>
                </a:cubicBezTo>
              </a:path>
            </a:pathLst>
          </a:custGeom>
          <a:ln w="29160">
            <a:solidFill>
              <a:srgbClr val="C9211E"/>
            </a:solidFill>
            <a:round/>
          </a:ln>
        </p:spPr>
      </p:sp>
      <p:sp>
        <p:nvSpPr>
          <p:cNvPr id="360" name="CustomShape 14"/>
          <p:cNvSpPr/>
          <p:nvPr/>
        </p:nvSpPr>
        <p:spPr>
          <a:xfrm flipV="1">
            <a:off x="978120" y="3389400"/>
            <a:ext cx="38880" cy="4104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361" name="Freeform 15"/>
          <p:cNvSpPr/>
          <p:nvPr/>
        </p:nvSpPr>
        <p:spPr>
          <a:xfrm>
            <a:off x="456480" y="3513240"/>
            <a:ext cx="158400" cy="496080"/>
          </a:xfrm>
          <a:custGeom>
            <a:avLst/>
            <a:gdLst/>
            <a:ahLst/>
            <a:cxnLst/>
            <a:rect l="0" t="0" r="r" b="b"/>
            <a:pathLst>
              <a:path w="440" h="1378">
                <a:moveTo>
                  <a:pt x="87" y="0"/>
                </a:moveTo>
                <a:cubicBezTo>
                  <a:pt x="75" y="49"/>
                  <a:pt x="47" y="95"/>
                  <a:pt x="39" y="145"/>
                </a:cubicBezTo>
                <a:cubicBezTo>
                  <a:pt x="31" y="201"/>
                  <a:pt x="14" y="255"/>
                  <a:pt x="14" y="313"/>
                </a:cubicBezTo>
                <a:cubicBezTo>
                  <a:pt x="14" y="360"/>
                  <a:pt x="0" y="408"/>
                  <a:pt x="5" y="455"/>
                </a:cubicBezTo>
                <a:cubicBezTo>
                  <a:pt x="8" y="502"/>
                  <a:pt x="13" y="550"/>
                  <a:pt x="24" y="597"/>
                </a:cubicBezTo>
                <a:cubicBezTo>
                  <a:pt x="35" y="648"/>
                  <a:pt x="32" y="703"/>
                  <a:pt x="58" y="750"/>
                </a:cubicBezTo>
                <a:cubicBezTo>
                  <a:pt x="81" y="789"/>
                  <a:pt x="89" y="831"/>
                  <a:pt x="102" y="873"/>
                </a:cubicBezTo>
                <a:cubicBezTo>
                  <a:pt x="119" y="925"/>
                  <a:pt x="138" y="974"/>
                  <a:pt x="163" y="1022"/>
                </a:cubicBezTo>
                <a:cubicBezTo>
                  <a:pt x="185" y="1064"/>
                  <a:pt x="198" y="1113"/>
                  <a:pt x="232" y="1149"/>
                </a:cubicBezTo>
                <a:cubicBezTo>
                  <a:pt x="269" y="1186"/>
                  <a:pt x="289" y="1232"/>
                  <a:pt x="331" y="1269"/>
                </a:cubicBezTo>
                <a:cubicBezTo>
                  <a:pt x="368" y="1303"/>
                  <a:pt x="398" y="1344"/>
                  <a:pt x="438" y="1375"/>
                </a:cubicBezTo>
                <a:lnTo>
                  <a:pt x="439" y="1377"/>
                </a:lnTo>
              </a:path>
            </a:pathLst>
          </a:custGeom>
          <a:ln w="29160">
            <a:solidFill>
              <a:srgbClr val="C9211E"/>
            </a:solidFill>
            <a:round/>
          </a:ln>
        </p:spPr>
      </p:sp>
      <p:sp>
        <p:nvSpPr>
          <p:cNvPr id="362" name="CustomShape 16"/>
          <p:cNvSpPr/>
          <p:nvPr/>
        </p:nvSpPr>
        <p:spPr>
          <a:xfrm flipV="1">
            <a:off x="611640" y="3993840"/>
            <a:ext cx="43200" cy="4140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363" name="CustomShape 17"/>
          <p:cNvSpPr/>
          <p:nvPr/>
        </p:nvSpPr>
        <p:spPr>
          <a:xfrm>
            <a:off x="466560" y="2549880"/>
            <a:ext cx="1567440" cy="293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0" i="1" strike="noStrike" spc="-1">
                <a:solidFill>
                  <a:srgbClr val="333333"/>
                </a:solidFill>
                <a:latin typeface="Calibri"/>
                <a:ea typeface="DejaVu Sans"/>
              </a:rPr>
              <a:t>Fluid phase  </a:t>
            </a:r>
            <a:r>
              <a:rPr lang="en-US" sz="1300" b="0" i="1" strike="noStrike" spc="-1">
                <a:solidFill>
                  <a:srgbClr val="008000"/>
                </a:solidFill>
                <a:latin typeface="Calibri"/>
                <a:ea typeface="DejaVu Sans"/>
              </a:rPr>
              <a:t>(CFD)</a:t>
            </a:r>
            <a:endParaRPr lang="en-US" sz="1300" b="0" strike="noStrike" spc="-1">
              <a:latin typeface="Arial"/>
            </a:endParaRPr>
          </a:p>
        </p:txBody>
      </p:sp>
      <p:sp>
        <p:nvSpPr>
          <p:cNvPr id="364" name="CustomShape 18"/>
          <p:cNvSpPr/>
          <p:nvPr/>
        </p:nvSpPr>
        <p:spPr>
          <a:xfrm>
            <a:off x="1116720" y="2823840"/>
            <a:ext cx="163440" cy="309240"/>
          </a:xfrm>
          <a:custGeom>
            <a:avLst/>
            <a:gdLst/>
            <a:ahLst/>
            <a:cxnLst/>
            <a:rect l="0" t="0" r="r" b="b"/>
            <a:pathLst>
              <a:path w="456" h="861">
                <a:moveTo>
                  <a:pt x="113" y="0"/>
                </a:moveTo>
                <a:lnTo>
                  <a:pt x="113" y="645"/>
                </a:lnTo>
                <a:lnTo>
                  <a:pt x="0" y="645"/>
                </a:lnTo>
                <a:lnTo>
                  <a:pt x="227" y="860"/>
                </a:lnTo>
                <a:lnTo>
                  <a:pt x="455" y="645"/>
                </a:lnTo>
                <a:lnTo>
                  <a:pt x="341" y="645"/>
                </a:lnTo>
                <a:lnTo>
                  <a:pt x="341" y="0"/>
                </a:lnTo>
                <a:lnTo>
                  <a:pt x="113" y="0"/>
                </a:lnTo>
              </a:path>
            </a:pathLst>
          </a:custGeom>
          <a:solidFill>
            <a:srgbClr val="2B7ED2"/>
          </a:solidFill>
          <a:ln>
            <a:solidFill>
              <a:srgbClr val="000000"/>
            </a:solidFill>
          </a:ln>
        </p:spPr>
        <p:style>
          <a:lnRef idx="0">
            <a:scrgbClr r="0" g="0" b="0"/>
          </a:lnRef>
          <a:fillRef idx="0">
            <a:scrgbClr r="0" g="0" b="0"/>
          </a:fillRef>
          <a:effectRef idx="0">
            <a:scrgbClr r="0" g="0" b="0"/>
          </a:effectRef>
          <a:fontRef idx="minor"/>
        </p:style>
      </p:sp>
      <p:sp>
        <p:nvSpPr>
          <p:cNvPr id="365" name="CustomShape 19"/>
          <p:cNvSpPr/>
          <p:nvPr/>
        </p:nvSpPr>
        <p:spPr>
          <a:xfrm>
            <a:off x="128160" y="4237560"/>
            <a:ext cx="2235600" cy="326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1" strike="noStrike" spc="-1" dirty="0">
                <a:solidFill>
                  <a:srgbClr val="333333"/>
                </a:solidFill>
                <a:latin typeface="Calibri"/>
                <a:ea typeface="DejaVu Sans"/>
              </a:rPr>
              <a:t>Coupling</a:t>
            </a:r>
            <a:endParaRPr lang="en-US" sz="1300" b="0" strike="noStrike" spc="-1" dirty="0">
              <a:latin typeface="Arial"/>
            </a:endParaRPr>
          </a:p>
        </p:txBody>
      </p:sp>
      <p:sp>
        <p:nvSpPr>
          <p:cNvPr id="366" name="CustomShape 20"/>
          <p:cNvSpPr/>
          <p:nvPr/>
        </p:nvSpPr>
        <p:spPr>
          <a:xfrm>
            <a:off x="1117080" y="4535640"/>
            <a:ext cx="163440" cy="309240"/>
          </a:xfrm>
          <a:custGeom>
            <a:avLst/>
            <a:gdLst/>
            <a:ahLst/>
            <a:cxnLst/>
            <a:rect l="0" t="0" r="r" b="b"/>
            <a:pathLst>
              <a:path w="456" h="861">
                <a:moveTo>
                  <a:pt x="113" y="0"/>
                </a:moveTo>
                <a:lnTo>
                  <a:pt x="113" y="645"/>
                </a:lnTo>
                <a:lnTo>
                  <a:pt x="0" y="645"/>
                </a:lnTo>
                <a:lnTo>
                  <a:pt x="227" y="860"/>
                </a:lnTo>
                <a:lnTo>
                  <a:pt x="455" y="645"/>
                </a:lnTo>
                <a:lnTo>
                  <a:pt x="341" y="645"/>
                </a:lnTo>
                <a:lnTo>
                  <a:pt x="341" y="0"/>
                </a:lnTo>
                <a:lnTo>
                  <a:pt x="113" y="0"/>
                </a:lnTo>
              </a:path>
            </a:pathLst>
          </a:custGeom>
          <a:solidFill>
            <a:srgbClr val="2B7ED2"/>
          </a:solidFill>
          <a:ln>
            <a:solidFill>
              <a:srgbClr val="000000"/>
            </a:solidFill>
          </a:ln>
        </p:spPr>
        <p:style>
          <a:lnRef idx="0">
            <a:scrgbClr r="0" g="0" b="0"/>
          </a:lnRef>
          <a:fillRef idx="0">
            <a:scrgbClr r="0" g="0" b="0"/>
          </a:fillRef>
          <a:effectRef idx="0">
            <a:scrgbClr r="0" g="0" b="0"/>
          </a:effectRef>
          <a:fontRef idx="minor"/>
        </p:style>
      </p:sp>
      <p:sp>
        <p:nvSpPr>
          <p:cNvPr id="367" name="CustomShape 21"/>
          <p:cNvSpPr/>
          <p:nvPr/>
        </p:nvSpPr>
        <p:spPr>
          <a:xfrm>
            <a:off x="128160" y="5785200"/>
            <a:ext cx="2235600" cy="326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0" strike="noStrike" spc="-1" dirty="0">
                <a:solidFill>
                  <a:srgbClr val="333333"/>
                </a:solidFill>
                <a:latin typeface="Calibri"/>
                <a:ea typeface="DejaVu Sans"/>
              </a:rPr>
              <a:t>Particle phase </a:t>
            </a:r>
            <a:r>
              <a:rPr lang="en-US" sz="1300" b="0" strike="noStrike" spc="-1" dirty="0">
                <a:solidFill>
                  <a:srgbClr val="008000"/>
                </a:solidFill>
                <a:latin typeface="Calibri"/>
                <a:ea typeface="DejaVu Sans"/>
              </a:rPr>
              <a:t>(Tracking)</a:t>
            </a:r>
            <a:endParaRPr lang="en-US" sz="1300" b="0" strike="noStrike" spc="-1" dirty="0">
              <a:latin typeface="Arial"/>
            </a:endParaRPr>
          </a:p>
        </p:txBody>
      </p:sp>
      <p:pic>
        <p:nvPicPr>
          <p:cNvPr id="368" name="Immagine 9"/>
          <p:cNvPicPr/>
          <p:nvPr/>
        </p:nvPicPr>
        <p:blipFill>
          <a:blip r:embed="rId4"/>
          <a:stretch/>
        </p:blipFill>
        <p:spPr>
          <a:xfrm>
            <a:off x="479880" y="4939560"/>
            <a:ext cx="1472040" cy="804600"/>
          </a:xfrm>
          <a:prstGeom prst="rect">
            <a:avLst/>
          </a:prstGeom>
          <a:ln>
            <a:noFill/>
          </a:ln>
        </p:spPr>
      </p:pic>
      <p:sp>
        <p:nvSpPr>
          <p:cNvPr id="369" name="CustomShape 22"/>
          <p:cNvSpPr/>
          <p:nvPr/>
        </p:nvSpPr>
        <p:spPr>
          <a:xfrm>
            <a:off x="457200" y="4876920"/>
            <a:ext cx="1509480" cy="9421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370" name="CustomShape 23"/>
          <p:cNvSpPr/>
          <p:nvPr/>
        </p:nvSpPr>
        <p:spPr>
          <a:xfrm>
            <a:off x="202320" y="4527720"/>
            <a:ext cx="2011680" cy="1500120"/>
          </a:xfrm>
          <a:prstGeom prst="rect">
            <a:avLst/>
          </a:prstGeom>
          <a:solidFill>
            <a:srgbClr val="FFFFFF">
              <a:alpha val="75000"/>
            </a:srgbClr>
          </a:solidFill>
          <a:ln>
            <a:noFill/>
          </a:ln>
        </p:spPr>
        <p:style>
          <a:lnRef idx="0">
            <a:scrgbClr r="0" g="0" b="0"/>
          </a:lnRef>
          <a:fillRef idx="0">
            <a:scrgbClr r="0" g="0" b="0"/>
          </a:fillRef>
          <a:effectRef idx="0">
            <a:scrgbClr r="0" g="0" b="0"/>
          </a:effectRef>
          <a:fontRef idx="minor"/>
        </p:style>
      </p:sp>
      <p:sp>
        <p:nvSpPr>
          <p:cNvPr id="371" name="CustomShape 24"/>
          <p:cNvSpPr/>
          <p:nvPr/>
        </p:nvSpPr>
        <p:spPr>
          <a:xfrm>
            <a:off x="202320" y="1447200"/>
            <a:ext cx="2011680" cy="1684800"/>
          </a:xfrm>
          <a:prstGeom prst="rect">
            <a:avLst/>
          </a:prstGeom>
          <a:solidFill>
            <a:srgbClr val="FFFFFF">
              <a:alpha val="75000"/>
            </a:srgbClr>
          </a:solidFill>
          <a:ln>
            <a:noFill/>
          </a:ln>
        </p:spPr>
        <p:style>
          <a:lnRef idx="0">
            <a:scrgbClr r="0" g="0" b="0"/>
          </a:lnRef>
          <a:fillRef idx="0">
            <a:scrgbClr r="0" g="0" b="0"/>
          </a:fillRef>
          <a:effectRef idx="0">
            <a:scrgbClr r="0" g="0" b="0"/>
          </a:effectRef>
          <a:fontRef idx="minor"/>
        </p:style>
      </p:sp>
      <p:sp>
        <p:nvSpPr>
          <p:cNvPr id="372" name="CustomShape 25"/>
          <p:cNvSpPr/>
          <p:nvPr/>
        </p:nvSpPr>
        <p:spPr>
          <a:xfrm>
            <a:off x="3759120" y="1952640"/>
            <a:ext cx="62784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Input</a:t>
            </a:r>
            <a:endParaRPr lang="en-US" sz="1600" b="0" strike="noStrike" spc="-1">
              <a:latin typeface="Arial"/>
            </a:endParaRPr>
          </a:p>
        </p:txBody>
      </p:sp>
      <p:sp>
        <p:nvSpPr>
          <p:cNvPr id="373" name="Line 26"/>
          <p:cNvSpPr/>
          <p:nvPr/>
        </p:nvSpPr>
        <p:spPr>
          <a:xfrm>
            <a:off x="3284640" y="1700280"/>
            <a:ext cx="10440" cy="204516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374" name="CustomShape 27"/>
          <p:cNvSpPr/>
          <p:nvPr/>
        </p:nvSpPr>
        <p:spPr>
          <a:xfrm>
            <a:off x="2889720" y="1416960"/>
            <a:ext cx="200304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1" strike="noStrike" spc="-1">
                <a:solidFill>
                  <a:srgbClr val="55308D"/>
                </a:solidFill>
                <a:latin typeface="Calibri"/>
                <a:ea typeface="DejaVu Sans"/>
              </a:rPr>
              <a:t>Physical description</a:t>
            </a:r>
            <a:endParaRPr lang="en-US" sz="1600" b="0" strike="noStrike" spc="-1">
              <a:latin typeface="Arial"/>
            </a:endParaRPr>
          </a:p>
        </p:txBody>
      </p:sp>
      <p:sp>
        <p:nvSpPr>
          <p:cNvPr id="375" name="CustomShape 28"/>
          <p:cNvSpPr/>
          <p:nvPr/>
        </p:nvSpPr>
        <p:spPr>
          <a:xfrm>
            <a:off x="3759120" y="2960640"/>
            <a:ext cx="78156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Output</a:t>
            </a:r>
            <a:endParaRPr lang="en-US" sz="1600" b="0" strike="noStrike" spc="-1">
              <a:latin typeface="Arial"/>
            </a:endParaRPr>
          </a:p>
        </p:txBody>
      </p:sp>
      <p:sp>
        <p:nvSpPr>
          <p:cNvPr id="376" name="CustomShape 29"/>
          <p:cNvSpPr/>
          <p:nvPr/>
        </p:nvSpPr>
        <p:spPr>
          <a:xfrm>
            <a:off x="3295080" y="313308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377" name="CustomShape 30"/>
          <p:cNvSpPr/>
          <p:nvPr/>
        </p:nvSpPr>
        <p:spPr>
          <a:xfrm>
            <a:off x="4390560" y="2114280"/>
            <a:ext cx="1762200" cy="72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378" name="CustomShape 31"/>
          <p:cNvSpPr/>
          <p:nvPr/>
        </p:nvSpPr>
        <p:spPr>
          <a:xfrm>
            <a:off x="1980720" y="969480"/>
            <a:ext cx="2968200" cy="32652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86760" tIns="41760" rIns="86760" bIns="41760">
            <a:spAutoFit/>
          </a:bodyPr>
          <a:lstStyle/>
          <a:p>
            <a:pPr>
              <a:lnSpc>
                <a:spcPct val="100000"/>
              </a:lnSpc>
              <a:spcAft>
                <a:spcPts val="479"/>
              </a:spcAft>
            </a:pPr>
            <a:r>
              <a:rPr lang="en-US" sz="1600" b="1" strike="noStrike" spc="-1">
                <a:solidFill>
                  <a:srgbClr val="CE181E"/>
                </a:solidFill>
                <a:latin typeface="Calibri"/>
                <a:ea typeface="DejaVu Sans"/>
              </a:rPr>
              <a:t>Interaction between components</a:t>
            </a:r>
            <a:endParaRPr lang="en-US" sz="1600" b="0" strike="noStrike" spc="-1">
              <a:latin typeface="Arial"/>
            </a:endParaRPr>
          </a:p>
        </p:txBody>
      </p:sp>
      <p:sp>
        <p:nvSpPr>
          <p:cNvPr id="379" name="Line 32"/>
          <p:cNvSpPr/>
          <p:nvPr/>
        </p:nvSpPr>
        <p:spPr>
          <a:xfrm>
            <a:off x="2420640" y="1304640"/>
            <a:ext cx="0" cy="392472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380" name="CustomShape 33"/>
          <p:cNvSpPr/>
          <p:nvPr/>
        </p:nvSpPr>
        <p:spPr>
          <a:xfrm>
            <a:off x="3291840" y="212544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381" name="CustomShape 34"/>
          <p:cNvSpPr/>
          <p:nvPr/>
        </p:nvSpPr>
        <p:spPr>
          <a:xfrm>
            <a:off x="2420640" y="159264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382" name="CustomShape 35"/>
          <p:cNvSpPr/>
          <p:nvPr/>
        </p:nvSpPr>
        <p:spPr>
          <a:xfrm>
            <a:off x="2889720" y="5061240"/>
            <a:ext cx="1927440" cy="333720"/>
          </a:xfrm>
          <a:prstGeom prst="rect">
            <a:avLst/>
          </a:prstGeom>
          <a:solidFill>
            <a:srgbClr val="FFF5C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Software description</a:t>
            </a:r>
            <a:endParaRPr lang="en-US" sz="1600" b="0" strike="noStrike" spc="-1">
              <a:latin typeface="Arial"/>
            </a:endParaRPr>
          </a:p>
        </p:txBody>
      </p:sp>
      <p:sp>
        <p:nvSpPr>
          <p:cNvPr id="383" name="CustomShape 36"/>
          <p:cNvSpPr/>
          <p:nvPr/>
        </p:nvSpPr>
        <p:spPr>
          <a:xfrm>
            <a:off x="2417400" y="522900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384" name="CustomShape 37"/>
          <p:cNvSpPr/>
          <p:nvPr/>
        </p:nvSpPr>
        <p:spPr>
          <a:xfrm>
            <a:off x="6521040" y="1594800"/>
            <a:ext cx="188208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Velocity @ cell center</a:t>
            </a:r>
            <a:endParaRPr lang="en-US" sz="1500" b="0" strike="noStrike" spc="-1">
              <a:latin typeface="Arial"/>
            </a:endParaRPr>
          </a:p>
        </p:txBody>
      </p:sp>
      <p:sp>
        <p:nvSpPr>
          <p:cNvPr id="385" name="CustomShape 38"/>
          <p:cNvSpPr/>
          <p:nvPr/>
        </p:nvSpPr>
        <p:spPr>
          <a:xfrm>
            <a:off x="6521040" y="2710800"/>
            <a:ext cx="16077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Tracer trajectories</a:t>
            </a:r>
            <a:endParaRPr lang="en-US" sz="1500" b="0" strike="noStrike" spc="-1">
              <a:latin typeface="Arial"/>
            </a:endParaRPr>
          </a:p>
        </p:txBody>
      </p:sp>
      <p:sp>
        <p:nvSpPr>
          <p:cNvPr id="386" name="CustomShape 39"/>
          <p:cNvSpPr/>
          <p:nvPr/>
        </p:nvSpPr>
        <p:spPr>
          <a:xfrm>
            <a:off x="6521040" y="1954800"/>
            <a:ext cx="235152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Velocity @ boundary nodes</a:t>
            </a:r>
            <a:endParaRPr lang="en-US" sz="1500" b="0" strike="noStrike" spc="-1">
              <a:latin typeface="Arial"/>
            </a:endParaRPr>
          </a:p>
        </p:txBody>
      </p:sp>
      <p:sp>
        <p:nvSpPr>
          <p:cNvPr id="387" name="CustomShape 40"/>
          <p:cNvSpPr/>
          <p:nvPr/>
        </p:nvSpPr>
        <p:spPr>
          <a:xfrm>
            <a:off x="6521040" y="2314800"/>
            <a:ext cx="16275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Mesh connectivity</a:t>
            </a:r>
            <a:endParaRPr lang="en-US" sz="1500" b="0" strike="noStrike" spc="-1">
              <a:latin typeface="Arial"/>
            </a:endParaRPr>
          </a:p>
        </p:txBody>
      </p:sp>
      <p:sp>
        <p:nvSpPr>
          <p:cNvPr id="388" name="CustomShape 41"/>
          <p:cNvSpPr/>
          <p:nvPr/>
        </p:nvSpPr>
        <p:spPr>
          <a:xfrm>
            <a:off x="6154560" y="1754640"/>
            <a:ext cx="33912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389" name="CustomShape 42"/>
          <p:cNvSpPr/>
          <p:nvPr/>
        </p:nvSpPr>
        <p:spPr>
          <a:xfrm>
            <a:off x="6152760" y="211500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390" name="Line 43"/>
          <p:cNvSpPr/>
          <p:nvPr/>
        </p:nvSpPr>
        <p:spPr>
          <a:xfrm flipH="1">
            <a:off x="6149520" y="1755000"/>
            <a:ext cx="2880" cy="720360"/>
          </a:xfrm>
          <a:prstGeom prst="line">
            <a:avLst/>
          </a:prstGeom>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391" name="CustomShape 44"/>
          <p:cNvSpPr/>
          <p:nvPr/>
        </p:nvSpPr>
        <p:spPr>
          <a:xfrm>
            <a:off x="6149520" y="247536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392" name="CustomShape 45"/>
          <p:cNvSpPr/>
          <p:nvPr/>
        </p:nvSpPr>
        <p:spPr>
          <a:xfrm>
            <a:off x="3759120" y="3572640"/>
            <a:ext cx="147348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Data treatment</a:t>
            </a:r>
            <a:endParaRPr lang="en-US" sz="1600" b="0" strike="noStrike" spc="-1">
              <a:latin typeface="Arial"/>
            </a:endParaRPr>
          </a:p>
        </p:txBody>
      </p:sp>
      <p:sp>
        <p:nvSpPr>
          <p:cNvPr id="393" name="CustomShape 46"/>
          <p:cNvSpPr/>
          <p:nvPr/>
        </p:nvSpPr>
        <p:spPr>
          <a:xfrm>
            <a:off x="3295080" y="374508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394" name="CustomShape 47"/>
          <p:cNvSpPr/>
          <p:nvPr/>
        </p:nvSpPr>
        <p:spPr>
          <a:xfrm>
            <a:off x="2889720" y="4053240"/>
            <a:ext cx="1717200" cy="333720"/>
          </a:xfrm>
          <a:prstGeom prst="rect">
            <a:avLst/>
          </a:prstGeom>
          <a:solidFill>
            <a:srgbClr val="FFD7D7"/>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Model description</a:t>
            </a:r>
            <a:endParaRPr lang="en-US" sz="1600" b="0" strike="noStrike" spc="-1">
              <a:latin typeface="Arial"/>
            </a:endParaRPr>
          </a:p>
        </p:txBody>
      </p:sp>
      <p:sp>
        <p:nvSpPr>
          <p:cNvPr id="395" name="CustomShape 48"/>
          <p:cNvSpPr/>
          <p:nvPr/>
        </p:nvSpPr>
        <p:spPr>
          <a:xfrm>
            <a:off x="2418120" y="4230000"/>
            <a:ext cx="44604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396" name="CustomShape 49"/>
          <p:cNvSpPr/>
          <p:nvPr/>
        </p:nvSpPr>
        <p:spPr>
          <a:xfrm>
            <a:off x="4627080" y="4213080"/>
            <a:ext cx="18471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397" name="CustomShape 50"/>
          <p:cNvSpPr/>
          <p:nvPr/>
        </p:nvSpPr>
        <p:spPr>
          <a:xfrm>
            <a:off x="6502680" y="4042800"/>
            <a:ext cx="134100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Tracer tracking</a:t>
            </a:r>
            <a:endParaRPr lang="en-US" sz="1500" b="0" strike="noStrike" spc="-1">
              <a:latin typeface="Arial"/>
            </a:endParaRPr>
          </a:p>
        </p:txBody>
      </p:sp>
      <p:sp>
        <p:nvSpPr>
          <p:cNvPr id="398" name="CustomShape 51"/>
          <p:cNvSpPr/>
          <p:nvPr/>
        </p:nvSpPr>
        <p:spPr>
          <a:xfrm>
            <a:off x="2418120" y="4734000"/>
            <a:ext cx="44604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399" name="CustomShape 52"/>
          <p:cNvSpPr/>
          <p:nvPr/>
        </p:nvSpPr>
        <p:spPr>
          <a:xfrm>
            <a:off x="4591080" y="4717080"/>
            <a:ext cx="186552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400" name="CustomShape 53"/>
          <p:cNvSpPr/>
          <p:nvPr/>
        </p:nvSpPr>
        <p:spPr>
          <a:xfrm>
            <a:off x="6510600" y="4546800"/>
            <a:ext cx="11703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ASCII format</a:t>
            </a:r>
            <a:endParaRPr lang="en-US" sz="1500" b="0" strike="noStrike" spc="-1">
              <a:latin typeface="Arial"/>
            </a:endParaRPr>
          </a:p>
        </p:txBody>
      </p:sp>
      <p:sp>
        <p:nvSpPr>
          <p:cNvPr id="401" name="CustomShape 54"/>
          <p:cNvSpPr/>
          <p:nvPr/>
        </p:nvSpPr>
        <p:spPr>
          <a:xfrm>
            <a:off x="2889720" y="4557240"/>
            <a:ext cx="1694520" cy="333720"/>
          </a:xfrm>
          <a:prstGeom prst="rect">
            <a:avLst/>
          </a:prstGeom>
          <a:solidFill>
            <a:srgbClr val="DDE8CB"/>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Solver description</a:t>
            </a:r>
            <a:endParaRPr lang="en-US" sz="1600" b="0" strike="noStrike" spc="-1">
              <a:latin typeface="Arial"/>
            </a:endParaRPr>
          </a:p>
        </p:txBody>
      </p:sp>
      <p:sp>
        <p:nvSpPr>
          <p:cNvPr id="402" name="CustomShape 55"/>
          <p:cNvSpPr/>
          <p:nvPr/>
        </p:nvSpPr>
        <p:spPr>
          <a:xfrm>
            <a:off x="6497640" y="5059080"/>
            <a:ext cx="196272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Own wrapper/mapper</a:t>
            </a:r>
            <a:endParaRPr lang="en-US" sz="1500" b="0" strike="noStrike" spc="-1">
              <a:latin typeface="Arial"/>
            </a:endParaRPr>
          </a:p>
        </p:txBody>
      </p:sp>
      <p:sp>
        <p:nvSpPr>
          <p:cNvPr id="403" name="CustomShape 56"/>
          <p:cNvSpPr/>
          <p:nvPr/>
        </p:nvSpPr>
        <p:spPr>
          <a:xfrm>
            <a:off x="6529680" y="3070800"/>
            <a:ext cx="1560240" cy="54612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Velocity gradient </a:t>
            </a:r>
            <a:r>
              <a:t/>
            </a:r>
            <a:br/>
            <a:r>
              <a:rPr lang="en-US" sz="1500" b="1" strike="noStrike" spc="-1">
                <a:solidFill>
                  <a:srgbClr val="FFFFFF"/>
                </a:solidFill>
                <a:latin typeface="Calibri"/>
                <a:ea typeface="DejaVu Sans"/>
              </a:rPr>
              <a:t>along trajectories</a:t>
            </a:r>
            <a:endParaRPr lang="en-US" sz="1500" b="0" strike="noStrike" spc="-1">
              <a:latin typeface="Arial"/>
            </a:endParaRPr>
          </a:p>
        </p:txBody>
      </p:sp>
      <p:sp>
        <p:nvSpPr>
          <p:cNvPr id="404" name="CustomShape 57"/>
          <p:cNvSpPr/>
          <p:nvPr/>
        </p:nvSpPr>
        <p:spPr>
          <a:xfrm>
            <a:off x="6146280" y="333972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405" name="CustomShape 58"/>
          <p:cNvSpPr/>
          <p:nvPr/>
        </p:nvSpPr>
        <p:spPr>
          <a:xfrm>
            <a:off x="4567320" y="3122640"/>
            <a:ext cx="1591200" cy="72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406" name="CustomShape 59"/>
          <p:cNvSpPr/>
          <p:nvPr/>
        </p:nvSpPr>
        <p:spPr>
          <a:xfrm>
            <a:off x="6149520" y="287136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407" name="Line 60"/>
          <p:cNvSpPr/>
          <p:nvPr/>
        </p:nvSpPr>
        <p:spPr>
          <a:xfrm flipH="1">
            <a:off x="6146280" y="2870640"/>
            <a:ext cx="3240" cy="469080"/>
          </a:xfrm>
          <a:prstGeom prst="line">
            <a:avLst/>
          </a:prstGeom>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408" name="CustomShape 61"/>
          <p:cNvSpPr/>
          <p:nvPr/>
        </p:nvSpPr>
        <p:spPr>
          <a:xfrm>
            <a:off x="4817160" y="5221440"/>
            <a:ext cx="16365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409" name="CustomShape 62"/>
          <p:cNvSpPr/>
          <p:nvPr/>
        </p:nvSpPr>
        <p:spPr>
          <a:xfrm>
            <a:off x="3157200" y="5573880"/>
            <a:ext cx="565416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400" b="1" strike="noStrike" spc="-1">
                <a:solidFill>
                  <a:srgbClr val="000000"/>
                </a:solidFill>
                <a:latin typeface="Calibri"/>
                <a:ea typeface="DejaVu Sans"/>
              </a:rPr>
              <a:t>For robust workflows, this step should rather be declared as a “classical particle” component (since it computes trajectories for tracers)</a:t>
            </a:r>
            <a:endParaRPr lang="en-US" sz="1400" b="1" strike="noStrike" spc="-1">
              <a:solidFill>
                <a:srgbClr val="000000"/>
              </a:solidFill>
              <a:latin typeface="Arial"/>
            </a:endParaRPr>
          </a:p>
        </p:txBody>
      </p:sp>
      <p:pic>
        <p:nvPicPr>
          <p:cNvPr id="410" name="Image 409"/>
          <p:cNvPicPr/>
          <p:nvPr/>
        </p:nvPicPr>
        <p:blipFill>
          <a:blip r:embed="rId5"/>
          <a:stretch/>
        </p:blipFill>
        <p:spPr>
          <a:xfrm>
            <a:off x="2445840" y="5450400"/>
            <a:ext cx="731520" cy="731520"/>
          </a:xfrm>
          <a:prstGeom prst="rect">
            <a:avLst/>
          </a:prstGeom>
          <a:ln>
            <a:noFill/>
          </a:ln>
        </p:spPr>
      </p:pic>
      <p:sp>
        <p:nvSpPr>
          <p:cNvPr id="72" name="Text Box 2"/>
          <p:cNvSpPr txBox="1">
            <a:spLocks noChangeArrowheads="1"/>
          </p:cNvSpPr>
          <p:nvPr/>
        </p:nvSpPr>
        <p:spPr bwMode="auto">
          <a:xfrm>
            <a:off x="10633" y="1"/>
            <a:ext cx="9133367" cy="545760"/>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illustration pratique 3/4</a:t>
            </a:r>
            <a:endParaRPr lang="fr-FR" altLang="fr-FR" sz="2800" dirty="0">
              <a:solidFill>
                <a:srgbClr val="001A70"/>
              </a:solidFill>
              <a:cs typeface="Arial" panose="020B0604020202020204" pitchFamily="34" charset="0"/>
            </a:endParaRPr>
          </a:p>
        </p:txBody>
      </p:sp>
    </p:spTree>
    <p:extLst>
      <p:ext uri="{BB962C8B-B14F-4D97-AF65-F5344CB8AC3E}">
        <p14:creationId xmlns:p14="http://schemas.microsoft.com/office/powerpoint/2010/main" val="34778266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CustomShape 1"/>
          <p:cNvSpPr/>
          <p:nvPr/>
        </p:nvSpPr>
        <p:spPr>
          <a:xfrm>
            <a:off x="466560" y="548640"/>
            <a:ext cx="8206920" cy="368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1" strike="noStrike" spc="-1">
                <a:solidFill>
                  <a:srgbClr val="12235A"/>
                </a:solidFill>
                <a:latin typeface="Calibri"/>
                <a:ea typeface="DejaVu Sans"/>
              </a:rPr>
              <a:t>Illustration of the CDM on practical workflows: use-case 3 (Continental)</a:t>
            </a:r>
            <a:endParaRPr lang="en-US" sz="2000" b="0" strike="noStrike" spc="-1">
              <a:latin typeface="Arial"/>
            </a:endParaRPr>
          </a:p>
        </p:txBody>
      </p:sp>
      <p:sp>
        <p:nvSpPr>
          <p:cNvPr id="95" name="CustomShape 24"/>
          <p:cNvSpPr/>
          <p:nvPr/>
        </p:nvSpPr>
        <p:spPr>
          <a:xfrm>
            <a:off x="3756240" y="1921680"/>
            <a:ext cx="186048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Particle family/class</a:t>
            </a:r>
            <a:endParaRPr lang="en-US" sz="1600" b="0" strike="noStrike" spc="-1">
              <a:latin typeface="Arial"/>
            </a:endParaRPr>
          </a:p>
        </p:txBody>
      </p:sp>
      <p:sp>
        <p:nvSpPr>
          <p:cNvPr id="96" name="Line 25"/>
          <p:cNvSpPr/>
          <p:nvPr/>
        </p:nvSpPr>
        <p:spPr>
          <a:xfrm>
            <a:off x="3281760" y="1735920"/>
            <a:ext cx="4320" cy="201024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97" name="CustomShape 26"/>
          <p:cNvSpPr/>
          <p:nvPr/>
        </p:nvSpPr>
        <p:spPr>
          <a:xfrm>
            <a:off x="2886840" y="1452600"/>
            <a:ext cx="200304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1" strike="noStrike" spc="-1">
                <a:solidFill>
                  <a:srgbClr val="55308D"/>
                </a:solidFill>
                <a:latin typeface="Calibri"/>
                <a:ea typeface="DejaVu Sans"/>
              </a:rPr>
              <a:t>Physical description</a:t>
            </a:r>
            <a:endParaRPr lang="en-US" sz="1600" b="0" strike="noStrike" spc="-1">
              <a:latin typeface="Arial"/>
            </a:endParaRPr>
          </a:p>
        </p:txBody>
      </p:sp>
      <p:sp>
        <p:nvSpPr>
          <p:cNvPr id="98" name="CustomShape 27"/>
          <p:cNvSpPr/>
          <p:nvPr/>
        </p:nvSpPr>
        <p:spPr>
          <a:xfrm>
            <a:off x="3756240" y="2569680"/>
            <a:ext cx="171900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Physical processes</a:t>
            </a:r>
            <a:endParaRPr lang="en-US" sz="1600" b="0" strike="noStrike" spc="-1">
              <a:latin typeface="Arial"/>
            </a:endParaRPr>
          </a:p>
        </p:txBody>
      </p:sp>
      <p:sp>
        <p:nvSpPr>
          <p:cNvPr id="99" name="CustomShape 28"/>
          <p:cNvSpPr/>
          <p:nvPr/>
        </p:nvSpPr>
        <p:spPr>
          <a:xfrm>
            <a:off x="3756240" y="3574440"/>
            <a:ext cx="315000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Constraints &amp; statistical description</a:t>
            </a:r>
            <a:endParaRPr lang="en-US" sz="1600" b="0" strike="noStrike" spc="-1">
              <a:latin typeface="Arial"/>
            </a:endParaRPr>
          </a:p>
        </p:txBody>
      </p:sp>
      <p:sp>
        <p:nvSpPr>
          <p:cNvPr id="100" name="CustomShape 29"/>
          <p:cNvSpPr/>
          <p:nvPr/>
        </p:nvSpPr>
        <p:spPr>
          <a:xfrm>
            <a:off x="3286440" y="2737440"/>
            <a:ext cx="44820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01" name="CustomShape 30"/>
          <p:cNvSpPr/>
          <p:nvPr/>
        </p:nvSpPr>
        <p:spPr>
          <a:xfrm>
            <a:off x="3286080" y="3745800"/>
            <a:ext cx="44820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02" name="CustomShape 31"/>
          <p:cNvSpPr/>
          <p:nvPr/>
        </p:nvSpPr>
        <p:spPr>
          <a:xfrm>
            <a:off x="6496920" y="1743120"/>
            <a:ext cx="193068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Number of monomers</a:t>
            </a:r>
            <a:endParaRPr lang="en-US" sz="1500" b="0" strike="noStrike" spc="-1">
              <a:latin typeface="Arial"/>
            </a:endParaRPr>
          </a:p>
        </p:txBody>
      </p:sp>
      <p:sp>
        <p:nvSpPr>
          <p:cNvPr id="103" name="CustomShape 32"/>
          <p:cNvSpPr/>
          <p:nvPr/>
        </p:nvSpPr>
        <p:spPr>
          <a:xfrm>
            <a:off x="2863800" y="5232600"/>
            <a:ext cx="2090998" cy="337100"/>
          </a:xfrm>
          <a:prstGeom prst="rect">
            <a:avLst/>
          </a:prstGeom>
          <a:solidFill>
            <a:srgbClr val="DDDDDD"/>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pc="-1" dirty="0">
                <a:solidFill>
                  <a:srgbClr val="55308D"/>
                </a:solidFill>
                <a:latin typeface="Calibri"/>
                <a:ea typeface="DejaVu Sans"/>
              </a:rPr>
              <a:t>Output</a:t>
            </a:r>
            <a:r>
              <a:rPr lang="en-US" sz="1600" b="1" spc="-1">
                <a:solidFill>
                  <a:srgbClr val="55308D"/>
                </a:solidFill>
                <a:latin typeface="Calibri"/>
                <a:ea typeface="DejaVu Sans"/>
              </a:rPr>
              <a:t> &amp; visualisation</a:t>
            </a:r>
            <a:endParaRPr lang="en-US" sz="1600" b="0" strike="noStrike" spc="-1">
              <a:latin typeface="Arial"/>
            </a:endParaRPr>
          </a:p>
        </p:txBody>
      </p:sp>
      <p:sp>
        <p:nvSpPr>
          <p:cNvPr id="104" name="CustomShape 33"/>
          <p:cNvSpPr/>
          <p:nvPr/>
        </p:nvSpPr>
        <p:spPr>
          <a:xfrm>
            <a:off x="6496920" y="5050440"/>
            <a:ext cx="14583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Nb of fragments</a:t>
            </a:r>
            <a:endParaRPr lang="en-US" sz="1500" b="0" strike="noStrike" spc="-1">
              <a:latin typeface="Arial"/>
            </a:endParaRPr>
          </a:p>
        </p:txBody>
      </p:sp>
      <p:sp>
        <p:nvSpPr>
          <p:cNvPr id="105" name="CustomShape 34"/>
          <p:cNvSpPr/>
          <p:nvPr/>
        </p:nvSpPr>
        <p:spPr>
          <a:xfrm>
            <a:off x="2005560" y="969120"/>
            <a:ext cx="2190960" cy="32652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86760" tIns="41760" rIns="86760" bIns="41760">
            <a:spAutoFit/>
          </a:bodyPr>
          <a:lstStyle/>
          <a:p>
            <a:pPr>
              <a:lnSpc>
                <a:spcPct val="100000"/>
              </a:lnSpc>
              <a:spcAft>
                <a:spcPts val="479"/>
              </a:spcAft>
            </a:pPr>
            <a:r>
              <a:rPr lang="en-US" sz="1600" b="1" strike="noStrike" spc="-1">
                <a:solidFill>
                  <a:srgbClr val="CE181E"/>
                </a:solidFill>
                <a:latin typeface="Calibri"/>
                <a:ea typeface="DejaVu Sans"/>
              </a:rPr>
              <a:t>Classical particle system</a:t>
            </a:r>
            <a:endParaRPr lang="en-US" sz="1600" b="0" strike="noStrike" spc="-1">
              <a:latin typeface="Arial"/>
            </a:endParaRPr>
          </a:p>
        </p:txBody>
      </p:sp>
      <p:sp>
        <p:nvSpPr>
          <p:cNvPr id="106" name="Line 35"/>
          <p:cNvSpPr/>
          <p:nvPr/>
        </p:nvSpPr>
        <p:spPr>
          <a:xfrm>
            <a:off x="2417760" y="1304280"/>
            <a:ext cx="0" cy="410472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107" name="CustomShape 36"/>
          <p:cNvSpPr/>
          <p:nvPr/>
        </p:nvSpPr>
        <p:spPr>
          <a:xfrm>
            <a:off x="3288960" y="208908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09" name="CustomShape 37"/>
          <p:cNvSpPr/>
          <p:nvPr/>
        </p:nvSpPr>
        <p:spPr>
          <a:xfrm>
            <a:off x="2417760" y="162828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10" name="CustomShape 38"/>
          <p:cNvSpPr/>
          <p:nvPr/>
        </p:nvSpPr>
        <p:spPr>
          <a:xfrm>
            <a:off x="2414520" y="540864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11" name="CustomShape 39"/>
          <p:cNvSpPr/>
          <p:nvPr/>
        </p:nvSpPr>
        <p:spPr>
          <a:xfrm>
            <a:off x="2886840" y="4584600"/>
            <a:ext cx="1927440" cy="333720"/>
          </a:xfrm>
          <a:prstGeom prst="rect">
            <a:avLst/>
          </a:prstGeom>
          <a:solidFill>
            <a:srgbClr val="FFF5C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Software description</a:t>
            </a:r>
            <a:endParaRPr lang="en-US" sz="1600" b="0" strike="noStrike" spc="-1">
              <a:latin typeface="Arial"/>
            </a:endParaRPr>
          </a:p>
        </p:txBody>
      </p:sp>
      <p:sp>
        <p:nvSpPr>
          <p:cNvPr id="176" name="CustomShape 40"/>
          <p:cNvSpPr/>
          <p:nvPr/>
        </p:nvSpPr>
        <p:spPr>
          <a:xfrm flipV="1">
            <a:off x="4851000" y="4758480"/>
            <a:ext cx="160920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77" name="CustomShape 41"/>
          <p:cNvSpPr/>
          <p:nvPr/>
        </p:nvSpPr>
        <p:spPr>
          <a:xfrm>
            <a:off x="6496920" y="4582440"/>
            <a:ext cx="86400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DEM_SD</a:t>
            </a:r>
            <a:endParaRPr lang="en-US" sz="1500" b="0" strike="noStrike" spc="-1">
              <a:latin typeface="Arial"/>
            </a:endParaRPr>
          </a:p>
        </p:txBody>
      </p:sp>
      <p:sp>
        <p:nvSpPr>
          <p:cNvPr id="178" name="CustomShape 42"/>
          <p:cNvSpPr/>
          <p:nvPr/>
        </p:nvSpPr>
        <p:spPr>
          <a:xfrm>
            <a:off x="2414520" y="4760640"/>
            <a:ext cx="44676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79" name="CustomShape 43"/>
          <p:cNvSpPr/>
          <p:nvPr/>
        </p:nvSpPr>
        <p:spPr>
          <a:xfrm>
            <a:off x="6496920" y="2103120"/>
            <a:ext cx="158328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Fractal dimension</a:t>
            </a:r>
            <a:endParaRPr lang="en-US" sz="1500" b="0" strike="noStrike" spc="-1">
              <a:latin typeface="Arial"/>
            </a:endParaRPr>
          </a:p>
        </p:txBody>
      </p:sp>
      <p:sp>
        <p:nvSpPr>
          <p:cNvPr id="180" name="CustomShape 44"/>
          <p:cNvSpPr/>
          <p:nvPr/>
        </p:nvSpPr>
        <p:spPr>
          <a:xfrm>
            <a:off x="5613120" y="2088720"/>
            <a:ext cx="53028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181" name="CustomShape 45"/>
          <p:cNvSpPr/>
          <p:nvPr/>
        </p:nvSpPr>
        <p:spPr>
          <a:xfrm>
            <a:off x="6148800" y="1897920"/>
            <a:ext cx="33912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82" name="CustomShape 46"/>
          <p:cNvSpPr/>
          <p:nvPr/>
        </p:nvSpPr>
        <p:spPr>
          <a:xfrm>
            <a:off x="6147000" y="225828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83" name="Line 47"/>
          <p:cNvSpPr/>
          <p:nvPr/>
        </p:nvSpPr>
        <p:spPr>
          <a:xfrm>
            <a:off x="6146640" y="1898280"/>
            <a:ext cx="2880" cy="360000"/>
          </a:xfrm>
          <a:prstGeom prst="line">
            <a:avLst/>
          </a:prstGeom>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184" name="CustomShape 48"/>
          <p:cNvSpPr/>
          <p:nvPr/>
        </p:nvSpPr>
        <p:spPr>
          <a:xfrm>
            <a:off x="2886840" y="4116240"/>
            <a:ext cx="1717200" cy="333720"/>
          </a:xfrm>
          <a:prstGeom prst="rect">
            <a:avLst/>
          </a:prstGeom>
          <a:solidFill>
            <a:srgbClr val="FFD7D7"/>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Model description</a:t>
            </a:r>
            <a:endParaRPr lang="en-US" sz="1600" b="0" strike="noStrike" spc="-1">
              <a:latin typeface="Arial"/>
            </a:endParaRPr>
          </a:p>
        </p:txBody>
      </p:sp>
      <p:sp>
        <p:nvSpPr>
          <p:cNvPr id="185" name="CustomShape 49"/>
          <p:cNvSpPr/>
          <p:nvPr/>
        </p:nvSpPr>
        <p:spPr>
          <a:xfrm>
            <a:off x="2415240" y="4293000"/>
            <a:ext cx="44604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86" name="CustomShape 50"/>
          <p:cNvSpPr/>
          <p:nvPr/>
        </p:nvSpPr>
        <p:spPr>
          <a:xfrm>
            <a:off x="4624200" y="4276080"/>
            <a:ext cx="18471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87" name="CustomShape 51"/>
          <p:cNvSpPr/>
          <p:nvPr/>
        </p:nvSpPr>
        <p:spPr>
          <a:xfrm>
            <a:off x="6496920" y="4114440"/>
            <a:ext cx="55908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DEM</a:t>
            </a:r>
            <a:endParaRPr lang="en-US" sz="1500" b="0" strike="noStrike" spc="-1">
              <a:latin typeface="Arial"/>
            </a:endParaRPr>
          </a:p>
        </p:txBody>
      </p:sp>
      <p:sp>
        <p:nvSpPr>
          <p:cNvPr id="188" name="CustomShape 52"/>
          <p:cNvSpPr/>
          <p:nvPr/>
        </p:nvSpPr>
        <p:spPr>
          <a:xfrm>
            <a:off x="4457520" y="3001680"/>
            <a:ext cx="2554200" cy="333720"/>
          </a:xfrm>
          <a:prstGeom prst="rect">
            <a:avLst/>
          </a:prstGeom>
          <a:solidFill>
            <a:srgbClr val="DEE6EF"/>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479"/>
              </a:spcAft>
            </a:pPr>
            <a:r>
              <a:rPr lang="en-US" sz="1600" b="1" strike="noStrike" spc="-1">
                <a:solidFill>
                  <a:srgbClr val="55308D"/>
                </a:solidFill>
                <a:latin typeface="Calibri"/>
                <a:ea typeface="DejaVu Sans"/>
              </a:rPr>
              <a:t>Particle-particle interactions</a:t>
            </a:r>
            <a:endParaRPr lang="en-US" sz="1600" b="0" strike="noStrike" spc="-1">
              <a:latin typeface="Arial"/>
            </a:endParaRPr>
          </a:p>
        </p:txBody>
      </p:sp>
      <p:sp>
        <p:nvSpPr>
          <p:cNvPr id="189" name="CustomShape 53"/>
          <p:cNvSpPr/>
          <p:nvPr/>
        </p:nvSpPr>
        <p:spPr>
          <a:xfrm>
            <a:off x="4006080" y="3169440"/>
            <a:ext cx="448200" cy="360"/>
          </a:xfrm>
          <a:custGeom>
            <a:avLst/>
            <a:gdLst/>
            <a:ahLst/>
            <a:cxnLst/>
            <a:rect l="l" t="t" r="r" b="b"/>
            <a:pathLst>
              <a:path w="21600" h="21600">
                <a:moveTo>
                  <a:pt x="0" y="0"/>
                </a:moveTo>
                <a:lnTo>
                  <a:pt x="21600" y="21600"/>
                </a:lnTo>
              </a:path>
            </a:pathLst>
          </a:custGeom>
          <a:noFill/>
          <a:ln w="12600">
            <a:solidFill>
              <a:srgbClr val="000000"/>
            </a:solidFill>
            <a:round/>
            <a:tailEnd type="triangle" w="med" len="med"/>
          </a:ln>
        </p:spPr>
        <p:style>
          <a:lnRef idx="0">
            <a:scrgbClr r="0" g="0" b="0"/>
          </a:lnRef>
          <a:fillRef idx="0">
            <a:scrgbClr r="0" g="0" b="0"/>
          </a:fillRef>
          <a:effectRef idx="0">
            <a:scrgbClr r="0" g="0" b="0"/>
          </a:effectRef>
          <a:fontRef idx="minor"/>
        </p:style>
      </p:sp>
      <p:sp>
        <p:nvSpPr>
          <p:cNvPr id="190" name="Line 54"/>
          <p:cNvSpPr/>
          <p:nvPr/>
        </p:nvSpPr>
        <p:spPr>
          <a:xfrm>
            <a:off x="4001760" y="2896200"/>
            <a:ext cx="4320" cy="273600"/>
          </a:xfrm>
          <a:prstGeom prst="line">
            <a:avLst/>
          </a:prstGeom>
          <a:ln w="12600">
            <a:solidFill>
              <a:srgbClr val="000000"/>
            </a:solidFill>
            <a:round/>
          </a:ln>
        </p:spPr>
        <p:style>
          <a:lnRef idx="0">
            <a:scrgbClr r="0" g="0" b="0"/>
          </a:lnRef>
          <a:fillRef idx="0">
            <a:scrgbClr r="0" g="0" b="0"/>
          </a:fillRef>
          <a:effectRef idx="0">
            <a:scrgbClr r="0" g="0" b="0"/>
          </a:effectRef>
          <a:fontRef idx="minor"/>
        </p:style>
      </p:sp>
      <p:sp>
        <p:nvSpPr>
          <p:cNvPr id="191" name="CustomShape 55"/>
          <p:cNvSpPr/>
          <p:nvPr/>
        </p:nvSpPr>
        <p:spPr>
          <a:xfrm>
            <a:off x="7373520" y="3006720"/>
            <a:ext cx="133956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Fragmentation</a:t>
            </a:r>
            <a:endParaRPr lang="en-US" sz="1500" b="0" strike="noStrike" spc="-1">
              <a:latin typeface="Arial"/>
            </a:endParaRPr>
          </a:p>
        </p:txBody>
      </p:sp>
      <p:sp>
        <p:nvSpPr>
          <p:cNvPr id="192" name="CustomShape 56"/>
          <p:cNvSpPr/>
          <p:nvPr/>
        </p:nvSpPr>
        <p:spPr>
          <a:xfrm>
            <a:off x="7012800" y="3166200"/>
            <a:ext cx="33912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93" name="CustomShape 57"/>
          <p:cNvSpPr/>
          <p:nvPr/>
        </p:nvSpPr>
        <p:spPr>
          <a:xfrm>
            <a:off x="7373520" y="3582720"/>
            <a:ext cx="147960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Imposed motion</a:t>
            </a:r>
            <a:endParaRPr lang="en-US" sz="1500" b="0" strike="noStrike" spc="-1">
              <a:latin typeface="Arial"/>
            </a:endParaRPr>
          </a:p>
        </p:txBody>
      </p:sp>
      <p:sp>
        <p:nvSpPr>
          <p:cNvPr id="194" name="CustomShape 58"/>
          <p:cNvSpPr/>
          <p:nvPr/>
        </p:nvSpPr>
        <p:spPr>
          <a:xfrm>
            <a:off x="6940800" y="3742200"/>
            <a:ext cx="42048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95" name="CustomShape 59"/>
          <p:cNvSpPr/>
          <p:nvPr/>
        </p:nvSpPr>
        <p:spPr>
          <a:xfrm>
            <a:off x="4865760" y="5390640"/>
            <a:ext cx="1280160" cy="72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196" name="CustomShape 60"/>
          <p:cNvSpPr/>
          <p:nvPr/>
        </p:nvSpPr>
        <p:spPr>
          <a:xfrm>
            <a:off x="6149520" y="521136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97" name="CustomShape 61"/>
          <p:cNvSpPr/>
          <p:nvPr/>
        </p:nvSpPr>
        <p:spPr>
          <a:xfrm>
            <a:off x="6146280" y="5571720"/>
            <a:ext cx="338760" cy="360"/>
          </a:xfrm>
          <a:custGeom>
            <a:avLst/>
            <a:gdLst/>
            <a:ahLst/>
            <a:cxnLst/>
            <a:rect l="l" t="t" r="r" b="b"/>
            <a:pathLst>
              <a:path w="21600" h="21600">
                <a:moveTo>
                  <a:pt x="0" y="0"/>
                </a:moveTo>
                <a:lnTo>
                  <a:pt x="21600" y="21600"/>
                </a:lnTo>
              </a:path>
            </a:pathLst>
          </a:custGeom>
          <a:noFill/>
          <a:ln w="12600">
            <a:solidFill>
              <a:srgbClr val="000000"/>
            </a:solidFill>
            <a:custDash>
              <a:ds d="500000" sp="500000"/>
            </a:custDash>
            <a:round/>
            <a:tailEnd type="triangle" w="med" len="med"/>
          </a:ln>
        </p:spPr>
        <p:style>
          <a:lnRef idx="0">
            <a:scrgbClr r="0" g="0" b="0"/>
          </a:lnRef>
          <a:fillRef idx="0">
            <a:scrgbClr r="0" g="0" b="0"/>
          </a:fillRef>
          <a:effectRef idx="0">
            <a:scrgbClr r="0" g="0" b="0"/>
          </a:effectRef>
          <a:fontRef idx="minor"/>
        </p:style>
      </p:sp>
      <p:sp>
        <p:nvSpPr>
          <p:cNvPr id="198" name="Line 62"/>
          <p:cNvSpPr/>
          <p:nvPr/>
        </p:nvSpPr>
        <p:spPr>
          <a:xfrm>
            <a:off x="6149880" y="5211000"/>
            <a:ext cx="0" cy="361080"/>
          </a:xfrm>
          <a:prstGeom prst="line">
            <a:avLst/>
          </a:prstGeom>
          <a:ln w="12600">
            <a:solidFill>
              <a:srgbClr val="000000"/>
            </a:solidFill>
            <a:custDash>
              <a:ds d="500000" sp="500000"/>
            </a:custDash>
            <a:round/>
          </a:ln>
        </p:spPr>
        <p:style>
          <a:lnRef idx="0">
            <a:scrgbClr r="0" g="0" b="0"/>
          </a:lnRef>
          <a:fillRef idx="0">
            <a:scrgbClr r="0" g="0" b="0"/>
          </a:fillRef>
          <a:effectRef idx="0">
            <a:scrgbClr r="0" g="0" b="0"/>
          </a:effectRef>
          <a:fontRef idx="minor"/>
        </p:style>
      </p:sp>
      <p:sp>
        <p:nvSpPr>
          <p:cNvPr id="199" name="CustomShape 63"/>
          <p:cNvSpPr/>
          <p:nvPr/>
        </p:nvSpPr>
        <p:spPr>
          <a:xfrm>
            <a:off x="6496920" y="5410440"/>
            <a:ext cx="1981080" cy="318600"/>
          </a:xfrm>
          <a:prstGeom prst="rect">
            <a:avLst/>
          </a:prstGeom>
          <a:solidFill>
            <a:srgbClr val="A1467E"/>
          </a:solidFill>
          <a:ln w="1260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spcAft>
                <a:spcPts val="641"/>
              </a:spcAft>
            </a:pPr>
            <a:r>
              <a:rPr lang="en-US" sz="1500" b="1" strike="noStrike" spc="-1">
                <a:solidFill>
                  <a:srgbClr val="FFFFFF"/>
                </a:solidFill>
                <a:latin typeface="Calibri"/>
                <a:ea typeface="DejaVu Sans"/>
              </a:rPr>
              <a:t>Aggregate morphology</a:t>
            </a:r>
            <a:endParaRPr lang="en-US" sz="1500" b="0" strike="noStrike" spc="-1">
              <a:latin typeface="Arial"/>
            </a:endParaRPr>
          </a:p>
        </p:txBody>
      </p:sp>
      <p:pic>
        <p:nvPicPr>
          <p:cNvPr id="234" name="Immagine 23"/>
          <p:cNvPicPr/>
          <p:nvPr/>
        </p:nvPicPr>
        <p:blipFill>
          <a:blip r:embed="rId2"/>
          <a:srcRect l="9656" t="17454" r="8998" b="10100"/>
          <a:stretch/>
        </p:blipFill>
        <p:spPr>
          <a:xfrm>
            <a:off x="318240" y="1567800"/>
            <a:ext cx="1773360" cy="994680"/>
          </a:xfrm>
          <a:prstGeom prst="rect">
            <a:avLst/>
          </a:prstGeom>
          <a:ln>
            <a:noFill/>
          </a:ln>
        </p:spPr>
      </p:pic>
      <p:sp>
        <p:nvSpPr>
          <p:cNvPr id="235" name="CustomShape 2"/>
          <p:cNvSpPr/>
          <p:nvPr/>
        </p:nvSpPr>
        <p:spPr>
          <a:xfrm>
            <a:off x="306360" y="1567800"/>
            <a:ext cx="1785240" cy="99468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pic>
        <p:nvPicPr>
          <p:cNvPr id="236" name="Immagine 32"/>
          <p:cNvPicPr/>
          <p:nvPr/>
        </p:nvPicPr>
        <p:blipFill>
          <a:blip r:embed="rId3"/>
          <a:srcRect l="24095" t="24717" r="20148" b="21344"/>
          <a:stretch/>
        </p:blipFill>
        <p:spPr>
          <a:xfrm>
            <a:off x="1484640" y="1876320"/>
            <a:ext cx="316440" cy="310320"/>
          </a:xfrm>
          <a:prstGeom prst="rect">
            <a:avLst/>
          </a:prstGeom>
          <a:ln>
            <a:noFill/>
          </a:ln>
        </p:spPr>
      </p:pic>
      <p:pic>
        <p:nvPicPr>
          <p:cNvPr id="237" name="Immagine 33"/>
          <p:cNvPicPr/>
          <p:nvPr/>
        </p:nvPicPr>
        <p:blipFill>
          <a:blip r:embed="rId3"/>
          <a:srcRect l="24095" t="24717" r="20148" b="21344"/>
          <a:stretch/>
        </p:blipFill>
        <p:spPr>
          <a:xfrm flipH="1">
            <a:off x="578880" y="1873080"/>
            <a:ext cx="316440" cy="310320"/>
          </a:xfrm>
          <a:prstGeom prst="rect">
            <a:avLst/>
          </a:prstGeom>
          <a:ln>
            <a:noFill/>
          </a:ln>
        </p:spPr>
      </p:pic>
      <p:sp>
        <p:nvSpPr>
          <p:cNvPr id="238" name="CustomShape 3"/>
          <p:cNvSpPr/>
          <p:nvPr/>
        </p:nvSpPr>
        <p:spPr>
          <a:xfrm>
            <a:off x="509040" y="1849680"/>
            <a:ext cx="444960" cy="333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60</a:t>
            </a:r>
            <a:r>
              <a:t/>
            </a:r>
            <a:br/>
            <a:r>
              <a:rPr lang="en-US" sz="800" b="1" strike="noStrike" spc="-1">
                <a:solidFill>
                  <a:srgbClr val="000000"/>
                </a:solidFill>
                <a:latin typeface="Calibri"/>
              </a:rPr>
              <a:t>rpm</a:t>
            </a:r>
            <a:endParaRPr lang="en-US" sz="800" b="0" strike="noStrike" spc="-1">
              <a:latin typeface="Arial"/>
            </a:endParaRPr>
          </a:p>
        </p:txBody>
      </p:sp>
      <p:sp>
        <p:nvSpPr>
          <p:cNvPr id="239" name="CustomShape 4"/>
          <p:cNvSpPr/>
          <p:nvPr/>
        </p:nvSpPr>
        <p:spPr>
          <a:xfrm>
            <a:off x="1442520" y="1863360"/>
            <a:ext cx="42408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800" b="1" strike="noStrike" spc="-1">
                <a:solidFill>
                  <a:srgbClr val="000000"/>
                </a:solidFill>
                <a:latin typeface="Calibri"/>
              </a:rPr>
              <a:t>120 </a:t>
            </a:r>
            <a:r>
              <a:t/>
            </a:r>
            <a:br/>
            <a:r>
              <a:rPr lang="en-US" sz="800" b="1" strike="noStrike" spc="-1">
                <a:solidFill>
                  <a:srgbClr val="000000"/>
                </a:solidFill>
                <a:latin typeface="Calibri"/>
              </a:rPr>
              <a:t>rpm</a:t>
            </a:r>
            <a:endParaRPr lang="en-US" sz="800" b="0" strike="noStrike" spc="-1">
              <a:latin typeface="Arial"/>
            </a:endParaRPr>
          </a:p>
        </p:txBody>
      </p:sp>
      <p:sp>
        <p:nvSpPr>
          <p:cNvPr id="240" name="CustomShape 5"/>
          <p:cNvSpPr/>
          <p:nvPr/>
        </p:nvSpPr>
        <p:spPr>
          <a:xfrm>
            <a:off x="266760" y="1495800"/>
            <a:ext cx="1850760" cy="108396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241" name="CustomShape 6"/>
          <p:cNvSpPr/>
          <p:nvPr/>
        </p:nvSpPr>
        <p:spPr>
          <a:xfrm>
            <a:off x="274680" y="3191040"/>
            <a:ext cx="1847160" cy="106956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pic>
        <p:nvPicPr>
          <p:cNvPr id="242" name="Immagine 23"/>
          <p:cNvPicPr/>
          <p:nvPr/>
        </p:nvPicPr>
        <p:blipFill>
          <a:blip r:embed="rId2"/>
          <a:srcRect l="9656" t="17454" r="8998" b="10100"/>
          <a:stretch/>
        </p:blipFill>
        <p:spPr>
          <a:xfrm>
            <a:off x="365400" y="3293280"/>
            <a:ext cx="1719360" cy="947160"/>
          </a:xfrm>
          <a:prstGeom prst="rect">
            <a:avLst/>
          </a:prstGeom>
          <a:ln>
            <a:noFill/>
          </a:ln>
        </p:spPr>
      </p:pic>
      <p:sp>
        <p:nvSpPr>
          <p:cNvPr id="243" name="CustomShape 7"/>
          <p:cNvSpPr/>
          <p:nvPr/>
        </p:nvSpPr>
        <p:spPr>
          <a:xfrm>
            <a:off x="354600" y="3293280"/>
            <a:ext cx="1730160" cy="947160"/>
          </a:xfrm>
          <a:prstGeom prst="rect">
            <a:avLst/>
          </a:prstGeom>
          <a:solidFill>
            <a:srgbClr val="FFFFFF">
              <a:alpha val="50000"/>
            </a:srgbClr>
          </a:solidFill>
          <a:ln>
            <a:noFill/>
          </a:ln>
        </p:spPr>
        <p:style>
          <a:lnRef idx="0">
            <a:scrgbClr r="0" g="0" b="0"/>
          </a:lnRef>
          <a:fillRef idx="0">
            <a:scrgbClr r="0" g="0" b="0"/>
          </a:fillRef>
          <a:effectRef idx="0">
            <a:scrgbClr r="0" g="0" b="0"/>
          </a:effectRef>
          <a:fontRef idx="minor"/>
        </p:style>
      </p:sp>
      <p:pic>
        <p:nvPicPr>
          <p:cNvPr id="244" name="Immagine 32"/>
          <p:cNvPicPr/>
          <p:nvPr/>
        </p:nvPicPr>
        <p:blipFill>
          <a:blip r:embed="rId3"/>
          <a:srcRect l="24095" t="24717" r="20148" b="21344"/>
          <a:stretch/>
        </p:blipFill>
        <p:spPr>
          <a:xfrm>
            <a:off x="1492200" y="3588840"/>
            <a:ext cx="313920" cy="294120"/>
          </a:xfrm>
          <a:prstGeom prst="rect">
            <a:avLst/>
          </a:prstGeom>
          <a:ln>
            <a:noFill/>
          </a:ln>
        </p:spPr>
      </p:pic>
      <p:pic>
        <p:nvPicPr>
          <p:cNvPr id="245" name="Immagine 33"/>
          <p:cNvPicPr/>
          <p:nvPr/>
        </p:nvPicPr>
        <p:blipFill>
          <a:blip r:embed="rId3"/>
          <a:srcRect l="24095" t="24717" r="20148" b="21344"/>
          <a:stretch/>
        </p:blipFill>
        <p:spPr>
          <a:xfrm flipH="1">
            <a:off x="618840" y="3586320"/>
            <a:ext cx="302760" cy="295200"/>
          </a:xfrm>
          <a:prstGeom prst="rect">
            <a:avLst/>
          </a:prstGeom>
          <a:ln>
            <a:noFill/>
          </a:ln>
        </p:spPr>
      </p:pic>
      <p:sp>
        <p:nvSpPr>
          <p:cNvPr id="246" name="CustomShape 8"/>
          <p:cNvSpPr/>
          <p:nvPr/>
        </p:nvSpPr>
        <p:spPr>
          <a:xfrm>
            <a:off x="582120" y="3577320"/>
            <a:ext cx="39204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60 </a:t>
            </a:r>
            <a:r>
              <a:t/>
            </a:r>
            <a:br/>
            <a:r>
              <a:rPr lang="en-US" sz="700" b="1" strike="noStrike" spc="-1">
                <a:solidFill>
                  <a:srgbClr val="000000"/>
                </a:solidFill>
                <a:latin typeface="Calibri"/>
              </a:rPr>
              <a:t>rpm</a:t>
            </a:r>
            <a:endParaRPr lang="en-US" sz="700" b="0" strike="noStrike" spc="-1">
              <a:latin typeface="Arial"/>
            </a:endParaRPr>
          </a:p>
        </p:txBody>
      </p:sp>
      <p:sp>
        <p:nvSpPr>
          <p:cNvPr id="247" name="CustomShape 9"/>
          <p:cNvSpPr/>
          <p:nvPr/>
        </p:nvSpPr>
        <p:spPr>
          <a:xfrm>
            <a:off x="1452600" y="3580920"/>
            <a:ext cx="413280" cy="302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000000"/>
                </a:solidFill>
                <a:latin typeface="Calibri"/>
              </a:rPr>
              <a:t>120 </a:t>
            </a:r>
            <a:r>
              <a:t/>
            </a:r>
            <a:br/>
            <a:r>
              <a:rPr lang="en-US" sz="700" b="1" strike="noStrike" spc="-1">
                <a:solidFill>
                  <a:srgbClr val="000000"/>
                </a:solidFill>
                <a:latin typeface="Calibri"/>
              </a:rPr>
              <a:t>rpm</a:t>
            </a:r>
            <a:endParaRPr lang="en-US" sz="700" b="0" strike="noStrike" spc="-1">
              <a:latin typeface="Arial"/>
            </a:endParaRPr>
          </a:p>
        </p:txBody>
      </p:sp>
      <p:sp>
        <p:nvSpPr>
          <p:cNvPr id="248" name="CustomShape 10"/>
          <p:cNvSpPr/>
          <p:nvPr/>
        </p:nvSpPr>
        <p:spPr>
          <a:xfrm>
            <a:off x="810360" y="3160800"/>
            <a:ext cx="819720" cy="19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Aft>
                <a:spcPts val="641"/>
              </a:spcAft>
            </a:pPr>
            <a:r>
              <a:rPr lang="en-US" sz="700" b="1" strike="noStrike" spc="-1">
                <a:solidFill>
                  <a:srgbClr val="F10D0C"/>
                </a:solidFill>
                <a:latin typeface="Calibri"/>
              </a:rPr>
              <a:t>tracer particles</a:t>
            </a:r>
            <a:endParaRPr lang="en-US" sz="700" b="0" strike="noStrike" spc="-1">
              <a:latin typeface="Arial"/>
            </a:endParaRPr>
          </a:p>
        </p:txBody>
      </p:sp>
      <p:sp>
        <p:nvSpPr>
          <p:cNvPr id="249" name="CustomShape 11"/>
          <p:cNvSpPr/>
          <p:nvPr/>
        </p:nvSpPr>
        <p:spPr>
          <a:xfrm>
            <a:off x="1118880" y="3432600"/>
            <a:ext cx="280800" cy="414720"/>
          </a:xfrm>
          <a:custGeom>
            <a:avLst/>
            <a:gdLst/>
            <a:ahLst/>
            <a:cxnLst/>
            <a:rect l="l" t="t" r="r" b="b"/>
            <a:pathLst>
              <a:path w="671804" h="1007706">
                <a:moveTo>
                  <a:pt x="671804" y="0"/>
                </a:moveTo>
                <a:cubicBezTo>
                  <a:pt x="513183" y="86308"/>
                  <a:pt x="354563" y="172616"/>
                  <a:pt x="289249" y="289249"/>
                </a:cubicBezTo>
                <a:cubicBezTo>
                  <a:pt x="223935" y="405882"/>
                  <a:pt x="328126" y="580053"/>
                  <a:pt x="279918" y="699796"/>
                </a:cubicBezTo>
                <a:cubicBezTo>
                  <a:pt x="231710" y="819539"/>
                  <a:pt x="76200" y="892629"/>
                  <a:pt x="0" y="1007706"/>
                </a:cubicBezTo>
              </a:path>
            </a:pathLst>
          </a:custGeom>
          <a:noFill/>
          <a:ln w="29160">
            <a:solidFill>
              <a:srgbClr val="C00000"/>
            </a:solidFill>
            <a:miter/>
          </a:ln>
        </p:spPr>
        <p:style>
          <a:lnRef idx="0">
            <a:scrgbClr r="0" g="0" b="0"/>
          </a:lnRef>
          <a:fillRef idx="0">
            <a:scrgbClr r="0" g="0" b="0"/>
          </a:fillRef>
          <a:effectRef idx="0">
            <a:scrgbClr r="0" g="0" b="0"/>
          </a:effectRef>
          <a:fontRef idx="minor"/>
        </p:style>
      </p:sp>
      <p:sp>
        <p:nvSpPr>
          <p:cNvPr id="250" name="CustomShape 12"/>
          <p:cNvSpPr/>
          <p:nvPr/>
        </p:nvSpPr>
        <p:spPr>
          <a:xfrm flipV="1">
            <a:off x="1397880" y="3408120"/>
            <a:ext cx="42480" cy="4248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251" name="Freeform 13"/>
          <p:cNvSpPr/>
          <p:nvPr/>
        </p:nvSpPr>
        <p:spPr>
          <a:xfrm>
            <a:off x="1007640" y="3412800"/>
            <a:ext cx="137880" cy="302400"/>
          </a:xfrm>
          <a:custGeom>
            <a:avLst/>
            <a:gdLst/>
            <a:ahLst/>
            <a:cxnLst/>
            <a:rect l="0" t="0" r="r" b="b"/>
            <a:pathLst>
              <a:path w="383" h="840">
                <a:moveTo>
                  <a:pt x="311" y="839"/>
                </a:moveTo>
                <a:cubicBezTo>
                  <a:pt x="301" y="803"/>
                  <a:pt x="311" y="767"/>
                  <a:pt x="323" y="734"/>
                </a:cubicBezTo>
                <a:cubicBezTo>
                  <a:pt x="338" y="695"/>
                  <a:pt x="368" y="658"/>
                  <a:pt x="368" y="613"/>
                </a:cubicBezTo>
                <a:cubicBezTo>
                  <a:pt x="368" y="575"/>
                  <a:pt x="382" y="537"/>
                  <a:pt x="365" y="498"/>
                </a:cubicBezTo>
                <a:cubicBezTo>
                  <a:pt x="348" y="462"/>
                  <a:pt x="315" y="432"/>
                  <a:pt x="311" y="390"/>
                </a:cubicBezTo>
                <a:cubicBezTo>
                  <a:pt x="307" y="349"/>
                  <a:pt x="274" y="319"/>
                  <a:pt x="266" y="279"/>
                </a:cubicBezTo>
                <a:cubicBezTo>
                  <a:pt x="259" y="238"/>
                  <a:pt x="229" y="208"/>
                  <a:pt x="213" y="171"/>
                </a:cubicBezTo>
                <a:cubicBezTo>
                  <a:pt x="192" y="125"/>
                  <a:pt x="140" y="103"/>
                  <a:pt x="108" y="65"/>
                </a:cubicBezTo>
                <a:cubicBezTo>
                  <a:pt x="82" y="34"/>
                  <a:pt x="42" y="10"/>
                  <a:pt x="0" y="0"/>
                </a:cubicBezTo>
              </a:path>
            </a:pathLst>
          </a:custGeom>
          <a:ln w="29160">
            <a:solidFill>
              <a:srgbClr val="C9211E"/>
            </a:solidFill>
            <a:round/>
          </a:ln>
        </p:spPr>
      </p:sp>
      <p:sp>
        <p:nvSpPr>
          <p:cNvPr id="252" name="CustomShape 14"/>
          <p:cNvSpPr/>
          <p:nvPr/>
        </p:nvSpPr>
        <p:spPr>
          <a:xfrm flipV="1">
            <a:off x="978120" y="3389400"/>
            <a:ext cx="38880" cy="4104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253" name="Freeform 15"/>
          <p:cNvSpPr/>
          <p:nvPr/>
        </p:nvSpPr>
        <p:spPr>
          <a:xfrm>
            <a:off x="456480" y="3513240"/>
            <a:ext cx="158400" cy="496080"/>
          </a:xfrm>
          <a:custGeom>
            <a:avLst/>
            <a:gdLst/>
            <a:ahLst/>
            <a:cxnLst/>
            <a:rect l="0" t="0" r="r" b="b"/>
            <a:pathLst>
              <a:path w="440" h="1378">
                <a:moveTo>
                  <a:pt x="87" y="0"/>
                </a:moveTo>
                <a:cubicBezTo>
                  <a:pt x="75" y="49"/>
                  <a:pt x="47" y="95"/>
                  <a:pt x="39" y="145"/>
                </a:cubicBezTo>
                <a:cubicBezTo>
                  <a:pt x="31" y="201"/>
                  <a:pt x="14" y="255"/>
                  <a:pt x="14" y="313"/>
                </a:cubicBezTo>
                <a:cubicBezTo>
                  <a:pt x="14" y="360"/>
                  <a:pt x="0" y="408"/>
                  <a:pt x="5" y="455"/>
                </a:cubicBezTo>
                <a:cubicBezTo>
                  <a:pt x="8" y="502"/>
                  <a:pt x="13" y="550"/>
                  <a:pt x="24" y="597"/>
                </a:cubicBezTo>
                <a:cubicBezTo>
                  <a:pt x="35" y="648"/>
                  <a:pt x="32" y="703"/>
                  <a:pt x="58" y="750"/>
                </a:cubicBezTo>
                <a:cubicBezTo>
                  <a:pt x="81" y="789"/>
                  <a:pt x="89" y="831"/>
                  <a:pt x="102" y="873"/>
                </a:cubicBezTo>
                <a:cubicBezTo>
                  <a:pt x="119" y="925"/>
                  <a:pt x="138" y="974"/>
                  <a:pt x="163" y="1022"/>
                </a:cubicBezTo>
                <a:cubicBezTo>
                  <a:pt x="185" y="1064"/>
                  <a:pt x="198" y="1113"/>
                  <a:pt x="232" y="1149"/>
                </a:cubicBezTo>
                <a:cubicBezTo>
                  <a:pt x="269" y="1186"/>
                  <a:pt x="289" y="1232"/>
                  <a:pt x="331" y="1269"/>
                </a:cubicBezTo>
                <a:cubicBezTo>
                  <a:pt x="368" y="1303"/>
                  <a:pt x="398" y="1344"/>
                  <a:pt x="438" y="1375"/>
                </a:cubicBezTo>
                <a:lnTo>
                  <a:pt x="439" y="1377"/>
                </a:lnTo>
              </a:path>
            </a:pathLst>
          </a:custGeom>
          <a:ln w="29160">
            <a:solidFill>
              <a:srgbClr val="C9211E"/>
            </a:solidFill>
            <a:round/>
          </a:ln>
        </p:spPr>
      </p:sp>
      <p:sp>
        <p:nvSpPr>
          <p:cNvPr id="254" name="CustomShape 16"/>
          <p:cNvSpPr/>
          <p:nvPr/>
        </p:nvSpPr>
        <p:spPr>
          <a:xfrm flipV="1">
            <a:off x="611640" y="3993840"/>
            <a:ext cx="43200" cy="41400"/>
          </a:xfrm>
          <a:prstGeom prst="ellipse">
            <a:avLst/>
          </a:prstGeom>
          <a:solidFill>
            <a:srgbClr val="C00000"/>
          </a:solidFill>
          <a:ln w="9360">
            <a:solidFill>
              <a:srgbClr val="12235A"/>
            </a:solidFill>
            <a:miter/>
          </a:ln>
        </p:spPr>
        <p:style>
          <a:lnRef idx="0">
            <a:scrgbClr r="0" g="0" b="0"/>
          </a:lnRef>
          <a:fillRef idx="0">
            <a:scrgbClr r="0" g="0" b="0"/>
          </a:fillRef>
          <a:effectRef idx="0">
            <a:scrgbClr r="0" g="0" b="0"/>
          </a:effectRef>
          <a:fontRef idx="minor"/>
        </p:style>
      </p:sp>
      <p:sp>
        <p:nvSpPr>
          <p:cNvPr id="255" name="CustomShape 17"/>
          <p:cNvSpPr/>
          <p:nvPr/>
        </p:nvSpPr>
        <p:spPr>
          <a:xfrm>
            <a:off x="466560" y="2549880"/>
            <a:ext cx="1567440" cy="293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0" i="1" strike="noStrike" spc="-1">
                <a:solidFill>
                  <a:srgbClr val="333333"/>
                </a:solidFill>
                <a:latin typeface="Calibri"/>
                <a:ea typeface="DejaVu Sans"/>
              </a:rPr>
              <a:t>Fluid phase  </a:t>
            </a:r>
            <a:r>
              <a:rPr lang="en-US" sz="1300" b="0" i="1" strike="noStrike" spc="-1">
                <a:solidFill>
                  <a:srgbClr val="008000"/>
                </a:solidFill>
                <a:latin typeface="Calibri"/>
                <a:ea typeface="DejaVu Sans"/>
              </a:rPr>
              <a:t>(CFD)</a:t>
            </a:r>
            <a:endParaRPr lang="en-US" sz="1300" b="0" strike="noStrike" spc="-1">
              <a:latin typeface="Arial"/>
            </a:endParaRPr>
          </a:p>
        </p:txBody>
      </p:sp>
      <p:sp>
        <p:nvSpPr>
          <p:cNvPr id="256" name="CustomShape 18"/>
          <p:cNvSpPr/>
          <p:nvPr/>
        </p:nvSpPr>
        <p:spPr>
          <a:xfrm>
            <a:off x="1116720" y="2823840"/>
            <a:ext cx="163440" cy="309240"/>
          </a:xfrm>
          <a:custGeom>
            <a:avLst/>
            <a:gdLst/>
            <a:ahLst/>
            <a:cxnLst/>
            <a:rect l="0" t="0" r="r" b="b"/>
            <a:pathLst>
              <a:path w="456" h="861">
                <a:moveTo>
                  <a:pt x="113" y="0"/>
                </a:moveTo>
                <a:lnTo>
                  <a:pt x="113" y="645"/>
                </a:lnTo>
                <a:lnTo>
                  <a:pt x="0" y="645"/>
                </a:lnTo>
                <a:lnTo>
                  <a:pt x="227" y="860"/>
                </a:lnTo>
                <a:lnTo>
                  <a:pt x="455" y="645"/>
                </a:lnTo>
                <a:lnTo>
                  <a:pt x="341" y="645"/>
                </a:lnTo>
                <a:lnTo>
                  <a:pt x="341" y="0"/>
                </a:lnTo>
                <a:lnTo>
                  <a:pt x="113" y="0"/>
                </a:lnTo>
              </a:path>
            </a:pathLst>
          </a:custGeom>
          <a:solidFill>
            <a:srgbClr val="2B7ED2"/>
          </a:solidFill>
          <a:ln>
            <a:solidFill>
              <a:srgbClr val="000000"/>
            </a:solidFill>
          </a:ln>
        </p:spPr>
        <p:style>
          <a:lnRef idx="0">
            <a:scrgbClr r="0" g="0" b="0"/>
          </a:lnRef>
          <a:fillRef idx="0">
            <a:scrgbClr r="0" g="0" b="0"/>
          </a:fillRef>
          <a:effectRef idx="0">
            <a:scrgbClr r="0" g="0" b="0"/>
          </a:effectRef>
          <a:fontRef idx="minor"/>
        </p:style>
      </p:sp>
      <p:sp>
        <p:nvSpPr>
          <p:cNvPr id="257" name="CustomShape 19"/>
          <p:cNvSpPr/>
          <p:nvPr/>
        </p:nvSpPr>
        <p:spPr>
          <a:xfrm>
            <a:off x="128160" y="4237560"/>
            <a:ext cx="2235600" cy="326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0" strike="noStrike" spc="-1">
                <a:solidFill>
                  <a:srgbClr val="333333"/>
                </a:solidFill>
                <a:latin typeface="Calibri"/>
                <a:ea typeface="DejaVu Sans"/>
              </a:rPr>
              <a:t>Coupling</a:t>
            </a:r>
            <a:endParaRPr lang="en-US" sz="1300" b="0" strike="noStrike" spc="-1">
              <a:latin typeface="Arial"/>
            </a:endParaRPr>
          </a:p>
        </p:txBody>
      </p:sp>
      <p:sp>
        <p:nvSpPr>
          <p:cNvPr id="258" name="CustomShape 20"/>
          <p:cNvSpPr/>
          <p:nvPr/>
        </p:nvSpPr>
        <p:spPr>
          <a:xfrm>
            <a:off x="1117080" y="4535640"/>
            <a:ext cx="163440" cy="309240"/>
          </a:xfrm>
          <a:custGeom>
            <a:avLst/>
            <a:gdLst/>
            <a:ahLst/>
            <a:cxnLst/>
            <a:rect l="0" t="0" r="r" b="b"/>
            <a:pathLst>
              <a:path w="456" h="861">
                <a:moveTo>
                  <a:pt x="113" y="0"/>
                </a:moveTo>
                <a:lnTo>
                  <a:pt x="113" y="645"/>
                </a:lnTo>
                <a:lnTo>
                  <a:pt x="0" y="645"/>
                </a:lnTo>
                <a:lnTo>
                  <a:pt x="227" y="860"/>
                </a:lnTo>
                <a:lnTo>
                  <a:pt x="455" y="645"/>
                </a:lnTo>
                <a:lnTo>
                  <a:pt x="341" y="645"/>
                </a:lnTo>
                <a:lnTo>
                  <a:pt x="341" y="0"/>
                </a:lnTo>
                <a:lnTo>
                  <a:pt x="113" y="0"/>
                </a:lnTo>
              </a:path>
            </a:pathLst>
          </a:custGeom>
          <a:solidFill>
            <a:srgbClr val="2B7ED2"/>
          </a:solidFill>
          <a:ln>
            <a:solidFill>
              <a:srgbClr val="000000"/>
            </a:solidFill>
          </a:ln>
        </p:spPr>
        <p:style>
          <a:lnRef idx="0">
            <a:scrgbClr r="0" g="0" b="0"/>
          </a:lnRef>
          <a:fillRef idx="0">
            <a:scrgbClr r="0" g="0" b="0"/>
          </a:fillRef>
          <a:effectRef idx="0">
            <a:scrgbClr r="0" g="0" b="0"/>
          </a:effectRef>
          <a:fontRef idx="minor"/>
        </p:style>
      </p:sp>
      <p:sp>
        <p:nvSpPr>
          <p:cNvPr id="259" name="CustomShape 21"/>
          <p:cNvSpPr/>
          <p:nvPr/>
        </p:nvSpPr>
        <p:spPr>
          <a:xfrm>
            <a:off x="128160" y="5785200"/>
            <a:ext cx="2235600" cy="326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300" b="1" strike="noStrike" spc="-1">
                <a:solidFill>
                  <a:srgbClr val="333333"/>
                </a:solidFill>
                <a:latin typeface="Calibri"/>
                <a:ea typeface="DejaVu Sans"/>
              </a:rPr>
              <a:t>Particle phase </a:t>
            </a:r>
            <a:r>
              <a:rPr lang="en-US" sz="1300" b="1" strike="noStrike" spc="-1">
                <a:solidFill>
                  <a:srgbClr val="008000"/>
                </a:solidFill>
                <a:latin typeface="Calibri"/>
                <a:ea typeface="DejaVu Sans"/>
              </a:rPr>
              <a:t>(Tracking)</a:t>
            </a:r>
            <a:endParaRPr lang="en-US" sz="1300" b="0" strike="noStrike" spc="-1">
              <a:latin typeface="Arial"/>
            </a:endParaRPr>
          </a:p>
        </p:txBody>
      </p:sp>
      <p:pic>
        <p:nvPicPr>
          <p:cNvPr id="260" name="Immagine 9"/>
          <p:cNvPicPr/>
          <p:nvPr/>
        </p:nvPicPr>
        <p:blipFill>
          <a:blip r:embed="rId4"/>
          <a:stretch/>
        </p:blipFill>
        <p:spPr>
          <a:xfrm>
            <a:off x="479880" y="4939560"/>
            <a:ext cx="1472040" cy="804600"/>
          </a:xfrm>
          <a:prstGeom prst="rect">
            <a:avLst/>
          </a:prstGeom>
          <a:ln>
            <a:noFill/>
          </a:ln>
        </p:spPr>
      </p:pic>
      <p:sp>
        <p:nvSpPr>
          <p:cNvPr id="261" name="CustomShape 22"/>
          <p:cNvSpPr/>
          <p:nvPr/>
        </p:nvSpPr>
        <p:spPr>
          <a:xfrm>
            <a:off x="457200" y="4876920"/>
            <a:ext cx="1509480" cy="9421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262" name="CustomShape 23"/>
          <p:cNvSpPr/>
          <p:nvPr/>
        </p:nvSpPr>
        <p:spPr>
          <a:xfrm>
            <a:off x="202320" y="1371600"/>
            <a:ext cx="2011680" cy="3504240"/>
          </a:xfrm>
          <a:prstGeom prst="rect">
            <a:avLst/>
          </a:prstGeom>
          <a:solidFill>
            <a:srgbClr val="FFFFFF">
              <a:alpha val="75000"/>
            </a:srgbClr>
          </a:solidFill>
          <a:ln>
            <a:no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29472566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srcRect r="59858"/>
          <a:stretch/>
        </p:blipFill>
        <p:spPr>
          <a:xfrm>
            <a:off x="4641120" y="3621600"/>
            <a:ext cx="822960" cy="1645920"/>
          </a:xfrm>
          <a:prstGeom prst="rect">
            <a:avLst/>
          </a:prstGeom>
          <a:ln>
            <a:noFill/>
          </a:ln>
        </p:spPr>
      </p:pic>
      <p:sp>
        <p:nvSpPr>
          <p:cNvPr id="3" name="CustomShape 1"/>
          <p:cNvSpPr/>
          <p:nvPr/>
        </p:nvSpPr>
        <p:spPr>
          <a:xfrm>
            <a:off x="1654560" y="5557320"/>
            <a:ext cx="156744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008000"/>
                </a:solidFill>
                <a:latin typeface="Calibri"/>
                <a:ea typeface="DejaVu Sans"/>
              </a:rPr>
              <a:t>CFD</a:t>
            </a:r>
            <a:endParaRPr lang="en-US" sz="1400" b="0" strike="noStrike" spc="-1">
              <a:latin typeface="Arial"/>
            </a:endParaRPr>
          </a:p>
        </p:txBody>
      </p:sp>
      <p:sp>
        <p:nvSpPr>
          <p:cNvPr id="4" name="CustomShape 2"/>
          <p:cNvSpPr/>
          <p:nvPr/>
        </p:nvSpPr>
        <p:spPr>
          <a:xfrm>
            <a:off x="3527280" y="4187160"/>
            <a:ext cx="992160" cy="360"/>
          </a:xfrm>
          <a:custGeom>
            <a:avLst/>
            <a:gdLst/>
            <a:ahLst/>
            <a:cxnLst/>
            <a:rect l="l" t="t" r="r" b="b"/>
            <a:pathLst>
              <a:path w="21600" h="21600">
                <a:moveTo>
                  <a:pt x="0" y="0"/>
                </a:moveTo>
                <a:lnTo>
                  <a:pt x="21600" y="21600"/>
                </a:lnTo>
              </a:path>
            </a:pathLst>
          </a:custGeom>
          <a:noFill/>
          <a:ln w="31680">
            <a:solidFill>
              <a:srgbClr val="2B7ED2"/>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pic>
        <p:nvPicPr>
          <p:cNvPr id="5" name="Image 112"/>
          <p:cNvPicPr/>
          <p:nvPr/>
        </p:nvPicPr>
        <p:blipFill>
          <a:blip r:embed="rId3"/>
          <a:stretch/>
        </p:blipFill>
        <p:spPr>
          <a:xfrm>
            <a:off x="1639440" y="3698640"/>
            <a:ext cx="1634040" cy="1550160"/>
          </a:xfrm>
          <a:prstGeom prst="rect">
            <a:avLst/>
          </a:prstGeom>
          <a:ln>
            <a:noFill/>
          </a:ln>
        </p:spPr>
      </p:pic>
      <p:pic>
        <p:nvPicPr>
          <p:cNvPr id="6" name="Image 113"/>
          <p:cNvPicPr/>
          <p:nvPr/>
        </p:nvPicPr>
        <p:blipFill>
          <a:blip r:embed="rId4"/>
          <a:stretch/>
        </p:blipFill>
        <p:spPr>
          <a:xfrm>
            <a:off x="6736320" y="3706200"/>
            <a:ext cx="1623960" cy="1534320"/>
          </a:xfrm>
          <a:prstGeom prst="rect">
            <a:avLst/>
          </a:prstGeom>
          <a:ln>
            <a:noFill/>
          </a:ln>
        </p:spPr>
      </p:pic>
      <p:sp>
        <p:nvSpPr>
          <p:cNvPr id="7" name="CustomShape 3"/>
          <p:cNvSpPr/>
          <p:nvPr/>
        </p:nvSpPr>
        <p:spPr>
          <a:xfrm>
            <a:off x="127080" y="2471760"/>
            <a:ext cx="8909280" cy="3379680"/>
          </a:xfrm>
          <a:prstGeom prst="roundRect">
            <a:avLst>
              <a:gd name="adj" fmla="val 8029"/>
            </a:avLst>
          </a:prstGeom>
          <a:noFill/>
          <a:ln w="19080">
            <a:solidFill>
              <a:srgbClr val="FF0000"/>
            </a:solidFill>
            <a:custDash>
              <a:ds d="200000" sp="100000"/>
            </a:custDash>
            <a:miter/>
          </a:ln>
        </p:spPr>
        <p:style>
          <a:lnRef idx="0">
            <a:scrgbClr r="0" g="0" b="0"/>
          </a:lnRef>
          <a:fillRef idx="0">
            <a:scrgbClr r="0" g="0" b="0"/>
          </a:fillRef>
          <a:effectRef idx="0">
            <a:scrgbClr r="0" g="0" b="0"/>
          </a:effectRef>
          <a:fontRef idx="minor"/>
        </p:style>
      </p:sp>
      <p:sp>
        <p:nvSpPr>
          <p:cNvPr id="8" name="CustomShape 4"/>
          <p:cNvSpPr/>
          <p:nvPr/>
        </p:nvSpPr>
        <p:spPr>
          <a:xfrm>
            <a:off x="6659280" y="3602160"/>
            <a:ext cx="1787040" cy="16855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9" name="CustomShape 5"/>
          <p:cNvSpPr/>
          <p:nvPr/>
        </p:nvSpPr>
        <p:spPr>
          <a:xfrm>
            <a:off x="1569240" y="3602160"/>
            <a:ext cx="1787040" cy="16855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10" name="CustomShape 6"/>
          <p:cNvSpPr/>
          <p:nvPr/>
        </p:nvSpPr>
        <p:spPr>
          <a:xfrm>
            <a:off x="172800" y="5557320"/>
            <a:ext cx="11916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008000"/>
                </a:solidFill>
                <a:latin typeface="Calibri"/>
                <a:ea typeface="DejaVu Sans"/>
              </a:rPr>
              <a:t>Code</a:t>
            </a:r>
            <a:endParaRPr lang="en-US" sz="1400" b="0" strike="noStrike" spc="-1">
              <a:latin typeface="Arial"/>
            </a:endParaRPr>
          </a:p>
        </p:txBody>
      </p:sp>
      <p:sp>
        <p:nvSpPr>
          <p:cNvPr id="11" name="CustomShape 7"/>
          <p:cNvSpPr/>
          <p:nvPr/>
        </p:nvSpPr>
        <p:spPr>
          <a:xfrm>
            <a:off x="6646680" y="5557320"/>
            <a:ext cx="18954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008000"/>
                </a:solidFill>
                <a:latin typeface="Calibri"/>
                <a:ea typeface="DejaVu Sans"/>
              </a:rPr>
              <a:t>Particle tracking</a:t>
            </a:r>
            <a:endParaRPr lang="en-US" sz="1400" b="0" strike="noStrike" spc="-1">
              <a:latin typeface="Arial"/>
            </a:endParaRPr>
          </a:p>
        </p:txBody>
      </p:sp>
      <p:sp>
        <p:nvSpPr>
          <p:cNvPr id="12" name="CustomShape 8"/>
          <p:cNvSpPr/>
          <p:nvPr/>
        </p:nvSpPr>
        <p:spPr>
          <a:xfrm>
            <a:off x="1718280" y="326664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13" name="CustomShape 9"/>
          <p:cNvSpPr/>
          <p:nvPr/>
        </p:nvSpPr>
        <p:spPr>
          <a:xfrm>
            <a:off x="107640" y="2744640"/>
            <a:ext cx="1362600" cy="736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7E3FBE"/>
                </a:solidFill>
                <a:latin typeface="Calibri"/>
                <a:ea typeface="DejaVu Sans"/>
              </a:rPr>
              <a:t>Input</a:t>
            </a:r>
            <a:endParaRPr lang="en-US" sz="1400" b="0" strike="noStrike" spc="-1">
              <a:latin typeface="Arial"/>
            </a:endParaRPr>
          </a:p>
          <a:p>
            <a:pPr algn="ctr">
              <a:lnSpc>
                <a:spcPct val="100000"/>
              </a:lnSpc>
              <a:spcAft>
                <a:spcPts val="479"/>
              </a:spcAft>
            </a:pPr>
            <a:r>
              <a:rPr lang="en-US" sz="1400" b="0" strike="noStrike" spc="-1">
                <a:solidFill>
                  <a:srgbClr val="7E3FBE"/>
                </a:solidFill>
                <a:latin typeface="Calibri"/>
                <a:ea typeface="DejaVu Sans"/>
              </a:rPr>
              <a:t>(user defined)</a:t>
            </a:r>
            <a:endParaRPr lang="en-US" sz="1400" b="0" strike="noStrike" spc="-1">
              <a:latin typeface="Arial"/>
            </a:endParaRPr>
          </a:p>
        </p:txBody>
      </p:sp>
      <p:sp>
        <p:nvSpPr>
          <p:cNvPr id="14" name="CustomShape 10"/>
          <p:cNvSpPr/>
          <p:nvPr/>
        </p:nvSpPr>
        <p:spPr>
          <a:xfrm rot="18628800">
            <a:off x="2074320" y="2798280"/>
            <a:ext cx="93816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Fluid </a:t>
            </a:r>
            <a:r>
              <a:t/>
            </a:r>
            <a:br/>
            <a:r>
              <a:rPr lang="en-US" sz="1200" b="0" strike="noStrike" spc="-1">
                <a:solidFill>
                  <a:srgbClr val="7E3FBE"/>
                </a:solidFill>
                <a:latin typeface="Calibri"/>
                <a:ea typeface="DejaVu Sans"/>
              </a:rPr>
              <a:t> properties</a:t>
            </a:r>
            <a:endParaRPr lang="en-US" sz="1200" b="0" strike="noStrike" spc="-1">
              <a:latin typeface="Arial"/>
            </a:endParaRPr>
          </a:p>
        </p:txBody>
      </p:sp>
      <p:sp>
        <p:nvSpPr>
          <p:cNvPr id="15" name="CustomShape 11"/>
          <p:cNvSpPr/>
          <p:nvPr/>
        </p:nvSpPr>
        <p:spPr>
          <a:xfrm>
            <a:off x="2386800" y="327924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16" name="CustomShape 12"/>
          <p:cNvSpPr/>
          <p:nvPr/>
        </p:nvSpPr>
        <p:spPr>
          <a:xfrm rot="18628800">
            <a:off x="1466640" y="2857320"/>
            <a:ext cx="76644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Mesh 1</a:t>
            </a:r>
            <a:endParaRPr lang="en-US" sz="1200" b="0" strike="noStrike" spc="-1">
              <a:latin typeface="Arial"/>
            </a:endParaRPr>
          </a:p>
        </p:txBody>
      </p:sp>
      <p:sp>
        <p:nvSpPr>
          <p:cNvPr id="17" name="CustomShape 13"/>
          <p:cNvSpPr/>
          <p:nvPr/>
        </p:nvSpPr>
        <p:spPr>
          <a:xfrm>
            <a:off x="3163680" y="328716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18" name="CustomShape 14"/>
          <p:cNvSpPr/>
          <p:nvPr/>
        </p:nvSpPr>
        <p:spPr>
          <a:xfrm rot="18628800">
            <a:off x="2842560" y="2795040"/>
            <a:ext cx="98172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Turbulence</a:t>
            </a:r>
            <a:r>
              <a:t/>
            </a:r>
            <a:br/>
            <a:r>
              <a:rPr lang="en-US" sz="1200" b="0" strike="noStrike" spc="-1">
                <a:solidFill>
                  <a:srgbClr val="7E3FBE"/>
                </a:solidFill>
                <a:latin typeface="Calibri"/>
                <a:ea typeface="DejaVu Sans"/>
              </a:rPr>
              <a:t> model</a:t>
            </a:r>
            <a:endParaRPr lang="en-US" sz="1200" b="0" strike="noStrike" spc="-1">
              <a:latin typeface="Arial"/>
            </a:endParaRPr>
          </a:p>
        </p:txBody>
      </p:sp>
      <p:sp>
        <p:nvSpPr>
          <p:cNvPr id="19" name="CustomShape 15"/>
          <p:cNvSpPr/>
          <p:nvPr/>
        </p:nvSpPr>
        <p:spPr>
          <a:xfrm>
            <a:off x="6807960" y="327924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20" name="CustomShape 16"/>
          <p:cNvSpPr/>
          <p:nvPr/>
        </p:nvSpPr>
        <p:spPr>
          <a:xfrm rot="18628800">
            <a:off x="7104600" y="2759760"/>
            <a:ext cx="107172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Particle</a:t>
            </a:r>
            <a:r>
              <a:t/>
            </a:r>
            <a:br/>
            <a:r>
              <a:rPr lang="en-US" sz="1200" b="0" strike="noStrike" spc="-1">
                <a:solidFill>
                  <a:srgbClr val="7E3FBE"/>
                </a:solidFill>
                <a:latin typeface="Calibri"/>
                <a:ea typeface="DejaVu Sans"/>
              </a:rPr>
              <a:t> properties</a:t>
            </a:r>
            <a:endParaRPr lang="en-US" sz="1200" b="0" strike="noStrike" spc="-1">
              <a:latin typeface="Arial"/>
            </a:endParaRPr>
          </a:p>
        </p:txBody>
      </p:sp>
      <p:sp>
        <p:nvSpPr>
          <p:cNvPr id="21" name="CustomShape 17"/>
          <p:cNvSpPr/>
          <p:nvPr/>
        </p:nvSpPr>
        <p:spPr>
          <a:xfrm>
            <a:off x="7440840" y="329184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22" name="CustomShape 18"/>
          <p:cNvSpPr/>
          <p:nvPr/>
        </p:nvSpPr>
        <p:spPr>
          <a:xfrm rot="18628800">
            <a:off x="6575760" y="2912040"/>
            <a:ext cx="65592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Mesh 2</a:t>
            </a:r>
            <a:endParaRPr lang="en-US" sz="1200" b="0" strike="noStrike" spc="-1">
              <a:latin typeface="Arial"/>
            </a:endParaRPr>
          </a:p>
        </p:txBody>
      </p:sp>
      <p:sp>
        <p:nvSpPr>
          <p:cNvPr id="23" name="CustomShape 19"/>
          <p:cNvSpPr/>
          <p:nvPr/>
        </p:nvSpPr>
        <p:spPr>
          <a:xfrm>
            <a:off x="8181720" y="329976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24" name="CustomShape 20"/>
          <p:cNvSpPr/>
          <p:nvPr/>
        </p:nvSpPr>
        <p:spPr>
          <a:xfrm rot="18628800">
            <a:off x="7894800" y="2675160"/>
            <a:ext cx="1234080" cy="50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Specific model</a:t>
            </a:r>
            <a:r>
              <a:t/>
            </a:r>
            <a:br/>
            <a:r>
              <a:rPr lang="en-US" sz="1200" b="0" strike="noStrike" spc="-1">
                <a:solidFill>
                  <a:srgbClr val="7E3FBE"/>
                </a:solidFill>
                <a:latin typeface="Calibri"/>
                <a:ea typeface="DejaVu Sans"/>
              </a:rPr>
              <a:t> (agglo. / frag.)</a:t>
            </a:r>
            <a:endParaRPr lang="en-US" sz="1200" b="0" strike="noStrike" spc="-1">
              <a:latin typeface="Arial"/>
            </a:endParaRPr>
          </a:p>
        </p:txBody>
      </p:sp>
      <p:sp>
        <p:nvSpPr>
          <p:cNvPr id="25" name="CustomShape 21"/>
          <p:cNvSpPr/>
          <p:nvPr/>
        </p:nvSpPr>
        <p:spPr>
          <a:xfrm>
            <a:off x="3485880" y="3706920"/>
            <a:ext cx="1073520" cy="438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dirty="0">
                <a:solidFill>
                  <a:srgbClr val="2B7ED2"/>
                </a:solidFill>
                <a:latin typeface="Calibri"/>
                <a:ea typeface="DejaVu Sans"/>
              </a:rPr>
              <a:t>Flow field</a:t>
            </a:r>
            <a:r>
              <a:rPr lang="en-US" sz="1400" b="0" strike="noStrike" spc="-1" dirty="0">
                <a:solidFill>
                  <a:srgbClr val="4F81BD"/>
                </a:solidFill>
                <a:latin typeface="Calibri"/>
                <a:ea typeface="DejaVu Sans"/>
              </a:rPr>
              <a:t>s</a:t>
            </a:r>
            <a:endParaRPr lang="en-US" sz="1400" b="0" strike="noStrike" spc="-1" dirty="0">
              <a:latin typeface="Arial"/>
            </a:endParaRPr>
          </a:p>
        </p:txBody>
      </p:sp>
      <p:sp>
        <p:nvSpPr>
          <p:cNvPr id="26" name="CustomShape 22"/>
          <p:cNvSpPr/>
          <p:nvPr/>
        </p:nvSpPr>
        <p:spPr>
          <a:xfrm>
            <a:off x="4597920" y="3602520"/>
            <a:ext cx="891720" cy="1685520"/>
          </a:xfrm>
          <a:prstGeom prst="roundRect">
            <a:avLst>
              <a:gd name="adj" fmla="val 8029"/>
            </a:avLst>
          </a:prstGeom>
          <a:noFill/>
          <a:ln w="19080">
            <a:solidFill>
              <a:srgbClr val="666666"/>
            </a:solidFill>
            <a:custDash>
              <a:ds d="200000" sp="100000"/>
            </a:custDash>
            <a:miter/>
          </a:ln>
        </p:spPr>
        <p:style>
          <a:lnRef idx="0">
            <a:scrgbClr r="0" g="0" b="0"/>
          </a:lnRef>
          <a:fillRef idx="0">
            <a:scrgbClr r="0" g="0" b="0"/>
          </a:fillRef>
          <a:effectRef idx="0">
            <a:scrgbClr r="0" g="0" b="0"/>
          </a:effectRef>
          <a:fontRef idx="minor"/>
        </p:style>
      </p:sp>
      <p:sp>
        <p:nvSpPr>
          <p:cNvPr id="27" name="CustomShape 23"/>
          <p:cNvSpPr/>
          <p:nvPr/>
        </p:nvSpPr>
        <p:spPr>
          <a:xfrm>
            <a:off x="4268160" y="5557320"/>
            <a:ext cx="16632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008000"/>
                </a:solidFill>
                <a:latin typeface="Calibri"/>
                <a:ea typeface="DejaVu Sans"/>
              </a:rPr>
              <a:t>Wrapper/Mapper</a:t>
            </a:r>
            <a:endParaRPr lang="en-US" sz="1400" b="0" strike="noStrike" spc="-1">
              <a:latin typeface="Arial"/>
            </a:endParaRPr>
          </a:p>
        </p:txBody>
      </p:sp>
      <p:sp>
        <p:nvSpPr>
          <p:cNvPr id="28" name="CustomShape 24"/>
          <p:cNvSpPr/>
          <p:nvPr/>
        </p:nvSpPr>
        <p:spPr>
          <a:xfrm>
            <a:off x="1654560" y="5285880"/>
            <a:ext cx="156744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i="1" strike="noStrike" spc="-1">
                <a:solidFill>
                  <a:srgbClr val="333333"/>
                </a:solidFill>
                <a:latin typeface="Calibri"/>
                <a:ea typeface="DejaVu Sans"/>
              </a:rPr>
              <a:t>Code_Saturne</a:t>
            </a:r>
            <a:endParaRPr lang="en-US" sz="1400" b="0" strike="noStrike" spc="-1">
              <a:latin typeface="Arial"/>
            </a:endParaRPr>
          </a:p>
        </p:txBody>
      </p:sp>
      <p:sp>
        <p:nvSpPr>
          <p:cNvPr id="29" name="CustomShape 25"/>
          <p:cNvSpPr/>
          <p:nvPr/>
        </p:nvSpPr>
        <p:spPr>
          <a:xfrm>
            <a:off x="172800" y="5285880"/>
            <a:ext cx="11916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333333"/>
                </a:solidFill>
                <a:latin typeface="Calibri"/>
                <a:ea typeface="DejaVu Sans"/>
              </a:rPr>
              <a:t>Tool</a:t>
            </a:r>
            <a:endParaRPr lang="en-US" sz="1400" b="0" strike="noStrike" spc="-1">
              <a:latin typeface="Arial"/>
            </a:endParaRPr>
          </a:p>
        </p:txBody>
      </p:sp>
      <p:sp>
        <p:nvSpPr>
          <p:cNvPr id="30" name="CustomShape 26"/>
          <p:cNvSpPr/>
          <p:nvPr/>
        </p:nvSpPr>
        <p:spPr>
          <a:xfrm>
            <a:off x="6646680" y="5285880"/>
            <a:ext cx="18954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i="1" strike="noStrike" spc="-1">
                <a:solidFill>
                  <a:srgbClr val="333333"/>
                </a:solidFill>
                <a:latin typeface="Calibri"/>
                <a:ea typeface="DejaVu Sans"/>
              </a:rPr>
              <a:t>Code_Saturne</a:t>
            </a:r>
            <a:endParaRPr lang="en-US" sz="1400" b="0" strike="noStrike" spc="-1">
              <a:latin typeface="Arial"/>
            </a:endParaRPr>
          </a:p>
        </p:txBody>
      </p:sp>
      <p:sp>
        <p:nvSpPr>
          <p:cNvPr id="31" name="CustomShape 27"/>
          <p:cNvSpPr/>
          <p:nvPr/>
        </p:nvSpPr>
        <p:spPr>
          <a:xfrm>
            <a:off x="4268160" y="5285880"/>
            <a:ext cx="1663200" cy="38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333333"/>
                </a:solidFill>
                <a:latin typeface="Calibri"/>
                <a:ea typeface="DejaVu Sans"/>
              </a:rPr>
              <a:t>MED Coupling</a:t>
            </a:r>
            <a:endParaRPr lang="en-US" sz="1400" b="0" strike="noStrike" spc="-1">
              <a:latin typeface="Arial"/>
            </a:endParaRPr>
          </a:p>
        </p:txBody>
      </p:sp>
      <p:sp>
        <p:nvSpPr>
          <p:cNvPr id="32" name="CustomShape 28"/>
          <p:cNvSpPr/>
          <p:nvPr/>
        </p:nvSpPr>
        <p:spPr>
          <a:xfrm>
            <a:off x="4765680" y="328752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33" name="CustomShape 29"/>
          <p:cNvSpPr/>
          <p:nvPr/>
        </p:nvSpPr>
        <p:spPr>
          <a:xfrm rot="18628800">
            <a:off x="4520880" y="2893320"/>
            <a:ext cx="727920" cy="294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Mesh 1</a:t>
            </a:r>
            <a:endParaRPr lang="en-US" sz="1200" b="0" strike="noStrike" spc="-1">
              <a:latin typeface="Arial"/>
            </a:endParaRPr>
          </a:p>
        </p:txBody>
      </p:sp>
      <p:sp>
        <p:nvSpPr>
          <p:cNvPr id="34" name="CustomShape 30"/>
          <p:cNvSpPr/>
          <p:nvPr/>
        </p:nvSpPr>
        <p:spPr>
          <a:xfrm>
            <a:off x="5352120" y="3291480"/>
            <a:ext cx="2880" cy="295920"/>
          </a:xfrm>
          <a:custGeom>
            <a:avLst/>
            <a:gdLst/>
            <a:ahLst/>
            <a:cxnLst/>
            <a:rect l="l" t="t" r="r" b="b"/>
            <a:pathLst>
              <a:path w="21600" h="21600">
                <a:moveTo>
                  <a:pt x="0" y="0"/>
                </a:moveTo>
                <a:lnTo>
                  <a:pt x="21600" y="21600"/>
                </a:lnTo>
              </a:path>
            </a:pathLst>
          </a:custGeom>
          <a:noFill/>
          <a:ln w="31680">
            <a:solidFill>
              <a:srgbClr val="7E3FBE"/>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35" name="CustomShape 31"/>
          <p:cNvSpPr/>
          <p:nvPr/>
        </p:nvSpPr>
        <p:spPr>
          <a:xfrm rot="18628800">
            <a:off x="5079240" y="2861280"/>
            <a:ext cx="685440" cy="36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spcAft>
                <a:spcPts val="479"/>
              </a:spcAft>
            </a:pPr>
            <a:r>
              <a:rPr lang="en-US" sz="1200" b="0" strike="noStrike" spc="-1">
                <a:solidFill>
                  <a:srgbClr val="7E3FBE"/>
                </a:solidFill>
                <a:latin typeface="Calibri"/>
                <a:ea typeface="DejaVu Sans"/>
              </a:rPr>
              <a:t>Mesh 2</a:t>
            </a:r>
            <a:endParaRPr lang="en-US" sz="1200" b="0" strike="noStrike" spc="-1">
              <a:latin typeface="Arial"/>
            </a:endParaRPr>
          </a:p>
        </p:txBody>
      </p:sp>
      <p:sp>
        <p:nvSpPr>
          <p:cNvPr id="36" name="CustomShape 32"/>
          <p:cNvSpPr/>
          <p:nvPr/>
        </p:nvSpPr>
        <p:spPr>
          <a:xfrm>
            <a:off x="5441040" y="3552120"/>
            <a:ext cx="1267920" cy="676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2B7ED2"/>
                </a:solidFill>
                <a:latin typeface="Calibri"/>
                <a:ea typeface="DejaVu Sans"/>
              </a:rPr>
              <a:t>interpolated flow field</a:t>
            </a:r>
            <a:r>
              <a:rPr lang="en-US" sz="1400" b="0" strike="noStrike" spc="-1">
                <a:solidFill>
                  <a:srgbClr val="4F81BD"/>
                </a:solidFill>
                <a:latin typeface="Calibri"/>
                <a:ea typeface="DejaVu Sans"/>
              </a:rPr>
              <a:t>s</a:t>
            </a:r>
            <a:endParaRPr lang="en-US" sz="1400" b="0" strike="noStrike" spc="-1">
              <a:latin typeface="Arial"/>
            </a:endParaRPr>
          </a:p>
        </p:txBody>
      </p:sp>
      <p:sp>
        <p:nvSpPr>
          <p:cNvPr id="37" name="CustomShape 33"/>
          <p:cNvSpPr/>
          <p:nvPr/>
        </p:nvSpPr>
        <p:spPr>
          <a:xfrm>
            <a:off x="5580360" y="4199760"/>
            <a:ext cx="992160" cy="360"/>
          </a:xfrm>
          <a:custGeom>
            <a:avLst/>
            <a:gdLst/>
            <a:ahLst/>
            <a:cxnLst/>
            <a:rect l="l" t="t" r="r" b="b"/>
            <a:pathLst>
              <a:path w="21600" h="21600">
                <a:moveTo>
                  <a:pt x="0" y="0"/>
                </a:moveTo>
                <a:lnTo>
                  <a:pt x="21600" y="21600"/>
                </a:lnTo>
              </a:path>
            </a:pathLst>
          </a:custGeom>
          <a:noFill/>
          <a:ln w="31680">
            <a:solidFill>
              <a:srgbClr val="2B7ED2"/>
            </a:solidFill>
            <a:round/>
            <a:tailEnd type="stealth" w="lg" len="lg"/>
          </a:ln>
          <a:effectLst>
            <a:outerShdw dist="23040" dir="5400000">
              <a:srgbClr val="000000">
                <a:alpha val="35000"/>
              </a:srgbClr>
            </a:outerShdw>
          </a:effectLst>
        </p:spPr>
        <p:style>
          <a:lnRef idx="0">
            <a:scrgbClr r="0" g="0" b="0"/>
          </a:lnRef>
          <a:fillRef idx="0">
            <a:scrgbClr r="0" g="0" b="0"/>
          </a:fillRef>
          <a:effectRef idx="0">
            <a:scrgbClr r="0" g="0" b="0"/>
          </a:effectRef>
          <a:fontRef idx="minor"/>
        </p:style>
      </p:sp>
      <p:sp>
        <p:nvSpPr>
          <p:cNvPr id="38" name="CustomShape 34"/>
          <p:cNvSpPr/>
          <p:nvPr/>
        </p:nvSpPr>
        <p:spPr>
          <a:xfrm flipH="1">
            <a:off x="3494880" y="4500720"/>
            <a:ext cx="963360" cy="360"/>
          </a:xfrm>
          <a:custGeom>
            <a:avLst/>
            <a:gdLst/>
            <a:ahLst/>
            <a:cxnLst/>
            <a:rect l="l" t="t" r="r" b="b"/>
            <a:pathLst>
              <a:path w="21600" h="21600">
                <a:moveTo>
                  <a:pt x="0" y="0"/>
                </a:moveTo>
                <a:lnTo>
                  <a:pt x="21600" y="21600"/>
                </a:lnTo>
              </a:path>
            </a:pathLst>
          </a:custGeom>
          <a:noFill/>
          <a:ln w="25560">
            <a:solidFill>
              <a:srgbClr val="0070C0"/>
            </a:solidFill>
            <a:custDash>
              <a:ds d="300000" sp="100000"/>
            </a:custDash>
            <a:round/>
            <a:tailEnd type="triangle" w="med" len="med"/>
          </a:ln>
        </p:spPr>
        <p:style>
          <a:lnRef idx="0">
            <a:scrgbClr r="0" g="0" b="0"/>
          </a:lnRef>
          <a:fillRef idx="0">
            <a:scrgbClr r="0" g="0" b="0"/>
          </a:fillRef>
          <a:effectRef idx="0">
            <a:scrgbClr r="0" g="0" b="0"/>
          </a:effectRef>
          <a:fontRef idx="minor"/>
        </p:style>
      </p:sp>
      <p:sp>
        <p:nvSpPr>
          <p:cNvPr id="39" name="CustomShape 35"/>
          <p:cNvSpPr/>
          <p:nvPr/>
        </p:nvSpPr>
        <p:spPr>
          <a:xfrm flipH="1">
            <a:off x="5573160" y="4533120"/>
            <a:ext cx="963360" cy="360"/>
          </a:xfrm>
          <a:custGeom>
            <a:avLst/>
            <a:gdLst/>
            <a:ahLst/>
            <a:cxnLst/>
            <a:rect l="l" t="t" r="r" b="b"/>
            <a:pathLst>
              <a:path w="21600" h="21600">
                <a:moveTo>
                  <a:pt x="0" y="0"/>
                </a:moveTo>
                <a:lnTo>
                  <a:pt x="21600" y="21600"/>
                </a:lnTo>
              </a:path>
            </a:pathLst>
          </a:custGeom>
          <a:noFill/>
          <a:ln w="25560">
            <a:solidFill>
              <a:srgbClr val="0070C0"/>
            </a:solidFill>
            <a:custDash>
              <a:ds d="300000" sp="100000"/>
            </a:custDash>
            <a:round/>
            <a:tailEnd type="triangle" w="med" len="med"/>
          </a:ln>
        </p:spPr>
        <p:style>
          <a:lnRef idx="0">
            <a:scrgbClr r="0" g="0" b="0"/>
          </a:lnRef>
          <a:fillRef idx="0">
            <a:scrgbClr r="0" g="0" b="0"/>
          </a:fillRef>
          <a:effectRef idx="0">
            <a:scrgbClr r="0" g="0" b="0"/>
          </a:effectRef>
          <a:fontRef idx="minor"/>
        </p:style>
      </p:sp>
      <p:sp>
        <p:nvSpPr>
          <p:cNvPr id="40" name="CustomShape 36"/>
          <p:cNvSpPr/>
          <p:nvPr/>
        </p:nvSpPr>
        <p:spPr>
          <a:xfrm>
            <a:off x="5427360" y="4633560"/>
            <a:ext cx="1274760" cy="52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2B7ED2"/>
                </a:solidFill>
                <a:latin typeface="Calibri"/>
                <a:ea typeface="DejaVu Sans"/>
              </a:rPr>
              <a:t>Source terms (field</a:t>
            </a:r>
            <a:r>
              <a:rPr lang="en-US" sz="1400" b="0" strike="noStrike" spc="-1">
                <a:solidFill>
                  <a:srgbClr val="0070C0"/>
                </a:solidFill>
                <a:latin typeface="Calibri"/>
                <a:ea typeface="DejaVu Sans"/>
              </a:rPr>
              <a:t>s</a:t>
            </a:r>
            <a:r>
              <a:rPr lang="en-US" sz="1400" b="0" strike="noStrike" spc="-1">
                <a:solidFill>
                  <a:srgbClr val="4F81BD"/>
                </a:solidFill>
                <a:latin typeface="Calibri"/>
                <a:ea typeface="DejaVu Sans"/>
              </a:rPr>
              <a:t>)</a:t>
            </a:r>
            <a:endParaRPr lang="en-US" sz="1400" b="0" strike="noStrike" spc="-1">
              <a:latin typeface="Arial"/>
            </a:endParaRPr>
          </a:p>
        </p:txBody>
      </p:sp>
      <p:sp>
        <p:nvSpPr>
          <p:cNvPr id="41" name="CustomShape 37"/>
          <p:cNvSpPr/>
          <p:nvPr/>
        </p:nvSpPr>
        <p:spPr>
          <a:xfrm>
            <a:off x="3399480" y="4543200"/>
            <a:ext cx="1267920" cy="832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Aft>
                <a:spcPts val="479"/>
              </a:spcAft>
            </a:pPr>
            <a:r>
              <a:rPr lang="en-US" sz="1400" b="0" strike="noStrike" spc="-1">
                <a:solidFill>
                  <a:srgbClr val="2B7ED2"/>
                </a:solidFill>
                <a:latin typeface="Calibri"/>
                <a:ea typeface="DejaVu Sans"/>
              </a:rPr>
              <a:t>interpolated source terms (field</a:t>
            </a:r>
            <a:r>
              <a:rPr lang="en-US" sz="1400" b="0" strike="noStrike" spc="-1">
                <a:solidFill>
                  <a:srgbClr val="0070C0"/>
                </a:solidFill>
                <a:latin typeface="Calibri"/>
                <a:ea typeface="DejaVu Sans"/>
              </a:rPr>
              <a:t>s</a:t>
            </a:r>
            <a:r>
              <a:rPr lang="en-US" sz="1400" b="0" strike="noStrike" spc="-1">
                <a:solidFill>
                  <a:srgbClr val="4F81BD"/>
                </a:solidFill>
                <a:latin typeface="Calibri"/>
                <a:ea typeface="DejaVu Sans"/>
              </a:rPr>
              <a:t>)</a:t>
            </a:r>
            <a:endParaRPr lang="en-US" sz="1400" b="0" strike="noStrike" spc="-1">
              <a:latin typeface="Arial"/>
            </a:endParaRPr>
          </a:p>
        </p:txBody>
      </p:sp>
      <p:sp>
        <p:nvSpPr>
          <p:cNvPr id="42" name="CustomShape 38"/>
          <p:cNvSpPr/>
          <p:nvPr/>
        </p:nvSpPr>
        <p:spPr>
          <a:xfrm>
            <a:off x="466560" y="548640"/>
            <a:ext cx="8206920" cy="368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1" strike="noStrike" spc="-1">
                <a:solidFill>
                  <a:srgbClr val="12235A"/>
                </a:solidFill>
                <a:latin typeface="Calibri"/>
                <a:ea typeface="DejaVu Sans"/>
              </a:rPr>
              <a:t>Illustration of the CDM on practical workflows: “fluid+particle” case</a:t>
            </a:r>
            <a:endParaRPr lang="en-US" sz="2000" b="0" strike="noStrike" spc="-1">
              <a:latin typeface="Arial"/>
            </a:endParaRPr>
          </a:p>
        </p:txBody>
      </p:sp>
      <p:sp>
        <p:nvSpPr>
          <p:cNvPr id="43" name="CustomShape 39"/>
          <p:cNvSpPr/>
          <p:nvPr/>
        </p:nvSpPr>
        <p:spPr>
          <a:xfrm>
            <a:off x="448200" y="1268640"/>
            <a:ext cx="8207640" cy="46800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70000" indent="-269640">
              <a:lnSpc>
                <a:spcPct val="100000"/>
              </a:lnSpc>
              <a:spcAft>
                <a:spcPts val="675"/>
              </a:spcAft>
              <a:buClr>
                <a:srgbClr val="12235A"/>
              </a:buClr>
              <a:buFont typeface="Wingdings" charset="2"/>
              <a:buChar char=""/>
            </a:pPr>
            <a:r>
              <a:rPr lang="en-US" sz="2000" b="1" strike="noStrike" spc="-1" dirty="0">
                <a:solidFill>
                  <a:srgbClr val="000000"/>
                </a:solidFill>
                <a:latin typeface="Calibri"/>
              </a:rPr>
              <a:t>Principle</a:t>
            </a:r>
            <a:r>
              <a:rPr lang="en-US" sz="2000" b="0" strike="noStrike" spc="-1" dirty="0">
                <a:solidFill>
                  <a:srgbClr val="000000"/>
                </a:solidFill>
                <a:latin typeface="Calibri"/>
              </a:rPr>
              <a:t>:  </a:t>
            </a:r>
            <a:r>
              <a:rPr lang="en-US" sz="1800" b="0" strike="noStrike" spc="-1" dirty="0">
                <a:solidFill>
                  <a:srgbClr val="000000"/>
                </a:solidFill>
                <a:latin typeface="Calibri"/>
              </a:rPr>
              <a:t>Workflow with 3 steps to compute particle agglomeration in a turbulent channel flow</a:t>
            </a:r>
            <a:endParaRPr lang="en-US" sz="1800" b="0" strike="noStrike" spc="-1" dirty="0">
              <a:latin typeface="Arial"/>
            </a:endParaRPr>
          </a:p>
        </p:txBody>
      </p:sp>
      <p:sp>
        <p:nvSpPr>
          <p:cNvPr id="44" name="Text Box 2"/>
          <p:cNvSpPr txBox="1">
            <a:spLocks noChangeArrowheads="1"/>
          </p:cNvSpPr>
          <p:nvPr/>
        </p:nvSpPr>
        <p:spPr bwMode="auto">
          <a:xfrm>
            <a:off x="10633" y="1"/>
            <a:ext cx="9133367" cy="545760"/>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illustration pratique 4/4</a:t>
            </a:r>
            <a:endParaRPr lang="fr-FR" altLang="fr-FR" sz="2800" dirty="0">
              <a:solidFill>
                <a:srgbClr val="001A70"/>
              </a:solidFill>
              <a:cs typeface="Arial" panose="020B0604020202020204" pitchFamily="34" charset="0"/>
            </a:endParaRPr>
          </a:p>
        </p:txBody>
      </p:sp>
    </p:spTree>
    <p:extLst>
      <p:ext uri="{BB962C8B-B14F-4D97-AF65-F5344CB8AC3E}">
        <p14:creationId xmlns:p14="http://schemas.microsoft.com/office/powerpoint/2010/main" val="37722088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57997" y="1110914"/>
            <a:ext cx="8663274" cy="44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cs typeface="Arial" panose="020B0604020202020204" pitchFamily="34" charset="0"/>
            </a:endParaRPr>
          </a:p>
          <a:p>
            <a:pPr lvl="1" eaLnBrk="1">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dirty="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18</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 Ce qu’il reste à finaliser</a:t>
            </a:r>
            <a:endParaRPr lang="fr-FR" altLang="fr-FR" sz="2800" dirty="0">
              <a:solidFill>
                <a:srgbClr val="001A70"/>
              </a:solidFill>
              <a:cs typeface="Arial" panose="020B0604020202020204" pitchFamily="34" charset="0"/>
            </a:endParaRPr>
          </a:p>
        </p:txBody>
      </p:sp>
    </p:spTree>
    <p:extLst>
      <p:ext uri="{BB962C8B-B14F-4D97-AF65-F5344CB8AC3E}">
        <p14:creationId xmlns:p14="http://schemas.microsoft.com/office/powerpoint/2010/main" val="295266913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19</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11017"/>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fr-FR" altLang="fr-FR" sz="2800" dirty="0" smtClean="0">
                <a:solidFill>
                  <a:srgbClr val="001A70"/>
                </a:solidFill>
                <a:cs typeface="Arial" panose="020B0604020202020204" pitchFamily="34" charset="0"/>
              </a:rPr>
              <a:t>L’outil MDM </a:t>
            </a:r>
            <a:r>
              <a:rPr lang="fr-FR" altLang="fr-FR" sz="2800" smtClean="0">
                <a:solidFill>
                  <a:srgbClr val="001A70"/>
                </a:solidFill>
                <a:cs typeface="Arial" panose="020B0604020202020204" pitchFamily="34" charset="0"/>
              </a:rPr>
              <a:t>: organisation </a:t>
            </a:r>
            <a:endParaRPr lang="fr-FR" altLang="fr-FR" sz="2800" dirty="0">
              <a:solidFill>
                <a:srgbClr val="001A70"/>
              </a:solidFill>
              <a:cs typeface="Arial" panose="020B0604020202020204" pitchFamily="34" charset="0"/>
            </a:endParaRPr>
          </a:p>
        </p:txBody>
      </p:sp>
    </p:spTree>
    <p:extLst>
      <p:ext uri="{BB962C8B-B14F-4D97-AF65-F5344CB8AC3E}">
        <p14:creationId xmlns:p14="http://schemas.microsoft.com/office/powerpoint/2010/main" val="390177945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CustomShape 38"/>
          <p:cNvSpPr/>
          <p:nvPr/>
        </p:nvSpPr>
        <p:spPr>
          <a:xfrm>
            <a:off x="466560" y="548640"/>
            <a:ext cx="8206920" cy="368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1" strike="noStrike" spc="-1" dirty="0" smtClean="0">
                <a:solidFill>
                  <a:srgbClr val="12235A"/>
                </a:solidFill>
                <a:latin typeface="Calibri"/>
                <a:ea typeface="DejaVu Sans"/>
              </a:rPr>
              <a:t>Annexes</a:t>
            </a:r>
          </a:p>
          <a:p>
            <a:pPr>
              <a:lnSpc>
                <a:spcPct val="90000"/>
              </a:lnSpc>
            </a:pPr>
            <a:endParaRPr lang="en-US" sz="2000" b="0" strike="noStrike" spc="-1" dirty="0">
              <a:latin typeface="Arial"/>
            </a:endParaRPr>
          </a:p>
        </p:txBody>
      </p:sp>
    </p:spTree>
    <p:extLst>
      <p:ext uri="{BB962C8B-B14F-4D97-AF65-F5344CB8AC3E}">
        <p14:creationId xmlns:p14="http://schemas.microsoft.com/office/powerpoint/2010/main" val="17112234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0632"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en-US" altLang="fr-FR" sz="2800" dirty="0">
                <a:solidFill>
                  <a:srgbClr val="001A70"/>
                </a:solidFill>
                <a:cs typeface="Arial" panose="020B0604020202020204" pitchFamily="34" charset="0"/>
              </a:rPr>
              <a:t>OBJECTIFS 1/3</a:t>
            </a:r>
          </a:p>
        </p:txBody>
      </p:sp>
      <p:sp>
        <p:nvSpPr>
          <p:cNvPr id="6147" name="Text Box 3"/>
          <p:cNvSpPr txBox="1">
            <a:spLocks noChangeArrowheads="1"/>
          </p:cNvSpPr>
          <p:nvPr/>
        </p:nvSpPr>
        <p:spPr bwMode="auto">
          <a:xfrm>
            <a:off x="179512" y="998967"/>
            <a:ext cx="8074893" cy="54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r>
              <a:rPr lang="fr-FR" altLang="fr-FR" sz="2000">
                <a:solidFill>
                  <a:srgbClr val="000000"/>
                </a:solidFill>
                <a:latin typeface="Arial"/>
                <a:cs typeface="Arial"/>
              </a:rPr>
              <a:t> </a:t>
            </a:r>
            <a:r>
              <a:rPr lang="fr-FR" altLang="fr-FR" sz="2000">
                <a:solidFill>
                  <a:srgbClr val="002060"/>
                </a:solidFill>
                <a:latin typeface="Arial"/>
                <a:cs typeface="Arial"/>
              </a:rPr>
              <a:t>Disposer d’une description commune des Modèles de Données Métiers (MDM)</a:t>
            </a:r>
            <a:r>
              <a:rPr lang="fr-FR" altLang="fr-FR" sz="2000">
                <a:solidFill>
                  <a:srgbClr val="000000"/>
                </a:solidFill>
                <a:latin typeface="Arial"/>
                <a:cs typeface="Arial"/>
              </a:rPr>
              <a:t> </a:t>
            </a:r>
            <a:endParaRPr lang="fr-FR" altLang="fr-FR" sz="2000">
              <a:solidFill>
                <a:srgbClr val="000000"/>
              </a:solidFill>
              <a:cs typeface="Arial" panose="020B0604020202020204" pitchFamily="34" charset="0"/>
            </a:endParaRPr>
          </a:p>
          <a:p>
            <a:pPr lvl="1" eaLnBrk="1">
              <a:spcBef>
                <a:spcPts val="300"/>
              </a:spcBef>
              <a:buClr>
                <a:srgbClr val="001A70"/>
              </a:buClr>
              <a:buFont typeface="Wingdings" panose="05000000000000000000" pitchFamily="2" charset="2"/>
              <a:buChar char="Ø"/>
            </a:pPr>
            <a:r>
              <a:rPr lang="fr-FR" altLang="fr-FR">
                <a:solidFill>
                  <a:srgbClr val="000000"/>
                </a:solidFill>
                <a:latin typeface="Arial"/>
                <a:cs typeface="Arial"/>
              </a:rPr>
              <a:t>Trouver un langage de description des MDD</a:t>
            </a:r>
          </a:p>
          <a:p>
            <a:pPr lvl="1" eaLnBrk="1">
              <a:spcBef>
                <a:spcPts val="300"/>
              </a:spcBef>
              <a:buClr>
                <a:srgbClr val="001A70"/>
              </a:buClr>
              <a:buFont typeface="Wingdings" panose="05000000000000000000" pitchFamily="2" charset="2"/>
              <a:buChar char="Ø"/>
            </a:pPr>
            <a:r>
              <a:rPr lang="fr-FR" altLang="fr-FR">
                <a:solidFill>
                  <a:srgbClr val="000000"/>
                </a:solidFill>
                <a:latin typeface="Arial"/>
                <a:cs typeface="Arial"/>
              </a:rPr>
              <a:t>Permettre l’interopérabilité/interchangeabilité des codes dans une chaîne de calcul</a:t>
            </a:r>
          </a:p>
          <a:p>
            <a:pPr lvl="1" eaLnBrk="1">
              <a:spcBef>
                <a:spcPts val="300"/>
              </a:spcBef>
              <a:buClr>
                <a:srgbClr val="001A70"/>
              </a:buClr>
              <a:buFont typeface="Wingdings" panose="05000000000000000000" pitchFamily="2" charset="2"/>
              <a:buChar char="Ø"/>
            </a:pPr>
            <a:r>
              <a:rPr lang="fr-FR" altLang="fr-FR">
                <a:solidFill>
                  <a:srgbClr val="000000"/>
                </a:solidFill>
                <a:cs typeface="Arial" panose="020B0604020202020204" pitchFamily="34" charset="0"/>
              </a:rPr>
              <a:t>Faciliter les montées de version des codes dans une chaîne de calcul</a:t>
            </a:r>
          </a:p>
          <a:p>
            <a:pPr lvl="1" eaLnBrk="1">
              <a:spcBef>
                <a:spcPts val="300"/>
              </a:spcBef>
              <a:buClr>
                <a:srgbClr val="001A70"/>
              </a:buClr>
              <a:buFont typeface="Wingdings" panose="05000000000000000000" pitchFamily="2" charset="2"/>
              <a:buChar char="Ø"/>
            </a:pPr>
            <a:r>
              <a:rPr lang="fr-FR" altLang="fr-FR">
                <a:solidFill>
                  <a:srgbClr val="000000"/>
                </a:solidFill>
                <a:cs typeface="Arial" panose="020B0604020202020204" pitchFamily="34" charset="0"/>
              </a:rPr>
              <a:t>Assurer l’échange de données métiers entre modules au sein de la plate-forme SALOME</a:t>
            </a:r>
          </a:p>
          <a:p>
            <a:pPr lvl="1" eaLnBrk="1">
              <a:spcBef>
                <a:spcPts val="300"/>
              </a:spcBef>
              <a:buClr>
                <a:srgbClr val="001A70"/>
              </a:buClr>
              <a:buFont typeface="Wingdings" panose="05000000000000000000" pitchFamily="2" charset="2"/>
              <a:buChar char="Ø"/>
            </a:pPr>
            <a:r>
              <a:rPr lang="fr-FR" altLang="fr-FR">
                <a:solidFill>
                  <a:srgbClr val="000000"/>
                </a:solidFill>
                <a:latin typeface="Arial"/>
                <a:cs typeface="Arial"/>
              </a:rPr>
              <a:t>Aider à l’écriture des modèles de données</a:t>
            </a:r>
          </a:p>
          <a:p>
            <a:pPr lvl="1" eaLnBrk="1">
              <a:spcBef>
                <a:spcPts val="300"/>
              </a:spcBef>
              <a:buClr>
                <a:srgbClr val="001A70"/>
              </a:buClr>
              <a:buFont typeface="Wingdings" panose="05000000000000000000" pitchFamily="2" charset="2"/>
              <a:buChar char="Ø"/>
            </a:pPr>
            <a:r>
              <a:rPr lang="fr-FR" altLang="fr-FR">
                <a:solidFill>
                  <a:srgbClr val="000000"/>
                </a:solidFill>
                <a:cs typeface="Arial" panose="020B0604020202020204" pitchFamily="34" charset="0"/>
              </a:rPr>
              <a:t>Améliorer la réutilisation des définitions d’objets entre les métiers</a:t>
            </a:r>
          </a:p>
          <a:p>
            <a:pPr marL="457200" lvl="1" indent="0" eaLnBrk="1">
              <a:spcBef>
                <a:spcPts val="300"/>
              </a:spcBef>
              <a:buClr>
                <a:srgbClr val="001A70"/>
              </a:buClr>
            </a:pPr>
            <a:r>
              <a:rPr lang="fr-FR" altLang="fr-FR">
                <a:solidFill>
                  <a:srgbClr val="000000"/>
                </a:solidFill>
                <a:cs typeface="Arial" panose="020B0604020202020204" pitchFamily="34" charset="0"/>
              </a:rPr>
              <a:t>  </a:t>
            </a:r>
            <a:endParaRPr lang="fr-FR" altLang="fr-FR" sz="2000">
              <a:solidFill>
                <a:srgbClr val="000000"/>
              </a:solidFill>
              <a:cs typeface="Arial" panose="020B0604020202020204" pitchFamily="34" charset="0"/>
            </a:endParaRPr>
          </a:p>
          <a:p>
            <a:pPr eaLnBrk="1">
              <a:spcBef>
                <a:spcPts val="300"/>
              </a:spcBef>
              <a:spcAft>
                <a:spcPct val="25000"/>
              </a:spcAft>
              <a:buClr>
                <a:srgbClr val="001A70"/>
              </a:buClr>
              <a:buFont typeface="Wingdings" panose="05000000000000000000" pitchFamily="2" charset="2"/>
              <a:buChar char=""/>
            </a:pPr>
            <a:r>
              <a:rPr lang="fr-FR" altLang="fr-FR" sz="2000">
                <a:solidFill>
                  <a:srgbClr val="002060"/>
                </a:solidFill>
                <a:latin typeface="Arial"/>
                <a:cs typeface="Arial"/>
              </a:rPr>
              <a:t> Automatiser les développements récurrents réalisées par les développeurs d’outils et plates-formes métier</a:t>
            </a:r>
            <a:endParaRPr lang="fr-FR">
              <a:cs typeface="Arial"/>
            </a:endParaRPr>
          </a:p>
          <a:p>
            <a:pPr>
              <a:spcBef>
                <a:spcPts val="300"/>
              </a:spcBef>
              <a:spcAft>
                <a:spcPct val="25000"/>
              </a:spcAft>
              <a:buClr>
                <a:srgbClr val="001A70"/>
              </a:buClr>
              <a:buFont typeface="Wingdings" panose="05000000000000000000" pitchFamily="2" charset="2"/>
              <a:buChar char=""/>
            </a:pPr>
            <a:r>
              <a:rPr lang="fr-FR" altLang="fr-FR" sz="2000">
                <a:solidFill>
                  <a:srgbClr val="002060"/>
                </a:solidFill>
                <a:latin typeface="Arial"/>
                <a:cs typeface="Arial"/>
              </a:rPr>
              <a:t> Faciliter la maintenance et améliorer la qualité des modules métiers</a:t>
            </a:r>
            <a:endParaRPr lang="fr-FR"/>
          </a:p>
          <a:p>
            <a:pPr eaLnBrk="1">
              <a:spcBef>
                <a:spcPts val="300"/>
              </a:spcBef>
              <a:spcAft>
                <a:spcPct val="25000"/>
              </a:spcAft>
              <a:buClr>
                <a:srgbClr val="001A70"/>
              </a:buClr>
              <a:buFont typeface="Wingdings" panose="05000000000000000000" pitchFamily="2" charset="2"/>
              <a:buChar char=""/>
            </a:pPr>
            <a:endParaRPr lang="fr-FR" altLang="fr-FR" sz="2000">
              <a:solidFill>
                <a:srgbClr val="002060"/>
              </a:solidFill>
              <a:cs typeface="Arial" panose="020B0604020202020204" pitchFamily="34" charset="0"/>
            </a:endParaRPr>
          </a:p>
          <a:p>
            <a:pPr lvl="1" eaLnBrk="1">
              <a:spcBef>
                <a:spcPts val="300"/>
              </a:spcBef>
              <a:spcAft>
                <a:spcPct val="25000"/>
              </a:spcAft>
              <a:buClr>
                <a:srgbClr val="001A70"/>
              </a:buClr>
              <a:buFont typeface="Wingdings" panose="05000000000000000000" pitchFamily="2" charset="2"/>
              <a:buChar char=""/>
            </a:pPr>
            <a:endParaRPr lang="fr-FR" altLang="fr-FR" sz="200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a:solidFill>
                <a:srgbClr val="002060"/>
              </a:solidFill>
              <a:cs typeface="Arial" panose="020B0604020202020204" pitchFamily="34" charset="0"/>
            </a:endParaRPr>
          </a:p>
          <a:p>
            <a:pPr eaLnBrk="1">
              <a:spcBef>
                <a:spcPts val="300"/>
              </a:spcBef>
              <a:spcAft>
                <a:spcPct val="25000"/>
              </a:spcAft>
              <a:buClr>
                <a:srgbClr val="001A70"/>
              </a:buClr>
            </a:pPr>
            <a:endParaRPr lang="fr-FR" altLang="fr-FR" sz="2000">
              <a:solidFill>
                <a:srgbClr val="00206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21</a:t>
            </a:fld>
            <a:endParaRPr lang="fr-FR" altLang="fr-FR" sz="90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01519624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1425575" y="3068960"/>
            <a:ext cx="7718425" cy="311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buClrTx/>
              <a:buSzPct val="45000"/>
              <a:buFontTx/>
              <a:buNone/>
            </a:pPr>
            <a:endParaRPr lang="fr-FR" altLang="fr-FR" sz="1600">
              <a:cs typeface="Arial" panose="020B0604020202020204" pitchFamily="34" charset="0"/>
            </a:endParaRPr>
          </a:p>
          <a:p>
            <a:pPr eaLnBrk="1">
              <a:spcBef>
                <a:spcPts val="300"/>
              </a:spcBef>
              <a:buClrTx/>
              <a:buSzPct val="45000"/>
              <a:buFontTx/>
              <a:buNone/>
            </a:pPr>
            <a:endParaRPr lang="fr-FR" altLang="fr-FR" sz="1600">
              <a:cs typeface="Arial" panose="020B0604020202020204" pitchFamily="34" charset="0"/>
            </a:endParaRPr>
          </a:p>
          <a:p>
            <a:pPr eaLnBrk="1">
              <a:spcBef>
                <a:spcPts val="300"/>
              </a:spcBef>
              <a:buClrTx/>
              <a:buSzPct val="45000"/>
              <a:buFontTx/>
              <a:buNone/>
            </a:pPr>
            <a:endParaRPr lang="fr-FR" altLang="fr-FR" sz="1600">
              <a:cs typeface="Arial" panose="020B0604020202020204" pitchFamily="34" charset="0"/>
            </a:endParaRPr>
          </a:p>
        </p:txBody>
      </p:sp>
      <p:sp>
        <p:nvSpPr>
          <p:cNvPr id="16388" name="Text Box 3"/>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534926A-350D-41AE-AE44-5F1844108154}" type="slidenum">
              <a:rPr lang="fr-FR" altLang="fr-FR" sz="900">
                <a:latin typeface="Times New Roman" panose="02020603050405020304" pitchFamily="18" charset="0"/>
                <a:cs typeface="Arial" panose="020B0604020202020204" pitchFamily="34" charset="0"/>
              </a:rPr>
              <a:pPr algn="r" eaLnBrk="1" hangingPunct="1">
                <a:buClrTx/>
                <a:buFontTx/>
                <a:buNone/>
              </a:pPr>
              <a:t>22</a:t>
            </a:fld>
            <a:endParaRPr lang="fr-FR" altLang="fr-FR" sz="900">
              <a:latin typeface="Times New Roman" panose="02020603050405020304" pitchFamily="18" charset="0"/>
              <a:cs typeface="Arial" panose="020B0604020202020204" pitchFamily="34" charset="0"/>
            </a:endParaRPr>
          </a:p>
        </p:txBody>
      </p:sp>
      <p:sp>
        <p:nvSpPr>
          <p:cNvPr id="16389" name="Text Box 5"/>
          <p:cNvSpPr txBox="1">
            <a:spLocks noChangeArrowheads="1"/>
          </p:cNvSpPr>
          <p:nvPr/>
        </p:nvSpPr>
        <p:spPr bwMode="auto">
          <a:xfrm>
            <a:off x="179512" y="1066111"/>
            <a:ext cx="8294206" cy="480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5000"/>
              </a:spcAft>
              <a:buClr>
                <a:srgbClr val="001A70"/>
              </a:buClr>
              <a:buFont typeface="Wingdings" panose="05000000000000000000" pitchFamily="2" charset="2"/>
              <a:buChar char=""/>
            </a:pPr>
            <a:r>
              <a:rPr lang="fr-FR" altLang="fr-FR" sz="2000">
                <a:solidFill>
                  <a:srgbClr val="002060"/>
                </a:solidFill>
                <a:cs typeface="Arial" panose="020B0604020202020204" pitchFamily="34" charset="0"/>
              </a:rPr>
              <a:t> Définir une démarche descriptive </a:t>
            </a:r>
          </a:p>
          <a:p>
            <a:pPr lvl="1" eaLnBrk="1">
              <a:spcBef>
                <a:spcPts val="300"/>
              </a:spcBef>
              <a:buClr>
                <a:srgbClr val="001A70"/>
              </a:buClr>
              <a:buFont typeface="Wingdings" panose="05000000000000000000" pitchFamily="2" charset="2"/>
              <a:buChar char="Ø"/>
            </a:pPr>
            <a:r>
              <a:rPr lang="fr-FR" altLang="fr-FR">
                <a:solidFill>
                  <a:srgbClr val="000000"/>
                </a:solidFill>
                <a:latin typeface="Arial"/>
                <a:cs typeface="Arial"/>
              </a:rPr>
              <a:t>qui incite à la réflexion/modélisation de son modèle métier </a:t>
            </a:r>
          </a:p>
          <a:p>
            <a:pPr marL="457200" lvl="1" indent="0">
              <a:spcBef>
                <a:spcPts val="300"/>
              </a:spcBef>
              <a:buClr>
                <a:srgbClr val="001A70"/>
              </a:buClr>
            </a:pPr>
            <a:r>
              <a:rPr lang="fr-FR" altLang="fr-FR">
                <a:solidFill>
                  <a:srgbClr val="000000"/>
                </a:solidFill>
                <a:latin typeface="Arial"/>
                <a:cs typeface="Arial"/>
              </a:rPr>
              <a:t>    (aussi petit/grand soit-il)</a:t>
            </a:r>
            <a:endParaRPr lang="fr-FR"/>
          </a:p>
          <a:p>
            <a:pPr eaLnBrk="1">
              <a:spcBef>
                <a:spcPts val="300"/>
              </a:spcBef>
              <a:spcAft>
                <a:spcPct val="5000"/>
              </a:spcAft>
              <a:buClr>
                <a:srgbClr val="001A70"/>
              </a:buClr>
              <a:buFont typeface="Wingdings" panose="05000000000000000000" pitchFamily="2" charset="2"/>
              <a:buNone/>
            </a:pPr>
            <a:endParaRPr lang="fr-FR" altLang="fr-FR" sz="2000">
              <a:solidFill>
                <a:srgbClr val="002060"/>
              </a:solidFill>
              <a:cs typeface="Arial" panose="020B0604020202020204" pitchFamily="34" charset="0"/>
            </a:endParaRPr>
          </a:p>
          <a:p>
            <a:pPr eaLnBrk="1">
              <a:spcBef>
                <a:spcPts val="300"/>
              </a:spcBef>
              <a:spcAft>
                <a:spcPct val="5000"/>
              </a:spcAft>
              <a:buClr>
                <a:srgbClr val="001A70"/>
              </a:buClr>
              <a:buFont typeface="Wingdings" panose="05000000000000000000" pitchFamily="2" charset="2"/>
              <a:buChar char=""/>
            </a:pPr>
            <a:r>
              <a:rPr lang="fr-FR" altLang="fr-FR" sz="2000">
                <a:solidFill>
                  <a:srgbClr val="002060"/>
                </a:solidFill>
                <a:cs typeface="Arial" panose="020B0604020202020204" pitchFamily="34" charset="0"/>
              </a:rPr>
              <a:t> Lever au plus tôt les ambiguïtés du langage naturel avec lequel les interlocuteurs emploient un même mot avec des sémantiques différentes</a:t>
            </a:r>
          </a:p>
          <a:p>
            <a:pPr eaLnBrk="1">
              <a:spcBef>
                <a:spcPts val="300"/>
              </a:spcBef>
              <a:spcAft>
                <a:spcPct val="5000"/>
              </a:spcAft>
              <a:buClr>
                <a:srgbClr val="001A70"/>
              </a:buClr>
              <a:buFont typeface="Wingdings" panose="05000000000000000000" pitchFamily="2" charset="2"/>
              <a:buNone/>
            </a:pPr>
            <a:endParaRPr lang="fr-FR" altLang="fr-FR" sz="2000">
              <a:solidFill>
                <a:srgbClr val="002060"/>
              </a:solidFill>
              <a:cs typeface="Arial" panose="020B0604020202020204" pitchFamily="34" charset="0"/>
            </a:endParaRPr>
          </a:p>
          <a:p>
            <a:pPr eaLnBrk="1">
              <a:spcBef>
                <a:spcPts val="300"/>
              </a:spcBef>
              <a:spcAft>
                <a:spcPct val="5000"/>
              </a:spcAft>
              <a:buClr>
                <a:srgbClr val="001A70"/>
              </a:buClr>
              <a:buFont typeface="Wingdings" panose="05000000000000000000" pitchFamily="2" charset="2"/>
              <a:buChar char=""/>
            </a:pPr>
            <a:r>
              <a:rPr lang="fr-FR" altLang="fr-FR" sz="2000">
                <a:solidFill>
                  <a:srgbClr val="002060"/>
                </a:solidFill>
                <a:cs typeface="Arial" panose="020B0604020202020204" pitchFamily="34" charset="0"/>
              </a:rPr>
              <a:t> Distinguer le Modèle de Données Métier de son traitement : </a:t>
            </a:r>
            <a:endParaRPr lang="fr-FR" altLang="fr-FR" sz="2000">
              <a:solidFill>
                <a:srgbClr val="002060"/>
              </a:solidFill>
              <a:cs typeface="Arial" panose="020B0604020202020204" pitchFamily="34" charset="0"/>
              <a:sym typeface="Wingdings" panose="05000000000000000000" pitchFamily="2" charset="2"/>
            </a:endParaRPr>
          </a:p>
          <a:p>
            <a:pPr lvl="1" eaLnBrk="1">
              <a:spcBef>
                <a:spcPts val="300"/>
              </a:spcBef>
              <a:buClr>
                <a:srgbClr val="001A70"/>
              </a:buClr>
              <a:buFont typeface="Wingdings" panose="05000000000000000000" pitchFamily="2" charset="2"/>
              <a:buChar char="Ø"/>
            </a:pPr>
            <a:r>
              <a:rPr lang="fr-FR" altLang="fr-FR">
                <a:solidFill>
                  <a:srgbClr val="000000"/>
                </a:solidFill>
                <a:cs typeface="Arial" panose="020B0604020202020204" pitchFamily="34" charset="0"/>
                <a:sym typeface="Wingdings" panose="05000000000000000000" pitchFamily="2" charset="2"/>
              </a:rPr>
              <a:t>différencier</a:t>
            </a:r>
            <a:r>
              <a:rPr lang="fr-FR" altLang="fr-FR">
                <a:solidFill>
                  <a:srgbClr val="000000"/>
                </a:solidFill>
                <a:cs typeface="Arial" panose="020B0604020202020204" pitchFamily="34" charset="0"/>
              </a:rPr>
              <a:t> les données de traitements des données d’échanges</a:t>
            </a:r>
          </a:p>
          <a:p>
            <a:pPr eaLnBrk="1">
              <a:spcBef>
                <a:spcPts val="300"/>
              </a:spcBef>
              <a:spcAft>
                <a:spcPct val="5000"/>
              </a:spcAft>
              <a:buClr>
                <a:srgbClr val="001A70"/>
              </a:buClr>
              <a:buFont typeface="Wingdings" panose="05000000000000000000" pitchFamily="2" charset="2"/>
              <a:buNone/>
            </a:pPr>
            <a:endParaRPr lang="fr-FR" altLang="fr-FR" sz="2000">
              <a:solidFill>
                <a:srgbClr val="002060"/>
              </a:solidFill>
              <a:cs typeface="Arial" panose="020B0604020202020204" pitchFamily="34" charset="0"/>
            </a:endParaRPr>
          </a:p>
          <a:p>
            <a:pPr eaLnBrk="1">
              <a:spcBef>
                <a:spcPts val="300"/>
              </a:spcBef>
              <a:spcAft>
                <a:spcPct val="5000"/>
              </a:spcAft>
              <a:buClr>
                <a:srgbClr val="001A70"/>
              </a:buClr>
              <a:buFont typeface="Wingdings" panose="05000000000000000000" pitchFamily="2" charset="2"/>
              <a:buChar char=""/>
            </a:pPr>
            <a:r>
              <a:rPr lang="fr-FR" altLang="fr-FR" sz="2000">
                <a:solidFill>
                  <a:srgbClr val="002060"/>
                </a:solidFill>
                <a:cs typeface="Arial" panose="020B0604020202020204" pitchFamily="34" charset="0"/>
              </a:rPr>
              <a:t> Décharger les métiers de l’écriture de drivers grâce à la génération automatique ( en assurant une gestion semi-automatique des données dans les codes en C++/Python</a:t>
            </a:r>
            <a:r>
              <a:rPr lang="fr-FR" altLang="fr-FR" sz="2000">
                <a:solidFill>
                  <a:srgbClr val="000000"/>
                </a:solidFill>
                <a:cs typeface="Arial" panose="020B0604020202020204" pitchFamily="34" charset="0"/>
              </a:rPr>
              <a:t>)</a:t>
            </a:r>
          </a:p>
          <a:p>
            <a:pPr eaLnBrk="1">
              <a:spcBef>
                <a:spcPts val="100"/>
              </a:spcBef>
              <a:spcAft>
                <a:spcPct val="5000"/>
              </a:spcAft>
              <a:buClr>
                <a:srgbClr val="001A70"/>
              </a:buClr>
              <a:buFont typeface="Wingdings" panose="05000000000000000000" pitchFamily="2" charset="2"/>
              <a:buChar char=""/>
            </a:pPr>
            <a:endParaRPr lang="fr-FR" altLang="fr-FR" sz="2400">
              <a:cs typeface="Arial" panose="020B0604020202020204" pitchFamily="34" charset="0"/>
            </a:endParaRPr>
          </a:p>
        </p:txBody>
      </p:sp>
      <p:sp>
        <p:nvSpPr>
          <p:cNvPr id="6" name="Text Box 2"/>
          <p:cNvSpPr txBox="1">
            <a:spLocks noChangeArrowheads="1"/>
          </p:cNvSpPr>
          <p:nvPr/>
        </p:nvSpPr>
        <p:spPr bwMode="auto">
          <a:xfrm>
            <a:off x="10632"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en-US" altLang="fr-FR" sz="2800" dirty="0">
                <a:solidFill>
                  <a:srgbClr val="001A70"/>
                </a:solidFill>
                <a:cs typeface="Arial" panose="020B0604020202020204" pitchFamily="34" charset="0"/>
              </a:rPr>
              <a:t>OBJECTIFS 2/3</a:t>
            </a:r>
          </a:p>
        </p:txBody>
      </p:sp>
    </p:spTree>
    <p:extLst>
      <p:ext uri="{BB962C8B-B14F-4D97-AF65-F5344CB8AC3E}">
        <p14:creationId xmlns:p14="http://schemas.microsoft.com/office/powerpoint/2010/main" val="376331149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827584" y="1700808"/>
            <a:ext cx="7718425" cy="311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buClrTx/>
              <a:buSzPct val="45000"/>
              <a:buFontTx/>
              <a:buNone/>
            </a:pPr>
            <a:endParaRPr lang="fr-FR" altLang="fr-FR" sz="1600">
              <a:cs typeface="Arial" panose="020B0604020202020204" pitchFamily="34" charset="0"/>
            </a:endParaRPr>
          </a:p>
          <a:p>
            <a:pPr eaLnBrk="1">
              <a:spcBef>
                <a:spcPts val="300"/>
              </a:spcBef>
              <a:buClrTx/>
              <a:buSzPct val="45000"/>
              <a:buFontTx/>
              <a:buNone/>
            </a:pPr>
            <a:endParaRPr lang="fr-FR" altLang="fr-FR" sz="1600">
              <a:cs typeface="Arial" panose="020B0604020202020204" pitchFamily="34" charset="0"/>
            </a:endParaRPr>
          </a:p>
          <a:p>
            <a:pPr eaLnBrk="1">
              <a:spcBef>
                <a:spcPts val="300"/>
              </a:spcBef>
              <a:buClrTx/>
              <a:buSzPct val="45000"/>
              <a:buFontTx/>
              <a:buNone/>
            </a:pPr>
            <a:endParaRPr lang="fr-FR" altLang="fr-FR" sz="1600">
              <a:cs typeface="Arial" panose="020B0604020202020204" pitchFamily="34" charset="0"/>
            </a:endParaRPr>
          </a:p>
        </p:txBody>
      </p:sp>
      <p:sp>
        <p:nvSpPr>
          <p:cNvPr id="18436"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D198086C-9D37-42CC-99A6-6B8308FB0653}" type="slidenum">
              <a:rPr lang="fr-FR" altLang="fr-FR" sz="900">
                <a:latin typeface="Times New Roman" panose="02020603050405020304" pitchFamily="18" charset="0"/>
                <a:cs typeface="Arial" panose="020B0604020202020204" pitchFamily="34" charset="0"/>
              </a:rPr>
              <a:pPr algn="r" eaLnBrk="1" hangingPunct="1">
                <a:buClrTx/>
                <a:buFontTx/>
                <a:buNone/>
              </a:pPr>
              <a:t>23</a:t>
            </a:fld>
            <a:endParaRPr lang="fr-FR" altLang="fr-FR" sz="900">
              <a:latin typeface="Times New Roman" panose="02020603050405020304" pitchFamily="18" charset="0"/>
              <a:cs typeface="Arial" panose="020B0604020202020204" pitchFamily="34" charset="0"/>
            </a:endParaRPr>
          </a:p>
        </p:txBody>
      </p:sp>
      <p:sp>
        <p:nvSpPr>
          <p:cNvPr id="18437" name="Text Box 5"/>
          <p:cNvSpPr txBox="1">
            <a:spLocks noChangeArrowheads="1"/>
          </p:cNvSpPr>
          <p:nvPr/>
        </p:nvSpPr>
        <p:spPr bwMode="auto">
          <a:xfrm>
            <a:off x="218882" y="851845"/>
            <a:ext cx="8467918" cy="4527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endParaRPr lang="fr-FR" altLang="fr-FR" sz="500" dirty="0">
              <a:solidFill>
                <a:srgbClr val="000000"/>
              </a:solidFill>
              <a:cs typeface="Arial" panose="020B0604020202020204" pitchFamily="34" charset="0"/>
            </a:endParaRP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cs typeface="Arial" panose="020B0604020202020204" pitchFamily="34" charset="0"/>
              </a:rPr>
              <a:t> Faciliter les évolutions de modèles et les transformations (d’une version) d’un modèle à un(e) autre</a:t>
            </a:r>
            <a:r>
              <a:rPr lang="fr-FR" altLang="fr-FR" sz="2000" dirty="0">
                <a:solidFill>
                  <a:srgbClr val="000000"/>
                </a:solidFill>
                <a:cs typeface="Arial" panose="020B0604020202020204" pitchFamily="34" charset="0"/>
              </a:rPr>
              <a:t>. </a:t>
            </a:r>
          </a:p>
          <a:p>
            <a:pPr lvl="1" eaLnBrk="1">
              <a:spcBef>
                <a:spcPts val="300"/>
              </a:spcBef>
              <a:spcAft>
                <a:spcPct val="250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Disposer de deux modèles n’implique pas que la transformation est facile/faisable</a:t>
            </a:r>
          </a:p>
          <a:p>
            <a:pPr marL="457200" lvl="1" indent="0" eaLnBrk="1">
              <a:spcBef>
                <a:spcPts val="300"/>
              </a:spcBef>
              <a:spcAft>
                <a:spcPct val="25000"/>
              </a:spcAft>
              <a:buClr>
                <a:srgbClr val="001A70"/>
              </a:buClr>
            </a:pPr>
            <a:endParaRPr lang="fr-FR" altLang="fr-FR" sz="2000" dirty="0">
              <a:solidFill>
                <a:srgbClr val="000000"/>
              </a:solidFill>
              <a:cs typeface="Arial" panose="020B0604020202020204" pitchFamily="34" charset="0"/>
            </a:endParaRP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 Assurer l’écriture, la lecture, l’échange de données sous toutes ses formes conformément au modèle défini (</a:t>
            </a:r>
            <a:r>
              <a:rPr lang="fr-FR" altLang="fr-FR" sz="1600" dirty="0">
                <a:solidFill>
                  <a:srgbClr val="002060"/>
                </a:solidFill>
                <a:latin typeface="Arial"/>
                <a:cs typeface="Arial"/>
              </a:rPr>
              <a:t>syntaxe correcte et validation</a:t>
            </a:r>
            <a:r>
              <a:rPr lang="fr-FR" altLang="fr-FR" sz="2000" dirty="0">
                <a:solidFill>
                  <a:srgbClr val="002060"/>
                </a:solidFill>
                <a:latin typeface="Arial"/>
                <a:cs typeface="Arial"/>
              </a:rPr>
              <a:t>)</a:t>
            </a:r>
          </a:p>
          <a:p>
            <a:pPr eaLnBrk="1">
              <a:spcBef>
                <a:spcPts val="300"/>
              </a:spcBef>
              <a:spcAft>
                <a:spcPct val="25000"/>
              </a:spcAft>
              <a:buClr>
                <a:srgbClr val="001A70"/>
              </a:buClr>
              <a:buFont typeface="Wingdings" panose="05000000000000000000" pitchFamily="2" charset="2"/>
              <a:buNone/>
            </a:pPr>
            <a:endParaRPr lang="fr-FR" altLang="fr-FR" sz="2000" dirty="0">
              <a:solidFill>
                <a:srgbClr val="002060"/>
              </a:solidFill>
              <a:cs typeface="Arial" panose="020B0604020202020204" pitchFamily="34" charset="0"/>
            </a:endParaRP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cs typeface="Arial" panose="020B0604020202020204" pitchFamily="34" charset="0"/>
              </a:rPr>
              <a:t> Réemployer un modèle / une partie de modèle</a:t>
            </a:r>
          </a:p>
          <a:p>
            <a:pPr lvl="1" eaLnBrk="1">
              <a:spcBef>
                <a:spcPts val="300"/>
              </a:spcBef>
              <a:spcAft>
                <a:spcPct val="250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Composition de modèles</a:t>
            </a:r>
          </a:p>
        </p:txBody>
      </p:sp>
      <p:sp>
        <p:nvSpPr>
          <p:cNvPr id="6" name="Text Box 2"/>
          <p:cNvSpPr txBox="1">
            <a:spLocks noChangeArrowheads="1"/>
          </p:cNvSpPr>
          <p:nvPr/>
        </p:nvSpPr>
        <p:spPr bwMode="auto">
          <a:xfrm>
            <a:off x="10632"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buFontTx/>
              <a:buNone/>
            </a:pPr>
            <a:r>
              <a:rPr lang="en-US" altLang="fr-FR" sz="2800" dirty="0">
                <a:solidFill>
                  <a:srgbClr val="001A70"/>
                </a:solidFill>
                <a:cs typeface="Arial" panose="020B0604020202020204" pitchFamily="34" charset="0"/>
              </a:rPr>
              <a:t>OBJECTIFS 3/3</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p:cNvSpPr txBox="1">
            <a:spLocks noChangeArrowheads="1"/>
          </p:cNvSpPr>
          <p:nvPr/>
        </p:nvSpPr>
        <p:spPr bwMode="auto">
          <a:xfrm>
            <a:off x="146111" y="1066800"/>
            <a:ext cx="8539038" cy="502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cs typeface="Arial" panose="020B0604020202020204" pitchFamily="34" charset="0"/>
              </a:rPr>
              <a:t> Utiliser un vocabulaire adapté pour définir les concepts utilisés par les métiers </a:t>
            </a:r>
          </a:p>
          <a:p>
            <a:pPr lvl="1" eaLnBrk="1">
              <a:spcBef>
                <a:spcPts val="300"/>
              </a:spcBef>
              <a:spcAft>
                <a:spcPct val="25000"/>
              </a:spcAft>
              <a:buClr>
                <a:srgbClr val="001A70"/>
              </a:buClr>
              <a:buFont typeface="Wingdings" panose="05000000000000000000" pitchFamily="2" charset="2"/>
              <a:buChar char="Ø"/>
            </a:pPr>
            <a:r>
              <a:rPr lang="fr-FR" altLang="fr-FR" dirty="0">
                <a:solidFill>
                  <a:srgbClr val="000000"/>
                </a:solidFill>
                <a:latin typeface="Arial"/>
                <a:cs typeface="Arial"/>
              </a:rPr>
              <a:t>Une poutre pourra être identifiée comme telle (</a:t>
            </a:r>
            <a:r>
              <a:rPr lang="fr-FR" altLang="fr-FR" sz="1600" dirty="0">
                <a:solidFill>
                  <a:srgbClr val="000000"/>
                </a:solidFill>
                <a:latin typeface="Arial"/>
                <a:cs typeface="Arial"/>
              </a:rPr>
              <a:t>et non comme un groupe de mailles</a:t>
            </a:r>
            <a:r>
              <a:rPr lang="fr-FR" altLang="fr-FR" dirty="0">
                <a:solidFill>
                  <a:srgbClr val="000000"/>
                </a:solidFill>
                <a:latin typeface="Arial"/>
                <a:cs typeface="Arial"/>
              </a:rPr>
              <a:t>)</a:t>
            </a: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Exprimer les domaines de validité et les règles de validation</a:t>
            </a:r>
          </a:p>
          <a:p>
            <a:pPr lvl="1" eaLnBrk="1">
              <a:spcBef>
                <a:spcPts val="300"/>
              </a:spcBef>
              <a:spcAft>
                <a:spcPct val="250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Evite toute corruption de données et décharge le code de calcul de l’analyse exhaustive des dépendances</a:t>
            </a:r>
            <a:endParaRPr lang="fr-FR" altLang="fr-FR" sz="2000" dirty="0">
              <a:solidFill>
                <a:srgbClr val="000000"/>
              </a:solidFill>
              <a:cs typeface="Arial" panose="020B0604020202020204" pitchFamily="34" charset="0"/>
            </a:endParaRP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Projeter automatiquement le modèle vers des implémentations de type C++/IDL/Python </a:t>
            </a:r>
          </a:p>
          <a:p>
            <a:pPr lvl="1" eaLnBrk="1">
              <a:spcBef>
                <a:spcPts val="300"/>
              </a:spcBef>
              <a:spcAft>
                <a:spcPct val="250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Evite une implémentation fastidieuse et source d’erreurs qui doit évoluer à chaque version du modèle</a:t>
            </a:r>
            <a:endParaRPr lang="fr-FR" altLang="fr-FR" sz="2000" dirty="0">
              <a:solidFill>
                <a:srgbClr val="000000"/>
              </a:solidFill>
              <a:cs typeface="Arial" panose="020B0604020202020204" pitchFamily="34" charset="0"/>
            </a:endParaRPr>
          </a:p>
          <a:p>
            <a:pPr eaLnBrk="1">
              <a:spcBef>
                <a:spcPts val="300"/>
              </a:spcBef>
              <a:spcAft>
                <a:spcPct val="25000"/>
              </a:spcAft>
              <a:buClr>
                <a:srgbClr val="001A70"/>
              </a:buClr>
              <a:buFont typeface="Wingdings" panose="05000000000000000000" pitchFamily="2" charset="2"/>
              <a:buChar char=""/>
            </a:pPr>
            <a:r>
              <a:rPr lang="fr-FR" altLang="fr-FR" sz="2000" dirty="0">
                <a:solidFill>
                  <a:srgbClr val="002060"/>
                </a:solidFill>
                <a:cs typeface="Arial" panose="020B0604020202020204" pitchFamily="34" charset="0"/>
              </a:rPr>
              <a:t> Transformer facilement les données d'un modèle à un autre </a:t>
            </a:r>
          </a:p>
          <a:p>
            <a:pPr lvl="1" eaLnBrk="1">
              <a:spcBef>
                <a:spcPts val="300"/>
              </a:spcBef>
              <a:spcAft>
                <a:spcPct val="25000"/>
              </a:spcAft>
              <a:buClr>
                <a:srgbClr val="001A70"/>
              </a:buClr>
              <a:buFont typeface="Wingdings" panose="05000000000000000000" pitchFamily="2" charset="2"/>
              <a:buChar char="Ø"/>
            </a:pPr>
            <a:r>
              <a:rPr lang="fr-FR" altLang="fr-FR" dirty="0">
                <a:solidFill>
                  <a:srgbClr val="000000"/>
                </a:solidFill>
                <a:cs typeface="Arial" panose="020B0604020202020204" pitchFamily="34" charset="0"/>
              </a:rPr>
              <a:t>Particulièrement utile pour l’échange de données entre codes (de calcul) et facilite la gestion de la compatibilité ascendante</a:t>
            </a:r>
          </a:p>
        </p:txBody>
      </p:sp>
      <p:sp>
        <p:nvSpPr>
          <p:cNvPr id="22532"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45E48E-B5D7-4300-A619-AE22172F4619}" type="slidenum">
              <a:rPr lang="fr-FR" altLang="fr-FR" sz="900">
                <a:latin typeface="Times New Roman" panose="02020603050405020304" pitchFamily="18" charset="0"/>
                <a:cs typeface="Arial" panose="020B0604020202020204" pitchFamily="34" charset="0"/>
              </a:rPr>
              <a:pPr algn="r" eaLnBrk="1" hangingPunct="1">
                <a:buClrTx/>
                <a:buFontTx/>
                <a:buNone/>
              </a:pPr>
              <a:t>24</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1063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CRITERES DE CHOIX DU FORMALISME 1/2</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p:cNvSpPr txBox="1">
            <a:spLocks noChangeArrowheads="1"/>
          </p:cNvSpPr>
          <p:nvPr/>
        </p:nvSpPr>
        <p:spPr bwMode="auto">
          <a:xfrm>
            <a:off x="251520" y="1035619"/>
            <a:ext cx="7718425" cy="5240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ct val="25000"/>
              </a:spcAft>
              <a:buClr>
                <a:srgbClr val="001A70"/>
              </a:buClr>
              <a:buFont typeface="Wingdings" panose="05000000000000000000" pitchFamily="2" charset="2"/>
              <a:buChar char=""/>
            </a:pPr>
            <a:r>
              <a:rPr lang="fr-FR" altLang="fr-FR" sz="2000">
                <a:solidFill>
                  <a:srgbClr val="000000"/>
                </a:solidFill>
                <a:cs typeface="Arial" panose="020B0604020202020204" pitchFamily="34" charset="0"/>
              </a:rPr>
              <a:t> </a:t>
            </a:r>
            <a:r>
              <a:rPr lang="fr-FR" altLang="fr-FR" sz="2000">
                <a:solidFill>
                  <a:srgbClr val="002060"/>
                </a:solidFill>
                <a:cs typeface="Arial" panose="020B0604020202020204" pitchFamily="34" charset="0"/>
              </a:rPr>
              <a:t>Standard et pérenne</a:t>
            </a:r>
          </a:p>
          <a:p>
            <a:pPr lvl="1" eaLnBrk="1">
              <a:spcBef>
                <a:spcPts val="300"/>
              </a:spcBef>
              <a:spcAft>
                <a:spcPct val="25000"/>
              </a:spcAft>
              <a:buClr>
                <a:srgbClr val="001A70"/>
              </a:buClr>
              <a:buFont typeface="Wingdings" panose="05000000000000000000" pitchFamily="2" charset="2"/>
              <a:buChar char="Ø"/>
            </a:pPr>
            <a:r>
              <a:rPr lang="fr-FR" altLang="fr-FR">
                <a:solidFill>
                  <a:srgbClr val="000000"/>
                </a:solidFill>
                <a:cs typeface="Arial" panose="020B0604020202020204" pitchFamily="34" charset="0"/>
              </a:rPr>
              <a:t>Evite une longue période de formation à la technologie</a:t>
            </a:r>
          </a:p>
          <a:p>
            <a:pPr marL="457200" lvl="1" indent="0" eaLnBrk="1">
              <a:spcBef>
                <a:spcPts val="300"/>
              </a:spcBef>
              <a:spcAft>
                <a:spcPct val="25000"/>
              </a:spcAft>
              <a:buClr>
                <a:srgbClr val="001A70"/>
              </a:buClr>
            </a:pPr>
            <a:endParaRPr lang="fr-FR" altLang="fr-FR" sz="2000">
              <a:solidFill>
                <a:srgbClr val="002060"/>
              </a:solidFill>
              <a:cs typeface="Arial" panose="020B0604020202020204" pitchFamily="34" charset="0"/>
            </a:endParaRPr>
          </a:p>
          <a:p>
            <a:pPr eaLnBrk="1">
              <a:spcBef>
                <a:spcPts val="300"/>
              </a:spcBef>
              <a:buClr>
                <a:srgbClr val="001A70"/>
              </a:buClr>
              <a:buFont typeface="Wingdings" panose="05000000000000000000" pitchFamily="2" charset="2"/>
              <a:buChar char="§"/>
            </a:pPr>
            <a:r>
              <a:rPr lang="fr-FR" altLang="fr-FR" sz="2000">
                <a:solidFill>
                  <a:srgbClr val="000000"/>
                </a:solidFill>
                <a:cs typeface="Arial" panose="020B0604020202020204" pitchFamily="34" charset="0"/>
              </a:rPr>
              <a:t> </a:t>
            </a:r>
            <a:r>
              <a:rPr lang="fr-FR" altLang="fr-FR" sz="2000">
                <a:solidFill>
                  <a:srgbClr val="002060"/>
                </a:solidFill>
                <a:cs typeface="Arial" panose="020B0604020202020204" pitchFamily="34" charset="0"/>
              </a:rPr>
              <a:t>Si possible déjà utilisé par une communauté open source </a:t>
            </a:r>
          </a:p>
          <a:p>
            <a:pPr lvl="1" eaLnBrk="1">
              <a:spcBef>
                <a:spcPts val="300"/>
              </a:spcBef>
              <a:buClr>
                <a:srgbClr val="001A70"/>
              </a:buClr>
              <a:buFont typeface="Wingdings" panose="05000000000000000000" pitchFamily="2" charset="2"/>
              <a:buChar char="Ø"/>
            </a:pPr>
            <a:r>
              <a:rPr lang="fr-FR" altLang="fr-FR">
                <a:solidFill>
                  <a:srgbClr val="000000"/>
                </a:solidFill>
                <a:cs typeface="Arial" panose="020B0604020202020204" pitchFamily="34" charset="0"/>
              </a:rPr>
              <a:t>Bénéficier d'outils existants</a:t>
            </a:r>
          </a:p>
          <a:p>
            <a:pPr eaLnBrk="1">
              <a:spcBef>
                <a:spcPts val="300"/>
              </a:spcBef>
              <a:buClr>
                <a:srgbClr val="001A70"/>
              </a:buClr>
            </a:pPr>
            <a:endParaRPr lang="fr-FR" altLang="fr-FR" sz="2000">
              <a:solidFill>
                <a:srgbClr val="002060"/>
              </a:solidFill>
              <a:cs typeface="Arial" panose="020B0604020202020204" pitchFamily="34" charset="0"/>
            </a:endParaRPr>
          </a:p>
          <a:p>
            <a:pPr eaLnBrk="1">
              <a:spcBef>
                <a:spcPts val="300"/>
              </a:spcBef>
              <a:buClr>
                <a:srgbClr val="001A70"/>
              </a:buClr>
              <a:buFont typeface="Wingdings" panose="05000000000000000000" pitchFamily="2" charset="2"/>
              <a:buChar char=""/>
            </a:pPr>
            <a:r>
              <a:rPr lang="fr-FR" altLang="fr-FR" sz="2000">
                <a:solidFill>
                  <a:srgbClr val="000000"/>
                </a:solidFill>
                <a:cs typeface="Arial" panose="020B0604020202020204" pitchFamily="34" charset="0"/>
              </a:rPr>
              <a:t> </a:t>
            </a:r>
            <a:r>
              <a:rPr lang="fr-FR" altLang="fr-FR" sz="2000">
                <a:solidFill>
                  <a:srgbClr val="002060"/>
                </a:solidFill>
                <a:cs typeface="Arial" panose="020B0604020202020204" pitchFamily="34" charset="0"/>
              </a:rPr>
              <a:t>Faciliter la réutilisation des modèles d'objets métier entre les composants et les différents codes</a:t>
            </a:r>
            <a:r>
              <a:rPr lang="fr-FR" altLang="fr-FR" sz="2000">
                <a:solidFill>
                  <a:srgbClr val="000000"/>
                </a:solidFill>
                <a:cs typeface="Arial" panose="020B0604020202020204" pitchFamily="34" charset="0"/>
              </a:rPr>
              <a:t>. </a:t>
            </a:r>
          </a:p>
          <a:p>
            <a:pPr lvl="1" eaLnBrk="1">
              <a:spcBef>
                <a:spcPts val="300"/>
              </a:spcBef>
              <a:buClr>
                <a:srgbClr val="001A70"/>
              </a:buClr>
              <a:buFont typeface="Wingdings" panose="05000000000000000000" pitchFamily="2" charset="2"/>
              <a:buChar char="Ø"/>
            </a:pPr>
            <a:r>
              <a:rPr lang="fr-FR" altLang="fr-FR">
                <a:solidFill>
                  <a:srgbClr val="000000"/>
                </a:solidFill>
                <a:cs typeface="Arial" panose="020B0604020202020204" pitchFamily="34" charset="0"/>
              </a:rPr>
              <a:t>Evite de redévelopper des modèles sur les objets technologiques communs par des techniques d’importation, d’héritage et de masquage</a:t>
            </a:r>
          </a:p>
          <a:p>
            <a:pPr eaLnBrk="1">
              <a:spcBef>
                <a:spcPts val="300"/>
              </a:spcBef>
              <a:buClr>
                <a:srgbClr val="001A70"/>
              </a:buClr>
              <a:buFont typeface="Wingdings" panose="05000000000000000000" pitchFamily="2" charset="2"/>
              <a:buChar char=""/>
            </a:pPr>
            <a:endParaRPr lang="fr-FR" altLang="fr-FR" sz="60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pPr>
            <a:r>
              <a:rPr lang="fr-FR" altLang="fr-FR" sz="2000">
                <a:solidFill>
                  <a:srgbClr val="000000"/>
                </a:solidFill>
                <a:cs typeface="Arial" panose="020B0604020202020204" pitchFamily="34" charset="0"/>
              </a:rPr>
              <a:t> </a:t>
            </a:r>
            <a:r>
              <a:rPr lang="fr-FR" altLang="fr-FR" sz="2000">
                <a:solidFill>
                  <a:srgbClr val="002060"/>
                </a:solidFill>
                <a:cs typeface="Arial" panose="020B0604020202020204" pitchFamily="34" charset="0"/>
              </a:rPr>
              <a:t>Permettre un cycle entre modélisation et conception</a:t>
            </a:r>
          </a:p>
          <a:p>
            <a:pPr lvl="1" eaLnBrk="1">
              <a:spcBef>
                <a:spcPts val="300"/>
              </a:spcBef>
              <a:buClr>
                <a:srgbClr val="001A70"/>
              </a:buClr>
              <a:buFont typeface="Wingdings" panose="05000000000000000000" pitchFamily="2" charset="2"/>
              <a:buChar char="Ø"/>
            </a:pPr>
            <a:r>
              <a:rPr lang="fr-FR" altLang="fr-FR">
                <a:solidFill>
                  <a:srgbClr val="000000"/>
                </a:solidFill>
                <a:cs typeface="Arial" panose="020B0604020202020204" pitchFamily="34" charset="0"/>
              </a:rPr>
              <a:t>Quel que soit le point de départ, nouveau modèle, code déjà existant, rétro-ingénierie il doit être possible d’utiliser facilement le formalisme</a:t>
            </a:r>
          </a:p>
          <a:p>
            <a:pPr eaLnBrk="1">
              <a:spcBef>
                <a:spcPts val="300"/>
              </a:spcBef>
              <a:buClr>
                <a:srgbClr val="001A70"/>
              </a:buClr>
            </a:pPr>
            <a:r>
              <a:rPr lang="fr-FR" altLang="fr-FR" sz="2000">
                <a:solidFill>
                  <a:srgbClr val="000000"/>
                </a:solidFill>
                <a:cs typeface="Arial" panose="020B0604020202020204" pitchFamily="34" charset="0"/>
              </a:rPr>
              <a:t> </a:t>
            </a:r>
          </a:p>
        </p:txBody>
      </p:sp>
      <p:sp>
        <p:nvSpPr>
          <p:cNvPr id="24580"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D5FA240-C1C2-457A-AA90-196A2CD6A470}" type="slidenum">
              <a:rPr lang="fr-FR" altLang="fr-FR" sz="900">
                <a:latin typeface="Times New Roman" panose="02020603050405020304" pitchFamily="18" charset="0"/>
                <a:cs typeface="Arial" panose="020B0604020202020204" pitchFamily="34" charset="0"/>
              </a:rPr>
              <a:pPr algn="r" eaLnBrk="1" hangingPunct="1">
                <a:buClrTx/>
                <a:buFontTx/>
                <a:buNone/>
              </a:pPr>
              <a:t>25</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CRITERES DE CHOIX DU FORMALISME 1/2</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323528" y="772023"/>
            <a:ext cx="8820472" cy="560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indent="-285750" eaLnBrk="1">
              <a:spcBef>
                <a:spcPts val="300"/>
              </a:spcBef>
              <a:buClr>
                <a:srgbClr val="001A70"/>
              </a:buClr>
            </a:pPr>
            <a:endParaRPr lang="fr-FR" altLang="fr-FR" dirty="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fr-FR" altLang="fr-FR" dirty="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S’appuyer sur XSDL (XML </a:t>
            </a:r>
            <a:r>
              <a:rPr lang="fr-FR" altLang="fr-FR" sz="2000" dirty="0" err="1">
                <a:solidFill>
                  <a:srgbClr val="002060"/>
                </a:solidFill>
                <a:cs typeface="Arial" panose="020B0604020202020204" pitchFamily="34" charset="0"/>
              </a:rPr>
              <a:t>Schema</a:t>
            </a:r>
            <a:r>
              <a:rPr lang="fr-FR" altLang="fr-FR" sz="2000" dirty="0">
                <a:solidFill>
                  <a:srgbClr val="002060"/>
                </a:solidFill>
                <a:cs typeface="Arial" panose="020B0604020202020204" pitchFamily="34" charset="0"/>
              </a:rPr>
              <a:t> </a:t>
            </a:r>
            <a:r>
              <a:rPr lang="fr-FR" altLang="fr-FR" sz="2000" dirty="0" err="1">
                <a:solidFill>
                  <a:srgbClr val="002060"/>
                </a:solidFill>
                <a:cs typeface="Arial" panose="020B0604020202020204" pitchFamily="34" charset="0"/>
              </a:rPr>
              <a:t>Definition</a:t>
            </a:r>
            <a:r>
              <a:rPr lang="fr-FR" altLang="fr-FR" sz="2000" dirty="0">
                <a:solidFill>
                  <a:srgbClr val="002060"/>
                </a:solidFill>
                <a:cs typeface="Arial" panose="020B0604020202020204" pitchFamily="34" charset="0"/>
              </a:rPr>
              <a:t> </a:t>
            </a:r>
            <a:r>
              <a:rPr lang="fr-FR" altLang="fr-FR" sz="2000" dirty="0" err="1">
                <a:solidFill>
                  <a:srgbClr val="002060"/>
                </a:solidFill>
                <a:cs typeface="Arial" panose="020B0604020202020204" pitchFamily="34" charset="0"/>
              </a:rPr>
              <a:t>Language</a:t>
            </a:r>
            <a:r>
              <a:rPr lang="fr-FR" altLang="fr-FR" sz="2000" dirty="0">
                <a:solidFill>
                  <a:srgbClr val="002060"/>
                </a:solidFill>
                <a:cs typeface="Arial" panose="020B0604020202020204" pitchFamily="34" charset="0"/>
              </a:rPr>
              <a:t>  XSDL (XML </a:t>
            </a:r>
            <a:r>
              <a:rPr lang="fr-FR" altLang="fr-FR" sz="2000" dirty="0" err="1">
                <a:solidFill>
                  <a:srgbClr val="002060"/>
                </a:solidFill>
                <a:cs typeface="Arial" panose="020B0604020202020204" pitchFamily="34" charset="0"/>
              </a:rPr>
              <a:t>Schema</a:t>
            </a:r>
            <a:r>
              <a:rPr lang="fr-FR" altLang="fr-FR" sz="2000" dirty="0">
                <a:solidFill>
                  <a:srgbClr val="002060"/>
                </a:solidFill>
                <a:cs typeface="Arial" panose="020B0604020202020204" pitchFamily="34" charset="0"/>
              </a:rPr>
              <a:t> </a:t>
            </a:r>
            <a:r>
              <a:rPr lang="fr-FR" altLang="fr-FR" sz="2000" dirty="0" err="1">
                <a:solidFill>
                  <a:srgbClr val="002060"/>
                </a:solidFill>
                <a:cs typeface="Arial" panose="020B0604020202020204" pitchFamily="34" charset="0"/>
              </a:rPr>
              <a:t>Definition</a:t>
            </a:r>
            <a:r>
              <a:rPr lang="fr-FR" altLang="fr-FR" sz="2000" dirty="0">
                <a:solidFill>
                  <a:srgbClr val="002060"/>
                </a:solidFill>
                <a:cs typeface="Arial" panose="020B0604020202020204" pitchFamily="34" charset="0"/>
              </a:rPr>
              <a:t> </a:t>
            </a:r>
            <a:r>
              <a:rPr lang="fr-FR" altLang="fr-FR" sz="2000" dirty="0" err="1">
                <a:solidFill>
                  <a:srgbClr val="002060"/>
                </a:solidFill>
                <a:cs typeface="Arial" panose="020B0604020202020204" pitchFamily="34" charset="0"/>
              </a:rPr>
              <a:t>Language</a:t>
            </a:r>
            <a:r>
              <a:rPr lang="fr-FR" altLang="fr-FR" sz="2000" dirty="0">
                <a:solidFill>
                  <a:srgbClr val="002060"/>
                </a:solidFill>
                <a:cs typeface="Arial" panose="020B0604020202020204" pitchFamily="34" charset="0"/>
              </a:rPr>
              <a:t> (.</a:t>
            </a:r>
            <a:r>
              <a:rPr lang="fr-FR" altLang="fr-FR" sz="2000" dirty="0" err="1">
                <a:solidFill>
                  <a:srgbClr val="002060"/>
                </a:solidFill>
                <a:cs typeface="Arial" panose="020B0604020202020204" pitchFamily="34" charset="0"/>
              </a:rPr>
              <a:t>xsd</a:t>
            </a:r>
            <a:r>
              <a:rPr lang="fr-FR" altLang="fr-FR" sz="2000" dirty="0">
                <a:solidFill>
                  <a:srgbClr val="00206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standard et pérenne</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outils existants open source</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interfaçage avec des technologies déjà employées dans SALOME telles que HDF5.</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XSDL ne doit pas être confondu avec le format de stockage des données qui n’est pas forcément XML</a:t>
            </a:r>
          </a:p>
          <a:p>
            <a:pPr marL="857250" lvl="2" indent="0" eaLnBrk="1">
              <a:spcBef>
                <a:spcPts val="300"/>
              </a:spcBef>
              <a:buClr>
                <a:srgbClr val="001A70"/>
              </a:buClr>
              <a:defRPr/>
            </a:pPr>
            <a:endParaRPr lang="fr-FR" altLang="fr-FR" dirty="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fr-FR" altLang="fr-FR" sz="2000" dirty="0">
                <a:solidFill>
                  <a:srgbClr val="002060"/>
                </a:solidFill>
                <a:cs typeface="Arial" panose="020B0604020202020204" pitchFamily="34" charset="0"/>
              </a:rPr>
              <a:t>S’appuyer sur la grammaire MDM (DSL : Domain </a:t>
            </a:r>
            <a:r>
              <a:rPr lang="fr-FR" altLang="fr-FR" sz="2000" dirty="0" err="1">
                <a:solidFill>
                  <a:srgbClr val="002060"/>
                </a:solidFill>
                <a:cs typeface="Arial" panose="020B0604020202020204" pitchFamily="34" charset="0"/>
              </a:rPr>
              <a:t>Specific</a:t>
            </a:r>
            <a:r>
              <a:rPr lang="fr-FR" altLang="fr-FR" sz="2000" dirty="0">
                <a:solidFill>
                  <a:srgbClr val="002060"/>
                </a:solidFill>
                <a:cs typeface="Arial" panose="020B0604020202020204" pitchFamily="34" charset="0"/>
              </a:rPr>
              <a:t> </a:t>
            </a:r>
            <a:r>
              <a:rPr lang="fr-FR" altLang="fr-FR" sz="2000" dirty="0" err="1">
                <a:solidFill>
                  <a:srgbClr val="002060"/>
                </a:solidFill>
                <a:cs typeface="Arial" panose="020B0604020202020204" pitchFamily="34" charset="0"/>
              </a:rPr>
              <a:t>Language</a:t>
            </a:r>
            <a:r>
              <a:rPr lang="fr-FR" altLang="fr-FR" sz="2000" dirty="0">
                <a:solidFill>
                  <a:srgbClr val="002060"/>
                </a:solidFill>
                <a:cs typeface="Arial" panose="020B0604020202020204" pitchFamily="34" charset="0"/>
              </a:rPr>
              <a:t>) </a:t>
            </a:r>
            <a:r>
              <a:rPr lang="fr-FR" altLang="fr-FR" dirty="0">
                <a:solidFill>
                  <a:srgbClr val="00000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cadre pour la modélisation</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Plus facile d’accès </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Permet une homogénéisation de l’utilisation des « pattern » XSD et l’écriture de modèles non ambigus (indispensables pour l’utilisation des outils automatiques)</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Permet une validation dynamique difficile à exprimer en XSD</a:t>
            </a:r>
          </a:p>
          <a:p>
            <a:pPr lvl="1" eaLnBrk="1">
              <a:spcBef>
                <a:spcPts val="300"/>
              </a:spcBef>
              <a:buClr>
                <a:srgbClr val="001A70"/>
              </a:buClr>
              <a:buFont typeface="Wingdings" panose="05000000000000000000" pitchFamily="2" charset="2"/>
              <a:buChar char=""/>
              <a:defRPr/>
            </a:pPr>
            <a:endParaRPr lang="fr-FR" altLang="fr-FR" dirty="0">
              <a:solidFill>
                <a:srgbClr val="000000"/>
              </a:solidFill>
              <a:cs typeface="Arial" panose="020B0604020202020204" pitchFamily="34" charset="0"/>
            </a:endParaRPr>
          </a:p>
        </p:txBody>
      </p:sp>
      <p:sp>
        <p:nvSpPr>
          <p:cNvPr id="8196"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A9BD7D42-A2ED-4565-BD42-F078AED35E70}" type="slidenum">
              <a:rPr lang="fr-FR" altLang="fr-FR" sz="900">
                <a:latin typeface="Times New Roman" panose="02020603050405020304" pitchFamily="18" charset="0"/>
                <a:cs typeface="Arial" panose="020B0604020202020204" pitchFamily="34" charset="0"/>
              </a:rPr>
              <a:pPr algn="r" eaLnBrk="1" hangingPunct="1">
                <a:buClrTx/>
                <a:buFontTx/>
                <a:buNone/>
              </a:pPr>
              <a:t>26</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latin typeface="Arial"/>
                <a:cs typeface="Arial"/>
              </a:rPr>
              <a:t>UN CHOIX DE FORMALISME HYBRIDE</a:t>
            </a:r>
          </a:p>
        </p:txBody>
      </p:sp>
    </p:spTree>
    <p:extLst>
      <p:ext uri="{BB962C8B-B14F-4D97-AF65-F5344CB8AC3E}">
        <p14:creationId xmlns:p14="http://schemas.microsoft.com/office/powerpoint/2010/main" val="264641291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70835" y="973059"/>
            <a:ext cx="8424936"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342900" indent="-342900">
              <a:spcBef>
                <a:spcPts val="300"/>
              </a:spcBef>
              <a:spcAft>
                <a:spcPct val="25000"/>
              </a:spcAft>
              <a:buClr>
                <a:srgbClr val="001A70"/>
              </a:buClr>
              <a:buFont typeface="Wingdings" panose="05000000000000000000" pitchFamily="2" charset="2"/>
              <a:buChar char="§"/>
            </a:pPr>
            <a:r>
              <a:rPr lang="en-US" altLang="fr-FR" sz="2000" dirty="0">
                <a:solidFill>
                  <a:srgbClr val="002060"/>
                </a:solidFill>
                <a:latin typeface="Arial"/>
                <a:cs typeface="Arial"/>
              </a:rPr>
              <a:t>Un </a:t>
            </a:r>
            <a:r>
              <a:rPr lang="en-US" altLang="fr-FR" sz="2000" dirty="0" err="1">
                <a:solidFill>
                  <a:srgbClr val="002060"/>
                </a:solidFill>
                <a:latin typeface="Arial"/>
                <a:cs typeface="Arial"/>
              </a:rPr>
              <a:t>outil</a:t>
            </a:r>
            <a:r>
              <a:rPr lang="en-US" altLang="fr-FR" sz="2000" dirty="0">
                <a:solidFill>
                  <a:srgbClr val="002060"/>
                </a:solidFill>
                <a:latin typeface="Arial"/>
                <a:cs typeface="Arial"/>
              </a:rPr>
              <a:t> à destination des (re) </a:t>
            </a:r>
            <a:r>
              <a:rPr lang="en-US" altLang="fr-FR" sz="2000" dirty="0" err="1">
                <a:solidFill>
                  <a:srgbClr val="002060"/>
                </a:solidFill>
                <a:latin typeface="Arial"/>
                <a:cs typeface="Arial"/>
              </a:rPr>
              <a:t>concepteurs</a:t>
            </a:r>
            <a:r>
              <a:rPr lang="en-US" altLang="fr-FR" sz="2000" dirty="0">
                <a:solidFill>
                  <a:srgbClr val="002060"/>
                </a:solidFill>
                <a:latin typeface="Arial"/>
                <a:cs typeface="Arial"/>
              </a:rPr>
              <a:t> de </a:t>
            </a:r>
            <a:r>
              <a:rPr lang="en-US" altLang="fr-FR" sz="2000" dirty="0" err="1">
                <a:solidFill>
                  <a:srgbClr val="002060"/>
                </a:solidFill>
                <a:latin typeface="Arial"/>
                <a:cs typeface="Arial"/>
              </a:rPr>
              <a:t>modèles</a:t>
            </a:r>
            <a:r>
              <a:rPr lang="en-US" altLang="fr-FR" sz="2000" dirty="0">
                <a:solidFill>
                  <a:srgbClr val="002060"/>
                </a:solidFill>
                <a:latin typeface="Arial"/>
                <a:cs typeface="Arial"/>
              </a:rPr>
              <a:t> qui :</a:t>
            </a:r>
            <a:endParaRPr lang="fr-FR" altLang="fr-FR" sz="2400"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r>
              <a:rPr lang="fr-FR" sz="2000" dirty="0">
                <a:solidFill>
                  <a:srgbClr val="000000"/>
                </a:solidFill>
                <a:latin typeface="Arial"/>
                <a:cs typeface="Arial"/>
              </a:rPr>
              <a:t>F</a:t>
            </a:r>
            <a:r>
              <a:rPr lang="fr-FR" dirty="0">
                <a:solidFill>
                  <a:srgbClr val="000000"/>
                </a:solidFill>
                <a:latin typeface="Arial"/>
                <a:cs typeface="Arial"/>
              </a:rPr>
              <a:t>acilite la rédaction d'un modèle de données en proposant un support graphique immédiat pour illustrer la démarche auprès des utilisateurs </a:t>
            </a: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Modification aisée d'un modèle en cours de conception</a:t>
            </a:r>
          </a:p>
          <a:p>
            <a:pPr marL="457200" lvl="1" indent="0">
              <a:spcBef>
                <a:spcPts val="300"/>
              </a:spcBef>
              <a:buClr>
                <a:srgbClr val="001A70"/>
              </a:buClr>
            </a:pPr>
            <a:endParaRPr lang="fr-FR" dirty="0">
              <a:solidFill>
                <a:srgbClr val="00000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en-US" sz="2000" dirty="0">
                <a:solidFill>
                  <a:srgbClr val="002060"/>
                </a:solidFill>
                <a:latin typeface="Arial"/>
                <a:cs typeface="Arial"/>
              </a:rPr>
              <a:t>Un </a:t>
            </a:r>
            <a:r>
              <a:rPr lang="en-US" sz="2000" dirty="0" err="1">
                <a:solidFill>
                  <a:srgbClr val="002060"/>
                </a:solidFill>
                <a:latin typeface="Arial"/>
                <a:cs typeface="Arial"/>
              </a:rPr>
              <a:t>outil</a:t>
            </a:r>
            <a:r>
              <a:rPr lang="en-US" sz="2000" dirty="0">
                <a:solidFill>
                  <a:srgbClr val="002060"/>
                </a:solidFill>
                <a:latin typeface="Arial"/>
                <a:cs typeface="Arial"/>
              </a:rPr>
              <a:t> à destination des </a:t>
            </a:r>
            <a:r>
              <a:rPr lang="en-US" sz="2000" dirty="0" err="1">
                <a:solidFill>
                  <a:srgbClr val="002060"/>
                </a:solidFill>
                <a:latin typeface="Arial"/>
                <a:cs typeface="Arial"/>
              </a:rPr>
              <a:t>développeurs</a:t>
            </a:r>
            <a:r>
              <a:rPr lang="en-US" sz="2000" dirty="0">
                <a:solidFill>
                  <a:srgbClr val="002060"/>
                </a:solidFill>
                <a:latin typeface="Arial"/>
                <a:cs typeface="Arial"/>
              </a:rPr>
              <a:t> qui :</a:t>
            </a:r>
            <a:endParaRPr lang="en-US" altLang="fr-FR" sz="2000" dirty="0">
              <a:solidFill>
                <a:srgbClr val="002060"/>
              </a:solidFill>
              <a:latin typeface="Arial"/>
              <a:cs typeface="Arial"/>
            </a:endParaRP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Facilite l’écriture de modèles de données en permettant une description simple dans la grammaire MDM et la description XSD correspondante</a:t>
            </a: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Valide les jeux de données par rapport à ces deux modèles</a:t>
            </a:r>
            <a:endParaRPr lang="fr-FR" alt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r>
              <a:rPr lang="fr-FR" altLang="fr-FR" dirty="0" err="1">
                <a:solidFill>
                  <a:srgbClr val="000000"/>
                </a:solidFill>
                <a:latin typeface="Arial"/>
                <a:cs typeface="Arial"/>
              </a:rPr>
              <a:t>Genère</a:t>
            </a:r>
            <a:r>
              <a:rPr lang="fr-FR" altLang="fr-FR" dirty="0">
                <a:solidFill>
                  <a:srgbClr val="000000"/>
                </a:solidFill>
                <a:latin typeface="Arial"/>
                <a:cs typeface="Arial"/>
              </a:rPr>
              <a:t> automatiquement les drivers d’entrées/sorties des paramètres (</a:t>
            </a:r>
            <a:r>
              <a:rPr lang="fr-FR" altLang="fr-FR" sz="1600" dirty="0">
                <a:solidFill>
                  <a:srgbClr val="000000"/>
                </a:solidFill>
                <a:latin typeface="Arial"/>
                <a:cs typeface="Arial"/>
              </a:rPr>
              <a:t>en C++ et en python</a:t>
            </a:r>
            <a:r>
              <a:rPr lang="fr-FR" altLang="fr-FR" dirty="0">
                <a:solidFill>
                  <a:srgbClr val="000000"/>
                </a:solidFill>
                <a:latin typeface="Arial"/>
                <a:cs typeface="Arial"/>
              </a:rPr>
              <a:t>)</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Génère automatiquement une IHM qui permet aux utilisateurs finaux de saisir les jeux de données soit en </a:t>
            </a:r>
            <a:r>
              <a:rPr lang="fr-FR" altLang="fr-FR" dirty="0" err="1">
                <a:solidFill>
                  <a:srgbClr val="000000"/>
                </a:solidFill>
                <a:latin typeface="Arial"/>
                <a:cs typeface="Arial"/>
              </a:rPr>
              <a:t>xml</a:t>
            </a:r>
            <a:r>
              <a:rPr lang="fr-FR" altLang="fr-FR" dirty="0">
                <a:solidFill>
                  <a:srgbClr val="000000"/>
                </a:solidFill>
                <a:latin typeface="Arial"/>
                <a:cs typeface="Arial"/>
              </a:rPr>
              <a:t>, soit en python. Il garantit la validité des jeux de données.</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Aide à standardiser les schémas de calcul dans un environnement Salomé</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Option de validation partielle d'appels de fonctions python du modèle</a:t>
            </a:r>
          </a:p>
          <a:p>
            <a:pPr lvl="1" eaLnBrk="1">
              <a:spcBef>
                <a:spcPts val="300"/>
              </a:spcBef>
              <a:buClr>
                <a:srgbClr val="001A70"/>
              </a:buClr>
              <a:buFont typeface="Wingdings" panose="05000000000000000000" pitchFamily="2" charset="2"/>
              <a:buChar char="Ø"/>
            </a:pPr>
            <a:endParaRPr lang="fr-FR" altLang="fr-FR" dirty="0">
              <a:solidFill>
                <a:srgbClr val="000000"/>
              </a:solidFill>
              <a:cs typeface="Arial" panose="020B0604020202020204" pitchFamily="34" charset="0"/>
            </a:endParaRP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27</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32758"/>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GRANDES FONCTIONNALITES</a:t>
            </a:r>
          </a:p>
        </p:txBody>
      </p:sp>
    </p:spTree>
    <p:extLst>
      <p:ext uri="{BB962C8B-B14F-4D97-AF65-F5344CB8AC3E}">
        <p14:creationId xmlns:p14="http://schemas.microsoft.com/office/powerpoint/2010/main" val="222522160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145889" y="650043"/>
            <a:ext cx="8820472" cy="560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endParaRPr lang="fr-FR" altLang="fr-FR" dirty="0">
              <a:solidFill>
                <a:srgbClr val="000000"/>
              </a:solidFill>
              <a:cs typeface="Arial" panose="020B0604020202020204" pitchFamily="34" charset="0"/>
            </a:endParaRPr>
          </a:p>
          <a:p>
            <a:pPr marL="285750" indent="-285750">
              <a:buFont typeface="Wingdings" panose="05000000000000000000" pitchFamily="2" charset="2"/>
              <a:buChar char="§"/>
            </a:pPr>
            <a:r>
              <a:rPr lang="fr-FR" altLang="fr-FR" dirty="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Interchangeabilité </a:t>
            </a:r>
            <a:r>
              <a:rPr lang="fr-FR" sz="2000" dirty="0">
                <a:solidFill>
                  <a:srgbClr val="00206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Disposer de plusieurs codes (</a:t>
            </a:r>
            <a:r>
              <a:rPr lang="fr-FR" altLang="fr-FR" sz="1600" dirty="0">
                <a:solidFill>
                  <a:srgbClr val="000000"/>
                </a:solidFill>
                <a:latin typeface="Arial"/>
                <a:cs typeface="Arial"/>
              </a:rPr>
              <a:t>versions de code</a:t>
            </a:r>
            <a:r>
              <a:rPr lang="fr-FR" altLang="fr-FR" dirty="0">
                <a:solidFill>
                  <a:srgbClr val="000000"/>
                </a:solidFill>
                <a:latin typeface="Arial"/>
                <a:cs typeface="Arial"/>
              </a:rPr>
              <a:t>) pour une physique donnée</a:t>
            </a:r>
          </a:p>
          <a:p>
            <a:pPr marL="857250" lvl="2" indent="0" eaLnBrk="1">
              <a:spcBef>
                <a:spcPts val="300"/>
              </a:spcBef>
              <a:buClr>
                <a:srgbClr val="001A70"/>
              </a:buClr>
              <a:defRPr/>
            </a:pPr>
            <a:endParaRPr lang="fr-FR" altLang="fr-FR" dirty="0">
              <a:solidFill>
                <a:srgbClr val="000000"/>
              </a:solidFill>
              <a:cs typeface="Arial" panose="020B0604020202020204" pitchFamily="34" charset="0"/>
            </a:endParaRPr>
          </a:p>
          <a:p>
            <a:pPr marL="285750" indent="-285750">
              <a:buFont typeface="Wingdings" panose="05000000000000000000" pitchFamily="2" charset="2"/>
              <a:buChar char="§"/>
            </a:pPr>
            <a:r>
              <a:rPr lang="fr-FR" altLang="fr-FR" dirty="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Interopérabilité</a:t>
            </a:r>
            <a:endParaRPr lang="fr-FR" sz="2000" dirty="0">
              <a:solidFill>
                <a:srgbClr val="002060"/>
              </a:solidFill>
              <a:cs typeface="Arial" panose="020B0604020202020204" pitchFamily="34" charset="0"/>
            </a:endParaRP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 Capacité des codes à échanger des données</a:t>
            </a:r>
            <a:endParaRPr lang="fr-FR" altLang="fr-FR" dirty="0">
              <a:solidFill>
                <a:srgbClr val="000000"/>
              </a:solidFill>
              <a:cs typeface="Arial" panose="020B0604020202020204" pitchFamily="34" charset="0"/>
            </a:endParaRPr>
          </a:p>
          <a:p>
            <a:endParaRPr lang="fr-FR" altLang="fr-FR" dirty="0">
              <a:solidFill>
                <a:srgbClr val="000000"/>
              </a:solidFill>
              <a:cs typeface="Arial" panose="020B0604020202020204" pitchFamily="34" charset="0"/>
            </a:endParaRPr>
          </a:p>
          <a:p>
            <a:pPr marL="285750" indent="-285750">
              <a:buFont typeface="Wingdings" panose="05000000000000000000" pitchFamily="2" charset="2"/>
              <a:buChar char="§"/>
            </a:pPr>
            <a:r>
              <a:rPr lang="fr-FR" altLang="fr-FR" dirty="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Un</a:t>
            </a:r>
            <a:r>
              <a:rPr lang="fr-FR" sz="2000" dirty="0">
                <a:solidFill>
                  <a:srgbClr val="002060"/>
                </a:solidFill>
                <a:cs typeface="Arial" panose="020B0604020202020204" pitchFamily="34" charset="0"/>
              </a:rPr>
              <a:t> Driver gère les données </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Lectures /écritures</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Validations des données </a:t>
            </a:r>
          </a:p>
          <a:p>
            <a:pPr marL="857250" lvl="2" indent="0" eaLnBrk="1">
              <a:spcBef>
                <a:spcPts val="300"/>
              </a:spcBef>
              <a:buClr>
                <a:srgbClr val="001A70"/>
              </a:buClr>
              <a:defRPr/>
            </a:pPr>
            <a:endParaRPr lang="fr-FR" altLang="fr-FR" dirty="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fr-FR" altLang="fr-FR" sz="2000" dirty="0">
                <a:solidFill>
                  <a:srgbClr val="002060"/>
                </a:solidFill>
                <a:cs typeface="Arial" panose="020B0604020202020204" pitchFamily="34" charset="0"/>
              </a:rPr>
              <a:t>   Un </a:t>
            </a:r>
            <a:r>
              <a:rPr lang="fr-FR" altLang="fr-FR" sz="2000" dirty="0" err="1">
                <a:solidFill>
                  <a:srgbClr val="002060"/>
                </a:solidFill>
                <a:cs typeface="Arial" panose="020B0604020202020204" pitchFamily="34" charset="0"/>
              </a:rPr>
              <a:t>Wrapper</a:t>
            </a:r>
            <a:r>
              <a:rPr lang="fr-FR" altLang="fr-FR" sz="2000" dirty="0">
                <a:solidFill>
                  <a:srgbClr val="002060"/>
                </a:solidFill>
                <a:cs typeface="Arial" panose="020B0604020202020204" pitchFamily="34" charset="0"/>
              </a:rPr>
              <a:t> </a:t>
            </a:r>
            <a:r>
              <a:rPr lang="fr-FR" altLang="fr-FR" dirty="0">
                <a:solidFill>
                  <a:srgbClr val="00000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Adapte les données à partir d’un modèle commun (</a:t>
            </a:r>
            <a:r>
              <a:rPr lang="fr-FR" altLang="fr-FR" sz="1600" dirty="0">
                <a:solidFill>
                  <a:srgbClr val="000000"/>
                </a:solidFill>
                <a:latin typeface="Arial"/>
                <a:cs typeface="Arial"/>
              </a:rPr>
              <a:t>ou différent</a:t>
            </a:r>
            <a:r>
              <a:rPr lang="fr-FR" altLang="fr-FR" dirty="0">
                <a:solidFill>
                  <a:srgbClr val="000000"/>
                </a:solidFill>
                <a:latin typeface="Arial"/>
                <a:cs typeface="Arial"/>
              </a:rPr>
              <a:t>) dans un modèle spécifique  au code (</a:t>
            </a:r>
            <a:r>
              <a:rPr lang="fr-FR" altLang="fr-FR" sz="1600" dirty="0">
                <a:solidFill>
                  <a:srgbClr val="000000"/>
                </a:solidFill>
                <a:latin typeface="Arial"/>
                <a:cs typeface="Arial"/>
              </a:rPr>
              <a:t>par exemple de </a:t>
            </a:r>
            <a:r>
              <a:rPr lang="fr-FR" altLang="fr-FR" sz="1600" dirty="0" err="1">
                <a:solidFill>
                  <a:srgbClr val="000000"/>
                </a:solidFill>
                <a:latin typeface="Arial"/>
                <a:cs typeface="Arial"/>
              </a:rPr>
              <a:t>med</a:t>
            </a:r>
            <a:r>
              <a:rPr lang="fr-FR" altLang="fr-FR" sz="1600" dirty="0">
                <a:solidFill>
                  <a:srgbClr val="000000"/>
                </a:solidFill>
                <a:latin typeface="Arial"/>
                <a:cs typeface="Arial"/>
              </a:rPr>
              <a:t>-fichier vers modèle interne)</a:t>
            </a:r>
          </a:p>
          <a:p>
            <a:pPr marL="457200" lvl="1" indent="0" eaLnBrk="1">
              <a:spcBef>
                <a:spcPts val="300"/>
              </a:spcBef>
              <a:buClr>
                <a:srgbClr val="001A70"/>
              </a:buClr>
              <a:defRPr/>
            </a:pPr>
            <a:endParaRPr lang="fr-FR" altLang="fr-FR" sz="1600" dirty="0">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fr-FR" altLang="fr-FR" sz="2000" dirty="0">
                <a:solidFill>
                  <a:srgbClr val="002060"/>
                </a:solidFill>
                <a:cs typeface="Arial" panose="020B0604020202020204" pitchFamily="34" charset="0"/>
              </a:rPr>
              <a:t>  Un Mapper </a:t>
            </a:r>
            <a:r>
              <a:rPr lang="fr-FR" altLang="fr-FR" dirty="0">
                <a:solidFill>
                  <a:srgbClr val="000000"/>
                </a:solidFill>
                <a:cs typeface="Arial" panose="020B0604020202020204" pitchFamily="34" charset="0"/>
              </a:rPr>
              <a:t>:</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a:cs typeface="Arial"/>
              </a:rPr>
              <a:t>transforme les données (</a:t>
            </a:r>
            <a:r>
              <a:rPr lang="fr-FR" altLang="fr-FR" sz="1600" dirty="0" err="1">
                <a:solidFill>
                  <a:srgbClr val="000000"/>
                </a:solidFill>
                <a:latin typeface="Arial"/>
                <a:cs typeface="Arial"/>
              </a:rPr>
              <a:t>ie</a:t>
            </a:r>
            <a:r>
              <a:rPr lang="fr-FR" altLang="fr-FR" sz="1600" dirty="0">
                <a:solidFill>
                  <a:srgbClr val="000000"/>
                </a:solidFill>
                <a:latin typeface="Arial"/>
                <a:cs typeface="Arial"/>
              </a:rPr>
              <a:t> : d’une échelle à  une autre, interpolation de champs</a:t>
            </a:r>
            <a:r>
              <a:rPr lang="fr-FR" altLang="fr-FR" dirty="0">
                <a:solidFill>
                  <a:srgbClr val="000000"/>
                </a:solidFill>
                <a:latin typeface="Arial"/>
                <a:cs typeface="Arial"/>
              </a:rPr>
              <a:t> )</a:t>
            </a:r>
          </a:p>
          <a:p>
            <a:pPr lvl="1" eaLnBrk="1">
              <a:spcBef>
                <a:spcPts val="300"/>
              </a:spcBef>
              <a:buClr>
                <a:srgbClr val="001A70"/>
              </a:buClr>
              <a:buFont typeface="Wingdings" panose="05000000000000000000" pitchFamily="2" charset="2"/>
              <a:buChar char="Ø"/>
              <a:defRPr/>
            </a:pPr>
            <a:endParaRPr lang="fr-FR" altLang="fr-FR" dirty="0">
              <a:solidFill>
                <a:srgbClr val="000000"/>
              </a:solidFill>
              <a:cs typeface="Arial" panose="020B0604020202020204" pitchFamily="34" charset="0"/>
            </a:endParaRPr>
          </a:p>
          <a:p>
            <a:pPr lvl="1" eaLnBrk="1">
              <a:spcBef>
                <a:spcPts val="300"/>
              </a:spcBef>
              <a:buClr>
                <a:srgbClr val="001A70"/>
              </a:buClr>
              <a:buFont typeface="Wingdings" panose="05000000000000000000" pitchFamily="2" charset="2"/>
              <a:buChar char=""/>
              <a:defRPr/>
            </a:pPr>
            <a:endParaRPr lang="fr-FR" altLang="fr-FR" dirty="0">
              <a:solidFill>
                <a:srgbClr val="000000"/>
              </a:solidFill>
              <a:cs typeface="Arial" panose="020B0604020202020204" pitchFamily="34" charset="0"/>
            </a:endParaRPr>
          </a:p>
        </p:txBody>
      </p:sp>
      <p:sp>
        <p:nvSpPr>
          <p:cNvPr id="8196"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A9BD7D42-A2ED-4565-BD42-F078AED35E70}" type="slidenum">
              <a:rPr lang="fr-FR" altLang="fr-FR" sz="900">
                <a:latin typeface="Times New Roman" panose="02020603050405020304" pitchFamily="18" charset="0"/>
                <a:cs typeface="Arial" panose="020B0604020202020204" pitchFamily="34" charset="0"/>
              </a:rPr>
              <a:pPr algn="r" eaLnBrk="1" hangingPunct="1">
                <a:buClrTx/>
                <a:buFontTx/>
                <a:buNone/>
              </a:pPr>
              <a:t>28</a:t>
            </a:fld>
            <a:endParaRPr lang="fr-FR" altLang="fr-FR" sz="900">
              <a:latin typeface="Times New Roman" panose="02020603050405020304" pitchFamily="18" charset="0"/>
              <a:cs typeface="Arial" panose="020B0604020202020204" pitchFamily="34" charset="0"/>
            </a:endParaRPr>
          </a:p>
        </p:txBody>
      </p:sp>
      <p:sp>
        <p:nvSpPr>
          <p:cNvPr id="5"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DEFINITIONS 1/2</a:t>
            </a:r>
          </a:p>
        </p:txBody>
      </p:sp>
    </p:spTree>
    <p:extLst>
      <p:ext uri="{BB962C8B-B14F-4D97-AF65-F5344CB8AC3E}">
        <p14:creationId xmlns:p14="http://schemas.microsoft.com/office/powerpoint/2010/main" val="51247926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251520" y="1057388"/>
            <a:ext cx="5890791" cy="546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buClr>
                <a:srgbClr val="001A70"/>
              </a:buClr>
              <a:buFont typeface="Wingdings" panose="05000000000000000000" pitchFamily="2" charset="2"/>
              <a:buChar char=""/>
              <a:defRPr/>
            </a:pPr>
            <a:r>
              <a:rPr lang="fr-FR" altLang="fr-FR" dirty="0">
                <a:solidFill>
                  <a:srgbClr val="000000"/>
                </a:solidFill>
                <a:cs typeface="Arial" panose="020B0604020202020204" pitchFamily="34" charset="0"/>
              </a:rPr>
              <a:t> </a:t>
            </a:r>
            <a:r>
              <a:rPr lang="fr-FR" altLang="fr-FR" sz="2000" dirty="0">
                <a:solidFill>
                  <a:srgbClr val="002060"/>
                </a:solidFill>
                <a:cs typeface="Arial" panose="020B0604020202020204" pitchFamily="34" charset="0"/>
              </a:rPr>
              <a:t>Les Catalogues :</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Ecrits en grammaire MDM</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Projetés automatiquement en XSD non ambigus</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Décrivent les paramètres de façon structurée avec les règles de validation associées</a:t>
            </a:r>
          </a:p>
          <a:p>
            <a:pPr lvl="1" eaLnBrk="1">
              <a:spcBef>
                <a:spcPts val="300"/>
              </a:spcBef>
              <a:buClr>
                <a:srgbClr val="001A70"/>
              </a:buClr>
              <a:buFont typeface="Wingdings" panose="05000000000000000000" pitchFamily="2" charset="2"/>
              <a:buChar char="Ø"/>
              <a:defRPr/>
            </a:pPr>
            <a:endParaRPr lang="fr-FR" altLang="fr-FR" dirty="0">
              <a:solidFill>
                <a:srgbClr val="000000"/>
              </a:solidFill>
              <a:cs typeface="Arial" panose="020B0604020202020204" pitchFamily="34" charset="0"/>
            </a:endParaRPr>
          </a:p>
          <a:p>
            <a:pPr marL="285750" indent="-285750" eaLnBrk="1">
              <a:spcBef>
                <a:spcPts val="300"/>
              </a:spcBef>
              <a:buClr>
                <a:srgbClr val="001A70"/>
              </a:buClr>
              <a:buFont typeface="Wingdings" panose="05000000000000000000" pitchFamily="2" charset="2"/>
              <a:buChar char="§"/>
              <a:defRPr/>
            </a:pPr>
            <a:r>
              <a:rPr lang="fr-FR" altLang="fr-FR" sz="2000" dirty="0">
                <a:solidFill>
                  <a:srgbClr val="002060"/>
                </a:solidFill>
                <a:cs typeface="Arial" panose="020B0604020202020204" pitchFamily="34" charset="0"/>
              </a:rPr>
              <a:t>Les Jeux de données ou </a:t>
            </a:r>
            <a:r>
              <a:rPr lang="fr-FR" altLang="fr-FR" sz="2000" dirty="0" err="1">
                <a:solidFill>
                  <a:srgbClr val="002060"/>
                </a:solidFill>
                <a:cs typeface="Arial" panose="020B0604020202020204" pitchFamily="34" charset="0"/>
              </a:rPr>
              <a:t>dataset</a:t>
            </a:r>
            <a:r>
              <a:rPr lang="fr-FR" altLang="fr-FR" sz="2000" dirty="0">
                <a:solidFill>
                  <a:srgbClr val="002060"/>
                </a:solidFill>
                <a:cs typeface="Arial" panose="020B0604020202020204" pitchFamily="34" charset="0"/>
              </a:rPr>
              <a:t> </a:t>
            </a:r>
            <a:r>
              <a:rPr lang="fr-FR" altLang="fr-FR" dirty="0">
                <a:solidFill>
                  <a:srgbClr val="000000"/>
                </a:solidFill>
                <a:cs typeface="Arial" panose="020B0604020202020204" pitchFamily="34" charset="0"/>
              </a:rPr>
              <a:t>:</a:t>
            </a:r>
          </a:p>
          <a:p>
            <a:pPr marL="1028700" lvl="1" eaLnBrk="1">
              <a:spcBef>
                <a:spcPts val="300"/>
              </a:spcBef>
              <a:buClr>
                <a:srgbClr val="001A70"/>
              </a:buClr>
              <a:buFont typeface="Wingdings" panose="05000000000000000000" pitchFamily="2" charset="2"/>
              <a:buChar char="Ø"/>
              <a:defRPr/>
            </a:pPr>
            <a:endParaRPr lang="fr-FR" altLang="fr-FR" dirty="0">
              <a:solidFill>
                <a:srgbClr val="000000"/>
              </a:solidFill>
              <a:cs typeface="Arial" panose="020B0604020202020204" pitchFamily="34" charset="0"/>
            </a:endParaRP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Listes structurées de paramètres valides selon les règles décrites dans le catalogue associé</a:t>
            </a:r>
          </a:p>
          <a:p>
            <a:pPr lvl="1" eaLnBrk="1">
              <a:spcBef>
                <a:spcPts val="300"/>
              </a:spcBef>
              <a:buClr>
                <a:srgbClr val="001A70"/>
              </a:buClr>
              <a:buFont typeface="Wingdings" panose="05000000000000000000" pitchFamily="2" charset="2"/>
              <a:buChar char="Ø"/>
              <a:defRPr/>
            </a:pPr>
            <a:r>
              <a:rPr lang="fr-FR" altLang="fr-FR" dirty="0">
                <a:solidFill>
                  <a:srgbClr val="000000"/>
                </a:solidFill>
                <a:cs typeface="Arial" panose="020B0604020202020204" pitchFamily="34" charset="0"/>
              </a:rPr>
              <a:t>Prennent la forme de :</a:t>
            </a:r>
          </a:p>
          <a:p>
            <a:pPr marL="1200150" lvl="2" indent="-285750" eaLnBrk="1">
              <a:spcBef>
                <a:spcPts val="300"/>
              </a:spcBef>
              <a:buClr>
                <a:srgbClr val="001A70"/>
              </a:buClr>
              <a:buFont typeface="Arial" panose="020B0604020202020204" pitchFamily="34" charset="0"/>
              <a:buChar char="•"/>
              <a:defRPr/>
            </a:pPr>
            <a:r>
              <a:rPr lang="fr-FR" altLang="fr-FR" dirty="0">
                <a:solidFill>
                  <a:srgbClr val="000000"/>
                </a:solidFill>
                <a:latin typeface="Arial"/>
                <a:cs typeface="Arial"/>
              </a:rPr>
              <a:t>fichiers XML</a:t>
            </a:r>
          </a:p>
          <a:p>
            <a:pPr marL="1200150" lvl="2" indent="-285750" eaLnBrk="1">
              <a:spcBef>
                <a:spcPts val="300"/>
              </a:spcBef>
              <a:buClr>
                <a:srgbClr val="001A70"/>
              </a:buClr>
              <a:buFont typeface="Arial" panose="020B0604020202020204" pitchFamily="34" charset="0"/>
              <a:buChar char="•"/>
              <a:defRPr/>
            </a:pPr>
            <a:r>
              <a:rPr lang="fr-FR" altLang="fr-FR" dirty="0">
                <a:solidFill>
                  <a:srgbClr val="000000"/>
                </a:solidFill>
                <a:latin typeface="Arial"/>
                <a:cs typeface="Arial"/>
              </a:rPr>
              <a:t>dictionnaires python</a:t>
            </a:r>
          </a:p>
          <a:p>
            <a:pPr marL="1200150" lvl="2" indent="-285750" eaLnBrk="1">
              <a:spcBef>
                <a:spcPts val="300"/>
              </a:spcBef>
              <a:buClr>
                <a:srgbClr val="001A70"/>
              </a:buClr>
              <a:buFont typeface="Arial" panose="020B0604020202020204" pitchFamily="34" charset="0"/>
              <a:buChar char="•"/>
              <a:defRPr/>
            </a:pPr>
            <a:r>
              <a:rPr lang="fr-FR" altLang="fr-FR" dirty="0">
                <a:solidFill>
                  <a:srgbClr val="000000"/>
                </a:solidFill>
                <a:latin typeface="Arial"/>
                <a:cs typeface="Arial"/>
              </a:rPr>
              <a:t>code python exécutable</a:t>
            </a:r>
          </a:p>
          <a:p>
            <a:pPr marL="1200150" lvl="2" indent="-285750" eaLnBrk="1">
              <a:spcBef>
                <a:spcPts val="300"/>
              </a:spcBef>
              <a:buClr>
                <a:srgbClr val="001A70"/>
              </a:buClr>
              <a:buFont typeface="Arial" panose="020B0604020202020204" pitchFamily="34" charset="0"/>
              <a:buChar char="•"/>
              <a:defRPr/>
            </a:pPr>
            <a:r>
              <a:rPr lang="fr-FR" altLang="fr-FR" dirty="0">
                <a:solidFill>
                  <a:srgbClr val="000000"/>
                </a:solidFill>
                <a:latin typeface="Arial"/>
                <a:cs typeface="Arial"/>
              </a:rPr>
              <a:t>format spécifique </a:t>
            </a:r>
            <a:r>
              <a:rPr lang="fr-FR" altLang="fr-FR" sz="1600" dirty="0">
                <a:solidFill>
                  <a:srgbClr val="000000"/>
                </a:solidFill>
                <a:latin typeface="Arial"/>
                <a:cs typeface="Arial"/>
              </a:rPr>
              <a:t>(même binaire)</a:t>
            </a:r>
            <a:endParaRPr lang="fr-FR" altLang="fr-FR" sz="1600" dirty="0">
              <a:solidFill>
                <a:srgbClr val="000000"/>
              </a:solidFill>
              <a:cs typeface="Arial" panose="020B0604020202020204" pitchFamily="34" charset="0"/>
            </a:endParaRPr>
          </a:p>
          <a:p>
            <a:pPr marL="1200150" lvl="2" indent="-285750" eaLnBrk="1">
              <a:spcBef>
                <a:spcPts val="300"/>
              </a:spcBef>
              <a:buClr>
                <a:srgbClr val="001A70"/>
              </a:buClr>
              <a:buFont typeface="Arial" panose="020B0604020202020204" pitchFamily="34" charset="0"/>
              <a:buChar char="•"/>
              <a:defRPr/>
            </a:pPr>
            <a:r>
              <a:rPr lang="fr-FR" altLang="fr-FR" dirty="0">
                <a:solidFill>
                  <a:srgbClr val="000000"/>
                </a:solidFill>
                <a:latin typeface="Arial"/>
                <a:cs typeface="Arial"/>
              </a:rPr>
              <a:t>Tous ces formats simultanément</a:t>
            </a:r>
            <a:endParaRPr lang="fr-FR" altLang="fr-FR" dirty="0">
              <a:solidFill>
                <a:srgbClr val="000000"/>
              </a:solidFill>
              <a:cs typeface="Arial" panose="020B0604020202020204" pitchFamily="34" charset="0"/>
            </a:endParaRPr>
          </a:p>
          <a:p>
            <a:pPr marL="1200150" lvl="2" indent="-285750" eaLnBrk="1">
              <a:spcBef>
                <a:spcPts val="300"/>
              </a:spcBef>
              <a:buClr>
                <a:srgbClr val="001A70"/>
              </a:buClr>
              <a:buFont typeface="Arial" panose="020B0604020202020204" pitchFamily="34" charset="0"/>
              <a:buChar char="•"/>
              <a:defRPr/>
            </a:pPr>
            <a:endParaRPr lang="fr-FR" altLang="fr-FR" dirty="0">
              <a:solidFill>
                <a:srgbClr val="000000"/>
              </a:solidFill>
              <a:cs typeface="Arial" panose="020B0604020202020204" pitchFamily="34" charset="0"/>
            </a:endParaRPr>
          </a:p>
          <a:p>
            <a:pPr marL="457200" lvl="1" indent="0" eaLnBrk="1">
              <a:spcBef>
                <a:spcPts val="300"/>
              </a:spcBef>
              <a:buClr>
                <a:srgbClr val="001A70"/>
              </a:buClr>
              <a:defRPr/>
            </a:pPr>
            <a:r>
              <a:rPr lang="fr-FR" altLang="fr-FR" dirty="0">
                <a:solidFill>
                  <a:srgbClr val="000000"/>
                </a:solidFill>
                <a:cs typeface="Arial" panose="020B0604020202020204" pitchFamily="34" charset="0"/>
              </a:rPr>
              <a:t> </a:t>
            </a:r>
          </a:p>
        </p:txBody>
      </p:sp>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29</a:t>
            </a:fld>
            <a:endParaRPr lang="fr-FR" altLang="fr-FR" sz="900">
              <a:latin typeface="Times New Roman" panose="02020603050405020304" pitchFamily="18" charset="0"/>
              <a:cs typeface="Arial" panose="020B0604020202020204" pitchFamily="34" charset="0"/>
            </a:endParaRPr>
          </a:p>
        </p:txBody>
      </p:sp>
      <p:sp>
        <p:nvSpPr>
          <p:cNvPr id="8" name="Rectangle 7"/>
          <p:cNvSpPr/>
          <p:nvPr/>
        </p:nvSpPr>
        <p:spPr bwMode="auto">
          <a:xfrm>
            <a:off x="6296025" y="1196752"/>
            <a:ext cx="1656184" cy="1755659"/>
          </a:xfrm>
          <a:prstGeom prst="rect">
            <a:avLst/>
          </a:prstGeom>
          <a:solidFill>
            <a:srgbClr val="FFFFFF"/>
          </a:solidFill>
          <a:ln w="9525" algn="ctr">
            <a:solidFill>
              <a:srgbClr val="009F95"/>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Parameter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a:t>
            </a:r>
            <a:r>
              <a:rPr kumimoji="0" lang="en-US" sz="300" b="0" i="0" u="none" strike="noStrike" kern="0" cap="none" spc="0" normalizeH="0" baseline="0" noProof="0" err="1">
                <a:ln>
                  <a:noFill/>
                </a:ln>
                <a:solidFill>
                  <a:srgbClr val="000000"/>
                </a:solidFill>
                <a:effectLst/>
                <a:uLnTx/>
                <a:uFillTx/>
                <a:latin typeface="Frutiger LT Com 55 Roman" pitchFamily="34" charset="0"/>
                <a:cs typeface="+mn-cs"/>
              </a:rPr>
              <a:t>parameter</a:t>
            </a:r>
            <a:endParaRPr kumimoji="0" lang="en-US" sz="300" b="0" i="0" u="none" strike="noStrike" kern="0" cap="none" spc="0" normalizeH="0" baseline="0" noProof="0">
              <a:ln>
                <a:noFill/>
              </a:ln>
              <a:solidFill>
                <a:srgbClr val="000000"/>
              </a:solidFill>
              <a:effectLst/>
              <a:uLnTx/>
              <a:uFillTx/>
              <a:latin typeface="Frutiger LT Com 55 Roman" pitchFamily="34" charset="0"/>
              <a:cs typeface="+mn-cs"/>
            </a:endParaRPr>
          </a:p>
        </p:txBody>
      </p:sp>
      <p:grpSp>
        <p:nvGrpSpPr>
          <p:cNvPr id="3" name="Groupe 2"/>
          <p:cNvGrpSpPr/>
          <p:nvPr/>
        </p:nvGrpSpPr>
        <p:grpSpPr>
          <a:xfrm>
            <a:off x="6281587" y="3933056"/>
            <a:ext cx="2265784" cy="1749706"/>
            <a:chOff x="6294711" y="3501008"/>
            <a:chExt cx="2265784" cy="1749706"/>
          </a:xfrm>
        </p:grpSpPr>
        <p:sp>
          <p:nvSpPr>
            <p:cNvPr id="11" name="Rectangle 10"/>
            <p:cNvSpPr/>
            <p:nvPr/>
          </p:nvSpPr>
          <p:spPr bwMode="auto">
            <a:xfrm>
              <a:off x="6904311" y="4110608"/>
              <a:ext cx="1656184" cy="1140106"/>
            </a:xfrm>
            <a:prstGeom prst="rect">
              <a:avLst/>
            </a:prstGeom>
            <a:solidFill>
              <a:srgbClr val="FFFFFF"/>
            </a:solidFill>
            <a:ln w="9525" algn="ctr">
              <a:solidFill>
                <a:srgbClr val="00D0CD">
                  <a:lumMod val="20000"/>
                  <a:lumOff val="80000"/>
                </a:srgbClr>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3,1415632r</a:t>
              </a:r>
            </a:p>
          </p:txBody>
        </p:sp>
        <p:sp>
          <p:nvSpPr>
            <p:cNvPr id="12" name="Rectangle 11"/>
            <p:cNvSpPr/>
            <p:nvPr/>
          </p:nvSpPr>
          <p:spPr bwMode="auto">
            <a:xfrm>
              <a:off x="6751911" y="3958208"/>
              <a:ext cx="1656184" cy="1140106"/>
            </a:xfrm>
            <a:prstGeom prst="rect">
              <a:avLst/>
            </a:prstGeom>
            <a:solidFill>
              <a:srgbClr val="FFFFFF"/>
            </a:solidFill>
            <a:ln w="9525" algn="ctr">
              <a:solidFill>
                <a:srgbClr val="00D0CD">
                  <a:lumMod val="40000"/>
                  <a:lumOff val="60000"/>
                </a:srgbClr>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3,1415632r</a:t>
              </a:r>
            </a:p>
          </p:txBody>
        </p:sp>
        <p:sp>
          <p:nvSpPr>
            <p:cNvPr id="13" name="Rectangle 12"/>
            <p:cNvSpPr/>
            <p:nvPr/>
          </p:nvSpPr>
          <p:spPr bwMode="auto">
            <a:xfrm>
              <a:off x="6599511" y="3805808"/>
              <a:ext cx="1656184" cy="1140106"/>
            </a:xfrm>
            <a:prstGeom prst="rect">
              <a:avLst/>
            </a:prstGeom>
            <a:solidFill>
              <a:srgbClr val="FFFFFF"/>
            </a:solidFill>
            <a:ln w="9525" algn="ctr">
              <a:solidFill>
                <a:srgbClr val="00D0CD">
                  <a:lumMod val="60000"/>
                  <a:lumOff val="40000"/>
                </a:srgbClr>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3,1415632r</a:t>
              </a:r>
            </a:p>
          </p:txBody>
        </p:sp>
        <p:sp>
          <p:nvSpPr>
            <p:cNvPr id="14" name="Rectangle 13"/>
            <p:cNvSpPr/>
            <p:nvPr/>
          </p:nvSpPr>
          <p:spPr bwMode="auto">
            <a:xfrm>
              <a:off x="6447111" y="3653408"/>
              <a:ext cx="1656184" cy="1140106"/>
            </a:xfrm>
            <a:prstGeom prst="rect">
              <a:avLst/>
            </a:prstGeom>
            <a:solidFill>
              <a:srgbClr val="FFFFFF"/>
            </a:solidFill>
            <a:ln w="9525" algn="ctr">
              <a:solidFill>
                <a:srgbClr val="00D0CD">
                  <a:lumMod val="75000"/>
                </a:srgbClr>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3,1415632r</a:t>
              </a:r>
            </a:p>
          </p:txBody>
        </p:sp>
        <p:sp>
          <p:nvSpPr>
            <p:cNvPr id="15" name="Rectangle 14"/>
            <p:cNvSpPr/>
            <p:nvPr/>
          </p:nvSpPr>
          <p:spPr bwMode="auto">
            <a:xfrm>
              <a:off x="6294711" y="3501008"/>
              <a:ext cx="1656184" cy="1140106"/>
            </a:xfrm>
            <a:prstGeom prst="rect">
              <a:avLst/>
            </a:prstGeom>
            <a:solidFill>
              <a:srgbClr val="FFFFFF"/>
            </a:solidFill>
            <a:ln w="9525" algn="ctr">
              <a:solidFill>
                <a:srgbClr val="00D0CD">
                  <a:lumMod val="50000"/>
                </a:srgbClr>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a:t>
              </a:r>
            </a:p>
            <a:p>
              <a:pPr marL="215900" marR="0" lvl="0" indent="-215900" defTabSz="914400" eaLnBrk="1" fontAlgn="auto" latinLnBrk="0" hangingPunct="1">
                <a:lnSpc>
                  <a:spcPct val="100000"/>
                </a:lnSpc>
                <a:spcBef>
                  <a:spcPts val="0"/>
                </a:spcBef>
                <a:spcAft>
                  <a:spcPts val="563"/>
                </a:spcAft>
                <a:buClr>
                  <a:srgbClr val="12235A"/>
                </a:buClr>
                <a:buSzTx/>
                <a:buFont typeface="Wingdings" pitchFamily="2" charset="2"/>
                <a:buNone/>
                <a:tabLst/>
                <a:defRPr/>
              </a:pPr>
              <a:r>
                <a:rPr kumimoji="0" lang="en-US" sz="300" b="0" i="0" u="none" strike="noStrike" kern="0" cap="none" spc="0" normalizeH="0" baseline="0" noProof="0">
                  <a:ln>
                    <a:noFill/>
                  </a:ln>
                  <a:solidFill>
                    <a:srgbClr val="000000"/>
                  </a:solidFill>
                  <a:effectLst/>
                  <a:uLnTx/>
                  <a:uFillTx/>
                  <a:latin typeface="Frutiger LT Com 55 Roman" pitchFamily="34" charset="0"/>
                  <a:cs typeface="+mn-cs"/>
                </a:rPr>
                <a:t>	                   3,1415632r</a:t>
              </a:r>
            </a:p>
          </p:txBody>
        </p:sp>
      </p:grpSp>
      <p:sp>
        <p:nvSpPr>
          <p:cNvPr id="16"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DEFINITIONS 2/2</a:t>
            </a:r>
          </a:p>
        </p:txBody>
      </p:sp>
    </p:spTree>
    <p:extLst>
      <p:ext uri="{BB962C8B-B14F-4D97-AF65-F5344CB8AC3E}">
        <p14:creationId xmlns:p14="http://schemas.microsoft.com/office/powerpoint/2010/main" val="55476131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30</a:t>
            </a:fld>
            <a:endParaRPr lang="fr-FR" altLang="fr-FR" sz="900">
              <a:latin typeface="Times New Roman" panose="02020603050405020304" pitchFamily="18" charset="0"/>
              <a:cs typeface="Arial" panose="020B0604020202020204" pitchFamily="34" charset="0"/>
            </a:endParaRPr>
          </a:p>
        </p:txBody>
      </p:sp>
      <p:sp>
        <p:nvSpPr>
          <p:cNvPr id="5" name="Rectangle 4"/>
          <p:cNvSpPr/>
          <p:nvPr/>
        </p:nvSpPr>
        <p:spPr>
          <a:xfrm>
            <a:off x="4450813" y="3244334"/>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sp>
        <p:nvSpPr>
          <p:cNvPr id="27"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UTILISATION POUR L’AIDE A LA MODELISATION</a:t>
            </a:r>
          </a:p>
        </p:txBody>
      </p:sp>
      <p:sp>
        <p:nvSpPr>
          <p:cNvPr id="6" name="Text Box 3"/>
          <p:cNvSpPr txBox="1">
            <a:spLocks noChangeArrowheads="1"/>
          </p:cNvSpPr>
          <p:nvPr/>
        </p:nvSpPr>
        <p:spPr bwMode="auto">
          <a:xfrm>
            <a:off x="73572" y="909032"/>
            <a:ext cx="9120316" cy="546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eaLnBrk="1">
              <a:spcBef>
                <a:spcPts val="300"/>
              </a:spcBef>
              <a:spcAft>
                <a:spcPts val="300"/>
              </a:spcAft>
              <a:buClr>
                <a:srgbClr val="001A70"/>
              </a:buClr>
              <a:buFont typeface="Wingdings" panose="05000000000000000000" pitchFamily="2" charset="2"/>
              <a:buChar char=""/>
              <a:defRPr/>
            </a:pPr>
            <a:r>
              <a:rPr lang="fr-FR" altLang="fr-FR" sz="2000" dirty="0">
                <a:solidFill>
                  <a:srgbClr val="002060"/>
                </a:solidFill>
                <a:cs typeface="Arial"/>
              </a:rPr>
              <a:t> L'étape de modélisation est toujours indispensable pour établir une organisation cohérente des données  </a:t>
            </a:r>
            <a:r>
              <a:rPr lang="fr-FR" sz="2000" dirty="0">
                <a:solidFill>
                  <a:srgbClr val="002060"/>
                </a:solidFill>
                <a:cs typeface="Arial"/>
              </a:rPr>
              <a:t>(par exemple en UML)</a:t>
            </a:r>
            <a:endParaRPr lang="fr-FR" altLang="fr-FR" sz="2000" dirty="0">
              <a:solidFill>
                <a:srgbClr val="002060"/>
              </a:solidFill>
            </a:endParaRPr>
          </a:p>
          <a:p>
            <a:pPr eaLnBrk="1">
              <a:spcBef>
                <a:spcPts val="0"/>
              </a:spcBef>
              <a:buClr>
                <a:srgbClr val="001A70"/>
              </a:buClr>
              <a:buFont typeface="Wingdings" panose="05000000000000000000" pitchFamily="2" charset="2"/>
              <a:buChar char=""/>
              <a:defRPr/>
            </a:pPr>
            <a:r>
              <a:rPr lang="fr-FR" altLang="fr-FR" sz="2000" dirty="0">
                <a:solidFill>
                  <a:srgbClr val="002060"/>
                </a:solidFill>
              </a:rPr>
              <a:t> Il faut écrire le catalogue en MDM </a:t>
            </a:r>
          </a:p>
          <a:p>
            <a:pPr lvl="1" eaLnBrk="1">
              <a:spcBef>
                <a:spcPts val="300"/>
              </a:spcBef>
              <a:buClr>
                <a:srgbClr val="001A70"/>
              </a:buClr>
              <a:buFont typeface="Wingdings" panose="05000000000000000000" pitchFamily="2" charset="2"/>
              <a:buChar char="Ø"/>
              <a:defRPr/>
            </a:pPr>
            <a:r>
              <a:rPr lang="fr-FR" altLang="fr-FR" dirty="0">
                <a:solidFill>
                  <a:srgbClr val="000000"/>
                </a:solidFill>
              </a:rPr>
              <a:t>Utiliser les noms métiers pour les paramètres</a:t>
            </a:r>
          </a:p>
          <a:p>
            <a:pPr lvl="1" eaLnBrk="1">
              <a:spcBef>
                <a:spcPts val="300"/>
              </a:spcBef>
              <a:buClr>
                <a:srgbClr val="001A70"/>
              </a:buClr>
              <a:buFont typeface="Wingdings" panose="05000000000000000000" pitchFamily="2" charset="2"/>
              <a:buChar char="Ø"/>
              <a:defRPr/>
            </a:pPr>
            <a:r>
              <a:rPr lang="fr-FR" altLang="fr-FR" dirty="0">
                <a:solidFill>
                  <a:srgbClr val="000000"/>
                </a:solidFill>
              </a:rPr>
              <a:t>Définir les caractéristiques des paramètres </a:t>
            </a:r>
          </a:p>
          <a:p>
            <a:pPr lvl="1" eaLnBrk="1">
              <a:spcBef>
                <a:spcPts val="300"/>
              </a:spcBef>
              <a:buClr>
                <a:srgbClr val="001A70"/>
              </a:buClr>
              <a:buFont typeface="Wingdings" panose="05000000000000000000" pitchFamily="2" charset="2"/>
              <a:buChar char="Ø"/>
              <a:defRPr/>
            </a:pPr>
            <a:r>
              <a:rPr lang="fr-FR" altLang="fr-FR" dirty="0">
                <a:solidFill>
                  <a:srgbClr val="000000"/>
                </a:solidFill>
              </a:rPr>
              <a:t>Utiliser la structure arborescente pour exprimer la sémantique métier en regroupant certains paramètres</a:t>
            </a:r>
          </a:p>
          <a:p>
            <a:pPr lvl="1" eaLnBrk="1">
              <a:spcBef>
                <a:spcPts val="300"/>
              </a:spcBef>
              <a:buClr>
                <a:srgbClr val="001A70"/>
              </a:buClr>
              <a:buFont typeface="Wingdings" panose="05000000000000000000" pitchFamily="2" charset="2"/>
              <a:buChar char="Ø"/>
              <a:defRPr/>
            </a:pPr>
            <a:r>
              <a:rPr lang="fr-FR" altLang="fr-FR" dirty="0">
                <a:solidFill>
                  <a:srgbClr val="000000"/>
                </a:solidFill>
              </a:rPr>
              <a:t>Exprimer les règles de structuration du jeu de données :</a:t>
            </a:r>
          </a:p>
          <a:p>
            <a:pPr marL="1200150" lvl="2" indent="-285750" eaLnBrk="1">
              <a:spcBef>
                <a:spcPts val="300"/>
              </a:spcBef>
              <a:buClr>
                <a:srgbClr val="001A70"/>
              </a:buClr>
              <a:buFont typeface="Arial" panose="020B0604020202020204" pitchFamily="34" charset="0"/>
              <a:buChar char="•"/>
              <a:defRPr/>
            </a:pPr>
            <a:r>
              <a:rPr lang="fr-FR" altLang="fr-FR" dirty="0">
                <a:solidFill>
                  <a:srgbClr val="000000"/>
                </a:solidFill>
              </a:rPr>
              <a:t>Un paramètre est nécessaire selon la valeur prise par un autre paramètre : par exemple, si il y a du vent, il faut donner sa vitesse et sa direction</a:t>
            </a:r>
          </a:p>
          <a:p>
            <a:pPr marL="1200150" lvl="2" indent="-285750" eaLnBrk="1">
              <a:spcBef>
                <a:spcPts val="300"/>
              </a:spcBef>
              <a:buClr>
                <a:srgbClr val="001A70"/>
              </a:buClr>
              <a:buFont typeface="Arial" panose="020B0604020202020204" pitchFamily="34" charset="0"/>
              <a:buChar char="•"/>
              <a:defRPr/>
            </a:pPr>
            <a:r>
              <a:rPr lang="fr-FR" altLang="fr-FR" dirty="0">
                <a:solidFill>
                  <a:srgbClr val="000000"/>
                </a:solidFill>
              </a:rPr>
              <a:t>L’ordre des paramètres (si il est nécessaire)</a:t>
            </a:r>
          </a:p>
          <a:p>
            <a:pPr marL="1200150" lvl="2" indent="-285750" eaLnBrk="1">
              <a:spcBef>
                <a:spcPts val="300"/>
              </a:spcBef>
              <a:spcAft>
                <a:spcPts val="300"/>
              </a:spcAft>
              <a:buClr>
                <a:srgbClr val="001A70"/>
              </a:buClr>
              <a:buFont typeface="Arial" panose="020B0604020202020204" pitchFamily="34" charset="0"/>
              <a:buChar char="•"/>
              <a:defRPr/>
            </a:pPr>
            <a:r>
              <a:rPr lang="fr-FR" altLang="fr-FR" dirty="0">
                <a:solidFill>
                  <a:srgbClr val="000000"/>
                </a:solidFill>
              </a:rPr>
              <a:t>Les conditions d’existence simultanée ou exclusive de certains paramètres: par exemple, si on connait le temps initial de la simulation, il faut aussi indiquer le temps total</a:t>
            </a:r>
            <a:endParaRPr lang="fr-FR" altLang="fr-FR" sz="1000" dirty="0">
              <a:solidFill>
                <a:srgbClr val="000000"/>
              </a:solidFill>
            </a:endParaRPr>
          </a:p>
          <a:p>
            <a:pPr marL="180000" eaLnBrk="1">
              <a:spcBef>
                <a:spcPts val="300"/>
              </a:spcBef>
              <a:buClr>
                <a:srgbClr val="001A70"/>
              </a:buClr>
              <a:buFont typeface="Wingdings" panose="05000000000000000000" pitchFamily="2" charset="2"/>
              <a:buChar char="§"/>
              <a:defRPr/>
            </a:pPr>
            <a:r>
              <a:rPr lang="fr-FR" altLang="fr-FR" sz="2000" dirty="0">
                <a:solidFill>
                  <a:srgbClr val="002060"/>
                </a:solidFill>
              </a:rPr>
              <a:t> Cette écriture est assez simple. C’est la seule opération nécessaire pour obtenir le XSD, les drivers de lecture/écriture en C++ Python et une IHM générique</a:t>
            </a:r>
          </a:p>
        </p:txBody>
      </p:sp>
    </p:spTree>
    <p:extLst>
      <p:ext uri="{BB962C8B-B14F-4D97-AF65-F5344CB8AC3E}">
        <p14:creationId xmlns:p14="http://schemas.microsoft.com/office/powerpoint/2010/main" val="86215226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31</a:t>
            </a:fld>
            <a:endParaRPr lang="fr-FR" altLang="fr-FR" sz="900">
              <a:latin typeface="Times New Roman" panose="02020603050405020304" pitchFamily="18" charset="0"/>
              <a:cs typeface="Arial" panose="020B0604020202020204" pitchFamily="34" charset="0"/>
            </a:endParaRPr>
          </a:p>
        </p:txBody>
      </p:sp>
      <p:sp>
        <p:nvSpPr>
          <p:cNvPr id="5" name="Rectangle 4"/>
          <p:cNvSpPr/>
          <p:nvPr/>
        </p:nvSpPr>
        <p:spPr>
          <a:xfrm>
            <a:off x="4450813" y="3244334"/>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sp>
        <p:nvSpPr>
          <p:cNvPr id="16" name="Rectangle 15"/>
          <p:cNvSpPr/>
          <p:nvPr/>
        </p:nvSpPr>
        <p:spPr>
          <a:xfrm>
            <a:off x="191375" y="4067393"/>
            <a:ext cx="7133684" cy="400110"/>
          </a:xfrm>
          <a:prstGeom prst="rect">
            <a:avLst/>
          </a:prstGeom>
        </p:spPr>
        <p:txBody>
          <a:bodyPr wrap="none">
            <a:spAutoFit/>
          </a:bodyPr>
          <a:lstStyle/>
          <a:p>
            <a:pPr eaLnBrk="1">
              <a:spcBef>
                <a:spcPts val="300"/>
              </a:spcBef>
              <a:buClr>
                <a:srgbClr val="001A70"/>
              </a:buClr>
              <a:buFont typeface="Wingdings" panose="05000000000000000000" pitchFamily="2" charset="2"/>
              <a:buChar char=""/>
              <a:defRPr/>
            </a:pPr>
            <a:r>
              <a:rPr lang="fr-FR" altLang="fr-FR" dirty="0">
                <a:solidFill>
                  <a:srgbClr val="002060"/>
                </a:solidFill>
              </a:rPr>
              <a:t> </a:t>
            </a:r>
            <a:r>
              <a:rPr lang="fr-FR" altLang="fr-FR" sz="2000" dirty="0">
                <a:solidFill>
                  <a:srgbClr val="002060"/>
                </a:solidFill>
                <a:latin typeface="+mn-lt"/>
              </a:rPr>
              <a:t>Extrait  correspondant du modèle dans la grammaire MDM :</a:t>
            </a:r>
          </a:p>
        </p:txBody>
      </p:sp>
      <p:sp>
        <p:nvSpPr>
          <p:cNvPr id="28" name="ZoneTexte 27"/>
          <p:cNvSpPr txBox="1"/>
          <p:nvPr/>
        </p:nvSpPr>
        <p:spPr>
          <a:xfrm>
            <a:off x="372707" y="4508330"/>
            <a:ext cx="8640960" cy="1754326"/>
          </a:xfrm>
          <a:prstGeom prst="rect">
            <a:avLst/>
          </a:prstGeom>
          <a:solidFill>
            <a:srgbClr val="EEFFCC"/>
          </a:solidFill>
        </p:spPr>
        <p:txBody>
          <a:bodyPr wrap="square" rtlCol="0">
            <a:spAutoFit/>
          </a:bodyPr>
          <a:lstStyle/>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CDM = OPER(nom = 'CDM', </a:t>
            </a:r>
            <a:r>
              <a:rPr lang="en-US" sz="1200" b="1" dirty="0" err="1">
                <a:solidFill>
                  <a:srgbClr val="000000"/>
                </a:solidFill>
                <a:latin typeface="Courier New" panose="02070309020205020404" pitchFamily="49" charset="0"/>
                <a:cs typeface="Courier New" panose="02070309020205020404" pitchFamily="49" charset="0"/>
              </a:rPr>
              <a:t>sd_prod</a:t>
            </a:r>
            <a:r>
              <a:rPr lang="en-US" sz="1200" b="1" dirty="0">
                <a:solidFill>
                  <a:srgbClr val="000000"/>
                </a:solidFill>
                <a:latin typeface="Courier New" panose="02070309020205020404" pitchFamily="49" charset="0"/>
                <a:cs typeface="Courier New" panose="02070309020205020404" pitchFamily="49" charset="0"/>
              </a:rPr>
              <a:t> = CDM_SD,</a:t>
            </a:r>
          </a:p>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 	</a:t>
            </a:r>
            <a:r>
              <a:rPr lang="en-US" sz="1200" b="1" dirty="0" err="1">
                <a:solidFill>
                  <a:srgbClr val="FF0000"/>
                </a:solidFill>
                <a:latin typeface="Courier New" panose="02070309020205020404" pitchFamily="49" charset="0"/>
                <a:cs typeface="Courier New" panose="02070309020205020404" pitchFamily="49" charset="0"/>
              </a:rPr>
              <a:t>Simulated_Time_Lapse</a:t>
            </a:r>
            <a:r>
              <a:rPr lang="en-US" sz="1200" b="1" dirty="0">
                <a:solidFill>
                  <a:srgbClr val="000000"/>
                </a:solidFill>
                <a:latin typeface="Courier New" panose="02070309020205020404" pitchFamily="49" charset="0"/>
                <a:cs typeface="Courier New" panose="02070309020205020404" pitchFamily="49" charset="0"/>
              </a:rPr>
              <a:t> = FACT( </a:t>
            </a:r>
            <a:r>
              <a:rPr lang="en-US" sz="1200" b="1" dirty="0" err="1">
                <a:solidFill>
                  <a:srgbClr val="000000"/>
                </a:solidFill>
                <a:latin typeface="Courier New" panose="02070309020205020404" pitchFamily="49" charset="0"/>
                <a:cs typeface="Courier New" panose="02070309020205020404" pitchFamily="49" charset="0"/>
              </a:rPr>
              <a:t>statut</a:t>
            </a:r>
            <a:r>
              <a:rPr lang="en-US" sz="1200" b="1" dirty="0">
                <a:solidFill>
                  <a:srgbClr val="000000"/>
                </a:solidFill>
                <a:latin typeface="Courier New" panose="02070309020205020404" pitchFamily="49" charset="0"/>
                <a:cs typeface="Courier New" panose="02070309020205020404" pitchFamily="49" charset="0"/>
              </a:rPr>
              <a:t>='o',</a:t>
            </a:r>
          </a:p>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     		                   </a:t>
            </a:r>
            <a:r>
              <a:rPr lang="en-US" sz="1200" b="1" dirty="0" err="1">
                <a:solidFill>
                  <a:srgbClr val="000000"/>
                </a:solidFill>
                <a:latin typeface="Courier New" panose="02070309020205020404" pitchFamily="49" charset="0"/>
                <a:cs typeface="Courier New" panose="02070309020205020404" pitchFamily="49" charset="0"/>
              </a:rPr>
              <a:t>Initial_Time</a:t>
            </a:r>
            <a:r>
              <a:rPr lang="en-US" sz="1200" b="1" dirty="0">
                <a:solidFill>
                  <a:srgbClr val="000000"/>
                </a:solidFill>
                <a:latin typeface="Courier New" panose="02070309020205020404" pitchFamily="49" charset="0"/>
                <a:cs typeface="Courier New" panose="02070309020205020404" pitchFamily="49" charset="0"/>
              </a:rPr>
              <a:t> = SIMP( </a:t>
            </a:r>
            <a:r>
              <a:rPr lang="en-US" sz="1200" b="1" dirty="0" err="1">
                <a:solidFill>
                  <a:srgbClr val="000000"/>
                </a:solidFill>
                <a:latin typeface="Courier New" panose="02070309020205020404" pitchFamily="49" charset="0"/>
                <a:cs typeface="Courier New" panose="02070309020205020404" pitchFamily="49" charset="0"/>
              </a:rPr>
              <a:t>statut</a:t>
            </a:r>
            <a:r>
              <a:rPr lang="en-US" sz="1200" b="1" dirty="0">
                <a:solidFill>
                  <a:srgbClr val="000000"/>
                </a:solidFill>
                <a:latin typeface="Courier New" panose="02070309020205020404" pitchFamily="49" charset="0"/>
                <a:cs typeface="Courier New" panose="02070309020205020404" pitchFamily="49" charset="0"/>
              </a:rPr>
              <a:t>='o', </a:t>
            </a:r>
            <a:r>
              <a:rPr lang="en-US" sz="1200" b="1" dirty="0" err="1">
                <a:solidFill>
                  <a:srgbClr val="000000"/>
                </a:solidFill>
                <a:latin typeface="Courier New" panose="02070309020205020404" pitchFamily="49" charset="0"/>
                <a:cs typeface="Courier New" panose="02070309020205020404" pitchFamily="49" charset="0"/>
              </a:rPr>
              <a:t>typ</a:t>
            </a:r>
            <a:r>
              <a:rPr lang="en-US" sz="1200" b="1" dirty="0">
                <a:solidFill>
                  <a:srgbClr val="000000"/>
                </a:solidFill>
                <a:latin typeface="Courier New" panose="02070309020205020404" pitchFamily="49" charset="0"/>
                <a:cs typeface="Courier New" panose="02070309020205020404" pitchFamily="49" charset="0"/>
              </a:rPr>
              <a:t>='R'),</a:t>
            </a:r>
          </a:p>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     		                   Duration     = SIMP( </a:t>
            </a:r>
            <a:r>
              <a:rPr lang="en-US" sz="1200" b="1" dirty="0" err="1">
                <a:solidFill>
                  <a:srgbClr val="000000"/>
                </a:solidFill>
                <a:latin typeface="Courier New" panose="02070309020205020404" pitchFamily="49" charset="0"/>
                <a:cs typeface="Courier New" panose="02070309020205020404" pitchFamily="49" charset="0"/>
              </a:rPr>
              <a:t>statut</a:t>
            </a:r>
            <a:r>
              <a:rPr lang="en-US" sz="1200" b="1" dirty="0">
                <a:solidFill>
                  <a:srgbClr val="000000"/>
                </a:solidFill>
                <a:latin typeface="Courier New" panose="02070309020205020404" pitchFamily="49" charset="0"/>
                <a:cs typeface="Courier New" panose="02070309020205020404" pitchFamily="49" charset="0"/>
              </a:rPr>
              <a:t>='o', </a:t>
            </a:r>
            <a:r>
              <a:rPr lang="en-US" sz="1200" b="1" dirty="0" err="1">
                <a:solidFill>
                  <a:srgbClr val="000000"/>
                </a:solidFill>
                <a:latin typeface="Courier New" panose="02070309020205020404" pitchFamily="49" charset="0"/>
                <a:cs typeface="Courier New" panose="02070309020205020404" pitchFamily="49" charset="0"/>
              </a:rPr>
              <a:t>typ</a:t>
            </a:r>
            <a:r>
              <a:rPr lang="en-US" sz="1200" b="1" dirty="0">
                <a:solidFill>
                  <a:srgbClr val="000000"/>
                </a:solidFill>
                <a:latin typeface="Courier New" panose="02070309020205020404" pitchFamily="49" charset="0"/>
                <a:cs typeface="Courier New" panose="02070309020205020404" pitchFamily="49" charset="0"/>
              </a:rPr>
              <a:t>='R'), ),</a:t>
            </a:r>
          </a:p>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          </a:t>
            </a:r>
            <a:r>
              <a:rPr lang="en-US" sz="1200" b="1" dirty="0" err="1">
                <a:solidFill>
                  <a:srgbClr val="FF0000"/>
                </a:solidFill>
                <a:latin typeface="Courier New" panose="02070309020205020404" pitchFamily="49" charset="0"/>
                <a:cs typeface="Courier New" panose="02070309020205020404" pitchFamily="49" charset="0"/>
              </a:rPr>
              <a:t>Geometric_Domain</a:t>
            </a:r>
            <a:r>
              <a:rPr lang="en-US" sz="1200" b="1" dirty="0">
                <a:solidFill>
                  <a:srgbClr val="000000"/>
                </a:solidFill>
                <a:latin typeface="Courier New" panose="02070309020205020404" pitchFamily="49" charset="0"/>
                <a:cs typeface="Courier New" panose="02070309020205020404" pitchFamily="49" charset="0"/>
              </a:rPr>
              <a:t>= FACT( </a:t>
            </a:r>
            <a:r>
              <a:rPr lang="en-US" sz="1200" b="1" dirty="0" err="1">
                <a:solidFill>
                  <a:srgbClr val="000000"/>
                </a:solidFill>
                <a:latin typeface="Courier New" panose="02070309020205020404" pitchFamily="49" charset="0"/>
                <a:cs typeface="Courier New" panose="02070309020205020404" pitchFamily="49" charset="0"/>
              </a:rPr>
              <a:t>statut</a:t>
            </a:r>
            <a:r>
              <a:rPr lang="en-US" sz="1200" b="1" dirty="0">
                <a:solidFill>
                  <a:srgbClr val="000000"/>
                </a:solidFill>
                <a:latin typeface="Courier New" panose="02070309020205020404" pitchFamily="49" charset="0"/>
                <a:cs typeface="Courier New" panose="02070309020205020404" pitchFamily="49" charset="0"/>
              </a:rPr>
              <a:t>='o',….</a:t>
            </a:r>
          </a:p>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          </a:t>
            </a:r>
            <a:r>
              <a:rPr lang="en-US" sz="1200" b="1" dirty="0" err="1">
                <a:solidFill>
                  <a:srgbClr val="FF0000"/>
                </a:solidFill>
                <a:latin typeface="Courier New" panose="02070309020205020404" pitchFamily="49" charset="0"/>
                <a:cs typeface="Courier New" panose="02070309020205020404" pitchFamily="49" charset="0"/>
              </a:rPr>
              <a:t>System_Component</a:t>
            </a:r>
            <a:r>
              <a:rPr lang="en-US" sz="1200" b="1" dirty="0">
                <a:solidFill>
                  <a:srgbClr val="000000"/>
                </a:solidFill>
                <a:latin typeface="Courier New" panose="02070309020205020404" pitchFamily="49" charset="0"/>
                <a:cs typeface="Courier New" panose="02070309020205020404" pitchFamily="49" charset="0"/>
              </a:rPr>
              <a:t>= FACT(  </a:t>
            </a:r>
            <a:r>
              <a:rPr lang="en-US" sz="1200" b="1" dirty="0" err="1">
                <a:solidFill>
                  <a:srgbClr val="000000"/>
                </a:solidFill>
                <a:latin typeface="Courier New" panose="02070309020205020404" pitchFamily="49" charset="0"/>
                <a:cs typeface="Courier New" panose="02070309020205020404" pitchFamily="49" charset="0"/>
              </a:rPr>
              <a:t>statut</a:t>
            </a:r>
            <a:r>
              <a:rPr lang="en-US" sz="1200" b="1" dirty="0">
                <a:solidFill>
                  <a:srgbClr val="000000"/>
                </a:solidFill>
                <a:latin typeface="Courier New" panose="02070309020205020404" pitchFamily="49" charset="0"/>
                <a:cs typeface="Courier New" panose="02070309020205020404" pitchFamily="49" charset="0"/>
              </a:rPr>
              <a:t>='o', max = "**",</a:t>
            </a:r>
          </a:p>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                            </a:t>
            </a:r>
            <a:r>
              <a:rPr lang="en-US" sz="1200" b="1" dirty="0" err="1">
                <a:solidFill>
                  <a:srgbClr val="000000"/>
                </a:solidFill>
                <a:latin typeface="Courier New" panose="02070309020205020404" pitchFamily="49" charset="0"/>
                <a:cs typeface="Courier New" panose="02070309020205020404" pitchFamily="49" charset="0"/>
              </a:rPr>
              <a:t>General_Level_Of_Description</a:t>
            </a:r>
            <a:r>
              <a:rPr lang="en-US" sz="1200" b="1" dirty="0">
                <a:solidFill>
                  <a:srgbClr val="000000"/>
                </a:solidFill>
                <a:latin typeface="Courier New" panose="02070309020205020404" pitchFamily="49" charset="0"/>
                <a:cs typeface="Courier New" panose="02070309020205020404" pitchFamily="49" charset="0"/>
              </a:rPr>
              <a:t>  = SIMP( </a:t>
            </a:r>
            <a:r>
              <a:rPr lang="en-US" sz="1200" b="1" dirty="0" err="1">
                <a:solidFill>
                  <a:srgbClr val="000000"/>
                </a:solidFill>
                <a:latin typeface="Courier New" panose="02070309020205020404" pitchFamily="49" charset="0"/>
                <a:cs typeface="Courier New" panose="02070309020205020404" pitchFamily="49" charset="0"/>
              </a:rPr>
              <a:t>statut</a:t>
            </a:r>
            <a:r>
              <a:rPr lang="en-US" sz="1200" b="1" dirty="0">
                <a:solidFill>
                  <a:srgbClr val="000000"/>
                </a:solidFill>
                <a:latin typeface="Courier New" panose="02070309020205020404" pitchFamily="49" charset="0"/>
                <a:cs typeface="Courier New" panose="02070309020205020404" pitchFamily="49" charset="0"/>
              </a:rPr>
              <a:t>='o', </a:t>
            </a:r>
            <a:r>
              <a:rPr lang="en-US" sz="1200" b="1" dirty="0" err="1">
                <a:solidFill>
                  <a:srgbClr val="000000"/>
                </a:solidFill>
                <a:latin typeface="Courier New" panose="02070309020205020404" pitchFamily="49" charset="0"/>
                <a:cs typeface="Courier New" panose="02070309020205020404" pitchFamily="49" charset="0"/>
              </a:rPr>
              <a:t>typ</a:t>
            </a:r>
            <a:r>
              <a:rPr lang="en-US" sz="1200" b="1" dirty="0">
                <a:solidFill>
                  <a:srgbClr val="000000"/>
                </a:solidFill>
                <a:latin typeface="Courier New" panose="02070309020205020404" pitchFamily="49" charset="0"/>
                <a:cs typeface="Courier New" panose="02070309020205020404" pitchFamily="49" charset="0"/>
              </a:rPr>
              <a:t>='TXM‘,</a:t>
            </a:r>
          </a:p>
          <a:p>
            <a:pPr defTabSz="914400" eaLnBrk="1" hangingPunct="1">
              <a:spcAft>
                <a:spcPts val="0"/>
              </a:spcAft>
              <a:buFont typeface="Wingdings" pitchFamily="2" charset="2"/>
              <a:buNone/>
            </a:pPr>
            <a:r>
              <a:rPr lang="en-US" sz="1200" b="1" dirty="0">
                <a:solidFill>
                  <a:srgbClr val="000000"/>
                </a:solidFill>
                <a:latin typeface="Courier New" panose="02070309020205020404" pitchFamily="49" charset="0"/>
                <a:cs typeface="Courier New" panose="02070309020205020404" pitchFamily="49" charset="0"/>
              </a:rPr>
              <a:t>                                       into=['</a:t>
            </a:r>
            <a:r>
              <a:rPr lang="en-US" sz="1200" b="1" dirty="0" err="1">
                <a:solidFill>
                  <a:srgbClr val="000000"/>
                </a:solidFill>
                <a:latin typeface="Courier New" panose="02070309020205020404" pitchFamily="49" charset="0"/>
                <a:cs typeface="Courier New" panose="02070309020205020404" pitchFamily="49" charset="0"/>
              </a:rPr>
              <a:t>Microscopic','Mesoscopic</a:t>
            </a:r>
            <a:r>
              <a:rPr lang="en-US" sz="1200" b="1" dirty="0">
                <a:solidFill>
                  <a:srgbClr val="000000"/>
                </a:solidFill>
                <a:latin typeface="Courier New" panose="02070309020205020404" pitchFamily="49" charset="0"/>
                <a:cs typeface="Courier New" panose="02070309020205020404" pitchFamily="49" charset="0"/>
              </a:rPr>
              <a:t>', 'Macroscopic'] ), </a:t>
            </a:r>
          </a:p>
          <a:p>
            <a:pPr defTabSz="914400" eaLnBrk="1" hangingPunct="1">
              <a:spcAft>
                <a:spcPct val="4000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p:txBody>
      </p:sp>
      <p:sp>
        <p:nvSpPr>
          <p:cNvPr id="10" name="Rectangle 9"/>
          <p:cNvSpPr/>
          <p:nvPr/>
        </p:nvSpPr>
        <p:spPr>
          <a:xfrm>
            <a:off x="149511" y="1045010"/>
            <a:ext cx="7533304" cy="400110"/>
          </a:xfrm>
          <a:prstGeom prst="rect">
            <a:avLst/>
          </a:prstGeom>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Extrait du modèle UML </a:t>
            </a:r>
            <a:r>
              <a:rPr lang="fr-FR" altLang="fr-FR" dirty="0">
                <a:solidFill>
                  <a:srgbClr val="002060"/>
                </a:solidFill>
              </a:rPr>
              <a:t>:</a:t>
            </a:r>
          </a:p>
        </p:txBody>
      </p:sp>
      <p:grpSp>
        <p:nvGrpSpPr>
          <p:cNvPr id="11" name="Groupe 10"/>
          <p:cNvGrpSpPr/>
          <p:nvPr/>
        </p:nvGrpSpPr>
        <p:grpSpPr>
          <a:xfrm>
            <a:off x="783022" y="1464990"/>
            <a:ext cx="7820329" cy="2304256"/>
            <a:chOff x="401525" y="1761406"/>
            <a:chExt cx="7820329" cy="2304256"/>
          </a:xfrm>
        </p:grpSpPr>
        <p:sp>
          <p:nvSpPr>
            <p:cNvPr id="12" name="Rectangle 11"/>
            <p:cNvSpPr/>
            <p:nvPr/>
          </p:nvSpPr>
          <p:spPr>
            <a:xfrm>
              <a:off x="4450813" y="3244334"/>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grpSp>
          <p:nvGrpSpPr>
            <p:cNvPr id="13" name="Groupe 12"/>
            <p:cNvGrpSpPr/>
            <p:nvPr/>
          </p:nvGrpSpPr>
          <p:grpSpPr>
            <a:xfrm>
              <a:off x="401525" y="1761406"/>
              <a:ext cx="7820329" cy="2304256"/>
              <a:chOff x="497818" y="2204864"/>
              <a:chExt cx="8280920" cy="1881500"/>
            </a:xfrm>
          </p:grpSpPr>
          <p:sp>
            <p:nvSpPr>
              <p:cNvPr id="14" name="ZoneTexte 13"/>
              <p:cNvSpPr txBox="1"/>
              <p:nvPr/>
            </p:nvSpPr>
            <p:spPr>
              <a:xfrm>
                <a:off x="2658058" y="2204864"/>
                <a:ext cx="3384376"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en-GB" b="1" dirty="0">
                    <a:solidFill>
                      <a:srgbClr val="C00000"/>
                    </a:solidFill>
                    <a:latin typeface="Calibri" panose="020F0502020204030204"/>
                    <a:cs typeface="+mn-cs"/>
                  </a:rPr>
                  <a:t>Definition of the global system</a:t>
                </a:r>
              </a:p>
            </p:txBody>
          </p:sp>
          <p:sp>
            <p:nvSpPr>
              <p:cNvPr id="15" name="ZoneTexte 14"/>
              <p:cNvSpPr txBox="1"/>
              <p:nvPr/>
            </p:nvSpPr>
            <p:spPr>
              <a:xfrm>
                <a:off x="497818" y="2915652"/>
                <a:ext cx="2376264"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fr-FR" b="1">
                    <a:solidFill>
                      <a:srgbClr val="000000"/>
                    </a:solidFill>
                    <a:latin typeface="Calibri" panose="020F0502020204030204"/>
                    <a:cs typeface="+mn-cs"/>
                  </a:rPr>
                  <a:t>Time lapse </a:t>
                </a:r>
                <a:r>
                  <a:rPr lang="fr-FR" b="1" err="1">
                    <a:solidFill>
                      <a:srgbClr val="000000"/>
                    </a:solidFill>
                    <a:latin typeface="Calibri" panose="020F0502020204030204"/>
                    <a:cs typeface="+mn-cs"/>
                  </a:rPr>
                  <a:t>simulated</a:t>
                </a:r>
                <a:endParaRPr lang="fr-FR" b="1">
                  <a:solidFill>
                    <a:srgbClr val="000000"/>
                  </a:solidFill>
                  <a:latin typeface="Calibri" panose="020F0502020204030204"/>
                  <a:cs typeface="+mn-cs"/>
                </a:endParaRPr>
              </a:p>
            </p:txBody>
          </p:sp>
          <p:sp>
            <p:nvSpPr>
              <p:cNvPr id="17" name="ZoneTexte 16"/>
              <p:cNvSpPr txBox="1"/>
              <p:nvPr/>
            </p:nvSpPr>
            <p:spPr>
              <a:xfrm>
                <a:off x="6071580" y="2924944"/>
                <a:ext cx="2707158"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fr-FR" b="1" err="1">
                    <a:solidFill>
                      <a:srgbClr val="000000"/>
                    </a:solidFill>
                    <a:latin typeface="Calibri" panose="020F0502020204030204"/>
                    <a:cs typeface="+mn-cs"/>
                  </a:rPr>
                  <a:t>Geometry</a:t>
                </a:r>
                <a:r>
                  <a:rPr lang="fr-FR" b="1">
                    <a:solidFill>
                      <a:srgbClr val="000000"/>
                    </a:solidFill>
                    <a:latin typeface="Calibri" panose="020F0502020204030204"/>
                    <a:cs typeface="+mn-cs"/>
                  </a:rPr>
                  <a:t> of the </a:t>
                </a:r>
                <a:r>
                  <a:rPr lang="fr-FR" b="1" err="1">
                    <a:solidFill>
                      <a:srgbClr val="000000"/>
                    </a:solidFill>
                    <a:latin typeface="Calibri" panose="020F0502020204030204"/>
                    <a:cs typeface="+mn-cs"/>
                  </a:rPr>
                  <a:t>domain</a:t>
                </a:r>
                <a:endParaRPr lang="fr-FR" b="1">
                  <a:solidFill>
                    <a:srgbClr val="000000"/>
                  </a:solidFill>
                  <a:latin typeface="Calibri" panose="020F0502020204030204"/>
                  <a:cs typeface="+mn-cs"/>
                </a:endParaRPr>
              </a:p>
            </p:txBody>
          </p:sp>
          <p:sp>
            <p:nvSpPr>
              <p:cNvPr id="18" name="ZoneTexte 17"/>
              <p:cNvSpPr txBox="1"/>
              <p:nvPr/>
            </p:nvSpPr>
            <p:spPr>
              <a:xfrm>
                <a:off x="2874082" y="3717032"/>
                <a:ext cx="2880320"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fr-FR" b="1">
                    <a:solidFill>
                      <a:srgbClr val="000000"/>
                    </a:solidFill>
                    <a:latin typeface="Calibri" panose="020F0502020204030204"/>
                    <a:cs typeface="+mn-cs"/>
                  </a:rPr>
                  <a:t>Components of the system</a:t>
                </a:r>
              </a:p>
            </p:txBody>
          </p:sp>
          <p:cxnSp>
            <p:nvCxnSpPr>
              <p:cNvPr id="19" name="Connecteur droit avec flèche 18"/>
              <p:cNvCxnSpPr/>
              <p:nvPr/>
            </p:nvCxnSpPr>
            <p:spPr bwMode="auto">
              <a:xfrm>
                <a:off x="4314242" y="2564904"/>
                <a:ext cx="0" cy="1080120"/>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0" name="Connecteur droit avec flèche 19"/>
              <p:cNvCxnSpPr/>
              <p:nvPr/>
            </p:nvCxnSpPr>
            <p:spPr bwMode="auto">
              <a:xfrm flipH="1">
                <a:off x="2874082" y="3068960"/>
                <a:ext cx="720080"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20"/>
              <p:cNvCxnSpPr/>
              <p:nvPr/>
            </p:nvCxnSpPr>
            <p:spPr bwMode="auto">
              <a:xfrm>
                <a:off x="5034322" y="2564904"/>
                <a:ext cx="0" cy="57606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droit avec flèche 21"/>
              <p:cNvCxnSpPr/>
              <p:nvPr/>
            </p:nvCxnSpPr>
            <p:spPr bwMode="auto">
              <a:xfrm>
                <a:off x="5034322" y="3140968"/>
                <a:ext cx="1008112"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droit 22"/>
              <p:cNvCxnSpPr/>
              <p:nvPr/>
            </p:nvCxnSpPr>
            <p:spPr bwMode="auto">
              <a:xfrm>
                <a:off x="3594162" y="2574196"/>
                <a:ext cx="0" cy="49476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24" name="Text Box 2"/>
          <p:cNvSpPr txBox="1">
            <a:spLocks noChangeArrowheads="1"/>
          </p:cNvSpPr>
          <p:nvPr/>
        </p:nvSpPr>
        <p:spPr bwMode="auto">
          <a:xfrm>
            <a:off x="0" y="603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EXEMPLE D’UTILISATION 1/2</a:t>
            </a:r>
          </a:p>
        </p:txBody>
      </p:sp>
    </p:spTree>
    <p:extLst>
      <p:ext uri="{BB962C8B-B14F-4D97-AF65-F5344CB8AC3E}">
        <p14:creationId xmlns:p14="http://schemas.microsoft.com/office/powerpoint/2010/main" val="295927772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32</a:t>
            </a:fld>
            <a:endParaRPr lang="fr-FR" altLang="fr-FR" sz="900">
              <a:latin typeface="Times New Roman" panose="02020603050405020304" pitchFamily="18" charset="0"/>
              <a:cs typeface="Arial" panose="020B0604020202020204" pitchFamily="34" charset="0"/>
            </a:endParaRPr>
          </a:p>
        </p:txBody>
      </p:sp>
      <p:sp>
        <p:nvSpPr>
          <p:cNvPr id="29" name="Textplatzhalter 1"/>
          <p:cNvSpPr txBox="1">
            <a:spLocks/>
          </p:cNvSpPr>
          <p:nvPr/>
        </p:nvSpPr>
        <p:spPr bwMode="auto">
          <a:xfrm>
            <a:off x="4006081" y="1760990"/>
            <a:ext cx="5184576" cy="4248150"/>
          </a:xfrm>
          <a:prstGeom prst="rect">
            <a:avLst/>
          </a:prstGeom>
          <a:noFill/>
          <a:ln>
            <a:noFill/>
          </a:ln>
          <a:effectLst/>
        </p:spPr>
        <p:txBody>
          <a:bodyPr vert="horz" wrap="square" lIns="0" tIns="0" rIns="0" bIns="0" numCol="1" anchor="t" anchorCtr="0" compatLnSpc="1">
            <a:prstTxWarp prst="textNoShape">
              <a:avLst/>
            </a:prstTxWarp>
          </a:bodyPr>
          <a:lstStyle>
            <a:lvl1pPr marL="270000" indent="-270000" algn="l" defTabSz="270000" rtl="0" eaLnBrk="1" fontAlgn="base" hangingPunct="1">
              <a:spcBef>
                <a:spcPct val="0"/>
              </a:spcBef>
              <a:spcAft>
                <a:spcPts val="675"/>
              </a:spcAft>
              <a:buClr>
                <a:schemeClr val="tx2"/>
              </a:buClr>
              <a:buFont typeface="Wingdings" pitchFamily="2" charset="2"/>
              <a:buChar char="n"/>
              <a:defRPr>
                <a:solidFill>
                  <a:schemeClr val="tx1"/>
                </a:solidFill>
                <a:latin typeface="+mn-lt"/>
                <a:ea typeface="+mn-ea"/>
                <a:cs typeface="+mn-cs"/>
              </a:defRPr>
            </a:lvl1pPr>
            <a:lvl2pPr marL="54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2pPr>
            <a:lvl3pPr marL="81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3pPr>
            <a:lvl4pPr marL="108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4pPr>
            <a:lvl5pPr marL="135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5pPr>
            <a:lvl6pPr marL="14156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17585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1014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24443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a:lstStyle>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&lt;</a:t>
            </a:r>
            <a:r>
              <a:rPr lang="en-US" sz="900" kern="0" dirty="0" err="1">
                <a:latin typeface="Courier New" panose="02070309020205020404" pitchFamily="49" charset="0"/>
                <a:cs typeface="Courier New" panose="02070309020205020404" pitchFamily="49" charset="0"/>
              </a:rPr>
              <a:t>xs:complexType</a:t>
            </a:r>
            <a:r>
              <a:rPr lang="en-US" sz="900" kern="0" dirty="0">
                <a:latin typeface="Courier New" panose="02070309020205020404" pitchFamily="49" charset="0"/>
                <a:cs typeface="Courier New" panose="02070309020205020404" pitchFamily="49" charset="0"/>
              </a:rPr>
              <a:t> name="</a:t>
            </a:r>
            <a:r>
              <a:rPr lang="en-US" sz="900" kern="0" dirty="0" err="1">
                <a:latin typeface="Courier New" panose="02070309020205020404" pitchFamily="49" charset="0"/>
                <a:cs typeface="Courier New" panose="02070309020205020404" pitchFamily="49" charset="0"/>
              </a:rPr>
              <a:t>T_Simulated_Time_Lapse</a:t>
            </a:r>
            <a:r>
              <a:rPr lang="en-US" sz="900" kern="0" dirty="0">
                <a:latin typeface="Courier New" panose="02070309020205020404" pitchFamily="49" charset="0"/>
                <a:cs typeface="Courier New" panose="02070309020205020404" pitchFamily="49" charset="0"/>
              </a:rPr>
              <a:t>" &gt;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xs:sequence</a:t>
            </a:r>
            <a:r>
              <a:rPr lang="en-US" sz="900" kern="0" dirty="0">
                <a:latin typeface="Courier New" panose="02070309020205020404" pitchFamily="49" charset="0"/>
                <a:cs typeface="Courier New" panose="02070309020205020404" pitchFamily="49" charset="0"/>
              </a:rPr>
              <a:t>&gt;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a:t>
            </a:r>
            <a:r>
              <a:rPr lang="en-US" sz="900" kern="0" dirty="0" err="1">
                <a:latin typeface="Courier New" panose="02070309020205020404" pitchFamily="49" charset="0"/>
                <a:cs typeface="Courier New" panose="02070309020205020404" pitchFamily="49" charset="0"/>
              </a:rPr>
              <a:t>Initial_Time</a:t>
            </a:r>
            <a:r>
              <a:rPr lang="en-US" sz="900" kern="0" dirty="0">
                <a:latin typeface="Courier New" panose="02070309020205020404" pitchFamily="49" charset="0"/>
                <a:cs typeface="Courier New" panose="02070309020205020404" pitchFamily="49" charset="0"/>
              </a:rPr>
              <a:t>" type="</a:t>
            </a:r>
            <a:r>
              <a:rPr lang="en-US" sz="900" kern="0" dirty="0" err="1">
                <a:latin typeface="Courier New" panose="02070309020205020404" pitchFamily="49" charset="0"/>
                <a:cs typeface="Courier New" panose="02070309020205020404" pitchFamily="49" charset="0"/>
              </a:rPr>
              <a:t>Vimmp:T_Initial_Time</a:t>
            </a: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minOccurs="1"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="1"/&gt;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name="Duration" type="</a:t>
            </a:r>
            <a:r>
              <a:rPr lang="en-US" sz="900" kern="0" dirty="0" err="1">
                <a:latin typeface="Courier New" panose="02070309020205020404" pitchFamily="49" charset="0"/>
                <a:cs typeface="Courier New" panose="02070309020205020404" pitchFamily="49" charset="0"/>
              </a:rPr>
              <a:t>Vimmp:T_Duration</a:t>
            </a:r>
            <a:r>
              <a:rPr lang="en-US" sz="900" kern="0" dirty="0">
                <a:latin typeface="Courier New" panose="02070309020205020404" pitchFamily="49" charset="0"/>
                <a:cs typeface="Courier New" panose="02070309020205020404" pitchFamily="49" charset="0"/>
              </a:rPr>
              <a:t>" </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minOccurs="1"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="1"/&gt;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xs:sequence</a:t>
            </a:r>
            <a:r>
              <a:rPr lang="en-US" sz="900" kern="0" dirty="0">
                <a:latin typeface="Courier New" panose="02070309020205020404" pitchFamily="49" charset="0"/>
                <a:cs typeface="Courier New" panose="02070309020205020404" pitchFamily="49" charset="0"/>
              </a:rPr>
              <a:t>&gt;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&lt;/</a:t>
            </a:r>
            <a:r>
              <a:rPr lang="en-US" sz="900" kern="0" dirty="0" err="1">
                <a:latin typeface="Courier New" panose="02070309020205020404" pitchFamily="49" charset="0"/>
                <a:cs typeface="Courier New" panose="02070309020205020404" pitchFamily="49" charset="0"/>
              </a:rPr>
              <a:t>xs:complexType</a:t>
            </a:r>
            <a:r>
              <a:rPr lang="en-US" sz="900" kern="0" dirty="0">
                <a:latin typeface="Courier New" panose="02070309020205020404" pitchFamily="49" charset="0"/>
                <a:cs typeface="Courier New" panose="02070309020205020404" pitchFamily="49" charset="0"/>
              </a:rPr>
              <a:t>&gt;</a:t>
            </a:r>
          </a:p>
          <a:p>
            <a:pPr marL="0" lvl="1" indent="0">
              <a:spcAft>
                <a:spcPts val="0"/>
              </a:spcAft>
              <a:buFont typeface="Wingdings" pitchFamily="2" charset="2"/>
              <a:buNone/>
            </a:pPr>
            <a:endParaRPr lang="en-US" sz="900" kern="0" dirty="0">
              <a:latin typeface="Courier New" panose="02070309020205020404" pitchFamily="49" charset="0"/>
              <a:cs typeface="Courier New" panose="02070309020205020404" pitchFamily="49" charset="0"/>
            </a:endParaRP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endParaRPr lang="en-US" sz="900" kern="0" dirty="0">
              <a:latin typeface="Courier New" panose="02070309020205020404" pitchFamily="49" charset="0"/>
              <a:cs typeface="Courier New" panose="02070309020205020404" pitchFamily="49" charset="0"/>
            </a:endParaRPr>
          </a:p>
          <a:p>
            <a:pPr marL="0" lvl="1" indent="0">
              <a:spcAft>
                <a:spcPts val="0"/>
              </a:spcAft>
              <a:buFont typeface="Wingdings" pitchFamily="2" charset="2"/>
              <a:buNone/>
            </a:pPr>
            <a:endParaRPr lang="en-US" sz="900" kern="0" dirty="0">
              <a:latin typeface="Courier New" panose="02070309020205020404" pitchFamily="49" charset="0"/>
              <a:cs typeface="Courier New" panose="02070309020205020404" pitchFamily="49" charset="0"/>
            </a:endParaRP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&lt;</a:t>
            </a:r>
            <a:r>
              <a:rPr lang="en-US" sz="900" kern="0" dirty="0" err="1">
                <a:latin typeface="Courier New" panose="02070309020205020404" pitchFamily="49" charset="0"/>
                <a:cs typeface="Courier New" panose="02070309020205020404" pitchFamily="49" charset="0"/>
              </a:rPr>
              <a:t>xs:complexType</a:t>
            </a:r>
            <a:r>
              <a:rPr lang="en-US" sz="900" kern="0" dirty="0">
                <a:latin typeface="Courier New" panose="02070309020205020404" pitchFamily="49" charset="0"/>
                <a:cs typeface="Courier New" panose="02070309020205020404" pitchFamily="49" charset="0"/>
              </a:rPr>
              <a:t> name="T_CDM" &gt;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xs:sequence</a:t>
            </a:r>
            <a:r>
              <a:rPr lang="en-US" sz="900" kern="0" dirty="0">
                <a:latin typeface="Courier New" panose="02070309020205020404" pitchFamily="49" charset="0"/>
                <a:cs typeface="Courier New" panose="02070309020205020404" pitchFamily="49" charset="0"/>
              </a:rPr>
              <a:t>&gt;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name="Title" </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type="</a:t>
            </a:r>
            <a:r>
              <a:rPr lang="en-US" sz="900" kern="0" dirty="0" err="1">
                <a:latin typeface="Courier New" panose="02070309020205020404" pitchFamily="49" charset="0"/>
                <a:cs typeface="Courier New" panose="02070309020205020404" pitchFamily="49" charset="0"/>
              </a:rPr>
              <a:t>Vimmp:T_Title</a:t>
            </a:r>
            <a:r>
              <a:rPr lang="en-US" sz="900" kern="0" dirty="0">
                <a:latin typeface="Courier New" panose="02070309020205020404" pitchFamily="49" charset="0"/>
                <a:cs typeface="Courier New" panose="02070309020205020404" pitchFamily="49" charset="0"/>
              </a:rPr>
              <a:t>" minOccurs="1"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="1"/&gt;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a:t>
            </a:r>
            <a:r>
              <a:rPr lang="en-US" sz="900" kern="0" dirty="0" err="1">
                <a:latin typeface="Courier New" panose="02070309020205020404" pitchFamily="49" charset="0"/>
                <a:cs typeface="Courier New" panose="02070309020205020404" pitchFamily="49" charset="0"/>
              </a:rPr>
              <a:t>Simulated_Time_Lapse</a:t>
            </a: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type="</a:t>
            </a:r>
            <a:r>
              <a:rPr lang="en-US" sz="900" kern="0" dirty="0" err="1">
                <a:latin typeface="Courier New" panose="02070309020205020404" pitchFamily="49" charset="0"/>
                <a:cs typeface="Courier New" panose="02070309020205020404" pitchFamily="49" charset="0"/>
              </a:rPr>
              <a:t>Vimmp:T_Simulated_Time_Lapse</a:t>
            </a:r>
            <a:r>
              <a:rPr lang="en-US" sz="900" kern="0" dirty="0">
                <a:latin typeface="Courier New" panose="02070309020205020404" pitchFamily="49" charset="0"/>
                <a:cs typeface="Courier New" panose="02070309020205020404" pitchFamily="49" charset="0"/>
              </a:rPr>
              <a:t>" minOccurs="0“</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="1"/&gt;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a:t>
            </a:r>
            <a:r>
              <a:rPr lang="en-US" sz="900" kern="0" dirty="0" err="1">
                <a:latin typeface="Courier New" panose="02070309020205020404" pitchFamily="49" charset="0"/>
                <a:cs typeface="Courier New" panose="02070309020205020404" pitchFamily="49" charset="0"/>
              </a:rPr>
              <a:t>Geometric_Domain</a:t>
            </a:r>
            <a:r>
              <a:rPr lang="en-US" sz="900" kern="0" dirty="0">
                <a:latin typeface="Courier New" panose="02070309020205020404" pitchFamily="49" charset="0"/>
                <a:cs typeface="Courier New" panose="02070309020205020404" pitchFamily="49" charset="0"/>
              </a:rPr>
              <a:t>" type="</a:t>
            </a:r>
            <a:r>
              <a:rPr lang="en-US" sz="900" kern="0" dirty="0" err="1">
                <a:latin typeface="Courier New" panose="02070309020205020404" pitchFamily="49" charset="0"/>
                <a:cs typeface="Courier New" panose="02070309020205020404" pitchFamily="49" charset="0"/>
              </a:rPr>
              <a:t>Vimmp:T_Geometric_Domain</a:t>
            </a: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minOccurs="0"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="1"/&gt;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a:t>
            </a:r>
            <a:r>
              <a:rPr lang="en-US" sz="900" kern="0" dirty="0" err="1">
                <a:latin typeface="Courier New" panose="02070309020205020404" pitchFamily="49" charset="0"/>
                <a:cs typeface="Courier New" panose="02070309020205020404" pitchFamily="49" charset="0"/>
              </a:rPr>
              <a:t>System_Component</a:t>
            </a:r>
            <a:r>
              <a:rPr lang="en-US" sz="900" kern="0" dirty="0">
                <a:latin typeface="Courier New" panose="02070309020205020404" pitchFamily="49" charset="0"/>
                <a:cs typeface="Courier New" panose="02070309020205020404" pitchFamily="49" charset="0"/>
              </a:rPr>
              <a:t>" type="</a:t>
            </a:r>
            <a:r>
              <a:rPr lang="en-US" sz="900" kern="0" dirty="0" err="1">
                <a:latin typeface="Courier New" panose="02070309020205020404" pitchFamily="49" charset="0"/>
                <a:cs typeface="Courier New" panose="02070309020205020404" pitchFamily="49" charset="0"/>
              </a:rPr>
              <a:t>Vimmp:T_System_Component</a:t>
            </a: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minOccurs="0"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="unbounded"/&gt;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a:t>
            </a:r>
            <a:r>
              <a:rPr lang="en-US" sz="900" kern="0" dirty="0" err="1">
                <a:latin typeface="Courier New" panose="02070309020205020404" pitchFamily="49" charset="0"/>
                <a:cs typeface="Courier New" panose="02070309020205020404" pitchFamily="49" charset="0"/>
              </a:rPr>
              <a:t>Boundary_Conditions</a:t>
            </a:r>
            <a:r>
              <a:rPr lang="en-US" sz="900" kern="0" dirty="0">
                <a:latin typeface="Courier New" panose="02070309020205020404" pitchFamily="49" charset="0"/>
                <a:cs typeface="Courier New" panose="02070309020205020404" pitchFamily="49" charset="0"/>
              </a:rPr>
              <a:t>" type="</a:t>
            </a:r>
            <a:r>
              <a:rPr lang="en-US" sz="900" kern="0" dirty="0" err="1">
                <a:latin typeface="Courier New" panose="02070309020205020404" pitchFamily="49" charset="0"/>
                <a:cs typeface="Courier New" panose="02070309020205020404" pitchFamily="49" charset="0"/>
              </a:rPr>
              <a:t>Vimmp:T_Boundary_Conditions</a:t>
            </a: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minOccurs="0"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="unbounded"/&gt;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xs:element</a:t>
            </a:r>
            <a:r>
              <a:rPr lang="en-US" sz="900" kern="0" dirty="0">
                <a:latin typeface="Courier New" panose="02070309020205020404" pitchFamily="49" charset="0"/>
                <a:cs typeface="Courier New" panose="02070309020205020404" pitchFamily="49" charset="0"/>
              </a:rPr>
              <a:t> name="</a:t>
            </a:r>
            <a:r>
              <a:rPr lang="en-US" sz="900" kern="0" dirty="0" err="1">
                <a:latin typeface="Courier New" panose="02070309020205020404" pitchFamily="49" charset="0"/>
                <a:cs typeface="Courier New" panose="02070309020205020404" pitchFamily="49" charset="0"/>
              </a:rPr>
              <a:t>Initials_Conditions</a:t>
            </a:r>
            <a:r>
              <a:rPr lang="en-US" sz="900" kern="0" dirty="0">
                <a:latin typeface="Courier New" panose="02070309020205020404" pitchFamily="49" charset="0"/>
                <a:cs typeface="Courier New" panose="02070309020205020404" pitchFamily="49" charset="0"/>
              </a:rPr>
              <a:t>" type="</a:t>
            </a:r>
            <a:r>
              <a:rPr lang="en-US" sz="900" kern="0" dirty="0" err="1">
                <a:latin typeface="Courier New" panose="02070309020205020404" pitchFamily="49" charset="0"/>
                <a:cs typeface="Courier New" panose="02070309020205020404" pitchFamily="49" charset="0"/>
              </a:rPr>
              <a:t>Vimmp:T_Initials_Conditions</a:t>
            </a:r>
            <a:r>
              <a:rPr lang="en-US" sz="900" kern="0" dirty="0">
                <a:latin typeface="Courier New" panose="02070309020205020404" pitchFamily="49" charset="0"/>
                <a:cs typeface="Courier New" panose="02070309020205020404" pitchFamily="49" charset="0"/>
              </a:rPr>
              <a: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minOccurs="0" </a:t>
            </a:r>
            <a:r>
              <a:rPr lang="en-US" sz="900" kern="0" dirty="0" err="1">
                <a:latin typeface="Courier New" panose="02070309020205020404" pitchFamily="49" charset="0"/>
                <a:cs typeface="Courier New" panose="02070309020205020404" pitchFamily="49" charset="0"/>
              </a:rPr>
              <a:t>maxOccurs</a:t>
            </a:r>
            <a:r>
              <a:rPr lang="en-US" sz="900" kern="0" dirty="0">
                <a:latin typeface="Courier New" panose="02070309020205020404" pitchFamily="49" charset="0"/>
                <a:cs typeface="Courier New" panose="02070309020205020404" pitchFamily="49" charset="0"/>
              </a:rPr>
              <a:t>="unbounded"/&gt;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&lt;/</a:t>
            </a:r>
            <a:r>
              <a:rPr lang="en-US" sz="900" kern="0" dirty="0" err="1">
                <a:latin typeface="Courier New" panose="02070309020205020404" pitchFamily="49" charset="0"/>
                <a:cs typeface="Courier New" panose="02070309020205020404" pitchFamily="49" charset="0"/>
              </a:rPr>
              <a:t>xs:sequence</a:t>
            </a:r>
            <a:r>
              <a:rPr lang="en-US" sz="900" kern="0" dirty="0">
                <a:latin typeface="Courier New" panose="02070309020205020404" pitchFamily="49" charset="0"/>
                <a:cs typeface="Courier New" panose="02070309020205020404" pitchFamily="49" charset="0"/>
              </a:rPr>
              <a:t>&gt;</a:t>
            </a:r>
          </a:p>
          <a:p>
            <a:pPr marL="0" lvl="1" indent="0">
              <a:spcAft>
                <a:spcPts val="0"/>
              </a:spcAft>
              <a:buFont typeface="Wingdings" pitchFamily="2" charset="2"/>
              <a:buNone/>
            </a:pPr>
            <a:r>
              <a:rPr lang="en-US" sz="900" kern="0" dirty="0">
                <a:latin typeface="Courier New" panose="02070309020205020404" pitchFamily="49" charset="0"/>
                <a:cs typeface="Courier New" panose="02070309020205020404" pitchFamily="49" charset="0"/>
              </a:rPr>
              <a:t> </a:t>
            </a:r>
          </a:p>
        </p:txBody>
      </p:sp>
      <p:pic>
        <p:nvPicPr>
          <p:cNvPr id="30" name="Imag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64179"/>
            <a:ext cx="3448244" cy="2975224"/>
          </a:xfrm>
          <a:prstGeom prst="rect">
            <a:avLst/>
          </a:prstGeom>
        </p:spPr>
      </p:pic>
      <p:sp>
        <p:nvSpPr>
          <p:cNvPr id="31" name="ZoneTexte 30"/>
          <p:cNvSpPr txBox="1"/>
          <p:nvPr/>
        </p:nvSpPr>
        <p:spPr>
          <a:xfrm>
            <a:off x="323528" y="1663117"/>
            <a:ext cx="3088204" cy="757130"/>
          </a:xfrm>
          <a:prstGeom prst="rect">
            <a:avLst/>
          </a:prstGeom>
          <a:noFill/>
        </p:spPr>
        <p:txBody>
          <a:bodyPr wrap="square" rtlCol="0">
            <a:spAutoFit/>
          </a:bodyPr>
          <a:lstStyle/>
          <a:p>
            <a:pPr algn="ctr" defTabSz="914400" eaLnBrk="1" hangingPunct="1">
              <a:spcAft>
                <a:spcPct val="40000"/>
              </a:spcAft>
              <a:buFont typeface="Wingdings" pitchFamily="2" charset="2"/>
              <a:buNone/>
            </a:pPr>
            <a:r>
              <a:rPr lang="fr-FR" dirty="0" err="1">
                <a:solidFill>
                  <a:srgbClr val="000000"/>
                </a:solidFill>
                <a:latin typeface="Frutiger LT Com 55 Roman" pitchFamily="34" charset="0"/>
              </a:rPr>
              <a:t>Graphical</a:t>
            </a:r>
            <a:r>
              <a:rPr lang="fr-FR" dirty="0">
                <a:solidFill>
                  <a:srgbClr val="000000"/>
                </a:solidFill>
                <a:latin typeface="Frutiger LT Com 55 Roman" pitchFamily="34" charset="0"/>
              </a:rPr>
              <a:t> &amp; </a:t>
            </a:r>
            <a:r>
              <a:rPr lang="fr-FR" dirty="0" err="1">
                <a:solidFill>
                  <a:srgbClr val="000000"/>
                </a:solidFill>
                <a:latin typeface="Frutiger LT Com 55 Roman" pitchFamily="34" charset="0"/>
              </a:rPr>
              <a:t>textual</a:t>
            </a:r>
            <a:r>
              <a:rPr lang="fr-FR" dirty="0">
                <a:solidFill>
                  <a:srgbClr val="000000"/>
                </a:solidFill>
                <a:latin typeface="Frutiger LT Com 55 Roman" pitchFamily="34" charset="0"/>
              </a:rPr>
              <a:t> </a:t>
            </a:r>
          </a:p>
          <a:p>
            <a:pPr algn="ctr" defTabSz="914400" eaLnBrk="1" hangingPunct="1">
              <a:spcAft>
                <a:spcPct val="40000"/>
              </a:spcAft>
              <a:buFont typeface="Wingdings" pitchFamily="2" charset="2"/>
              <a:buNone/>
            </a:pPr>
            <a:r>
              <a:rPr lang="fr-FR" dirty="0">
                <a:solidFill>
                  <a:srgbClr val="000000"/>
                </a:solidFill>
                <a:latin typeface="Frutiger LT Com 55 Roman" pitchFamily="34" charset="0"/>
              </a:rPr>
              <a:t>XSD Model</a:t>
            </a:r>
          </a:p>
        </p:txBody>
      </p:sp>
      <p:sp>
        <p:nvSpPr>
          <p:cNvPr id="32" name="Rectangle 31"/>
          <p:cNvSpPr/>
          <p:nvPr/>
        </p:nvSpPr>
        <p:spPr>
          <a:xfrm>
            <a:off x="251520" y="1019075"/>
            <a:ext cx="5081840" cy="400110"/>
          </a:xfrm>
          <a:prstGeom prst="rect">
            <a:avLst/>
          </a:prstGeom>
        </p:spPr>
        <p:txBody>
          <a:bodyPr wrap="non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le modèle XSD GENERE  correspondant</a:t>
            </a:r>
            <a:r>
              <a:rPr lang="fr-FR" altLang="fr-FR" dirty="0">
                <a:solidFill>
                  <a:srgbClr val="002060"/>
                </a:solidFill>
              </a:rPr>
              <a:t>:</a:t>
            </a:r>
          </a:p>
        </p:txBody>
      </p:sp>
      <p:sp>
        <p:nvSpPr>
          <p:cNvPr id="8" name="Text Box 2"/>
          <p:cNvSpPr txBox="1">
            <a:spLocks noChangeArrowheads="1"/>
          </p:cNvSpPr>
          <p:nvPr/>
        </p:nvSpPr>
        <p:spPr bwMode="auto">
          <a:xfrm>
            <a:off x="0" y="1654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EXEMPLE D’UTILISATION  2/2</a:t>
            </a:r>
          </a:p>
        </p:txBody>
      </p:sp>
    </p:spTree>
    <p:extLst>
      <p:ext uri="{BB962C8B-B14F-4D97-AF65-F5344CB8AC3E}">
        <p14:creationId xmlns:p14="http://schemas.microsoft.com/office/powerpoint/2010/main" val="147357752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33</a:t>
            </a:fld>
            <a:endParaRPr lang="fr-FR" altLang="fr-FR" sz="900">
              <a:latin typeface="Times New Roman" panose="02020603050405020304" pitchFamily="18" charset="0"/>
              <a:cs typeface="Arial" panose="020B0604020202020204" pitchFamily="34" charset="0"/>
            </a:endParaRPr>
          </a:p>
        </p:txBody>
      </p:sp>
      <p:sp>
        <p:nvSpPr>
          <p:cNvPr id="8" name="Text Box 2"/>
          <p:cNvSpPr txBox="1">
            <a:spLocks noChangeArrowheads="1"/>
          </p:cNvSpPr>
          <p:nvPr/>
        </p:nvSpPr>
        <p:spPr bwMode="auto">
          <a:xfrm>
            <a:off x="0" y="1654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POURQUOI GENERER LE MODELE XSD ?</a:t>
            </a:r>
          </a:p>
        </p:txBody>
      </p:sp>
      <p:sp>
        <p:nvSpPr>
          <p:cNvPr id="9" name="Text Box 3"/>
          <p:cNvSpPr txBox="1">
            <a:spLocks noChangeArrowheads="1"/>
          </p:cNvSpPr>
          <p:nvPr/>
        </p:nvSpPr>
        <p:spPr bwMode="auto">
          <a:xfrm>
            <a:off x="115613" y="797713"/>
            <a:ext cx="9120316" cy="5467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nchor="t"/>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285750" indent="-285750">
              <a:spcBef>
                <a:spcPts val="300"/>
              </a:spcBef>
              <a:spcAft>
                <a:spcPts val="1200"/>
              </a:spcAft>
              <a:buClr>
                <a:srgbClr val="001A70"/>
              </a:buClr>
              <a:buFont typeface="Wingdings" panose="05000000000000000000" pitchFamily="2" charset="2"/>
              <a:buChar char="§"/>
              <a:defRPr/>
            </a:pPr>
            <a:r>
              <a:rPr lang="fr-FR" sz="2000" dirty="0">
                <a:solidFill>
                  <a:srgbClr val="002060"/>
                </a:solidFill>
                <a:cs typeface="Arial"/>
              </a:rPr>
              <a:t>La grammaire MDM est bien plus facile à écrire et à maintenir qu'un XSD</a:t>
            </a:r>
            <a:endParaRPr lang="en-US" sz="2000" dirty="0">
              <a:solidFill>
                <a:srgbClr val="002060"/>
              </a:solidFill>
              <a:cs typeface="Arial"/>
            </a:endParaRPr>
          </a:p>
          <a:p>
            <a:pPr marL="285750" indent="-285750">
              <a:spcBef>
                <a:spcPts val="300"/>
              </a:spcBef>
              <a:spcAft>
                <a:spcPts val="600"/>
              </a:spcAft>
              <a:buClr>
                <a:srgbClr val="001A70"/>
              </a:buClr>
              <a:buFont typeface="Wingdings" panose="05000000000000000000" pitchFamily="2" charset="2"/>
              <a:buChar char="§"/>
              <a:defRPr/>
            </a:pPr>
            <a:r>
              <a:rPr lang="fr-FR" sz="2000" dirty="0">
                <a:solidFill>
                  <a:srgbClr val="002060"/>
                </a:solidFill>
                <a:latin typeface="Arial"/>
                <a:cs typeface="Arial"/>
              </a:rPr>
              <a:t>MDM propose plusieurs formats de sortie et permet d'en écrire facilement de nouveaux</a:t>
            </a:r>
            <a:endParaRPr lang="fr-FR" dirty="0">
              <a:latin typeface="Arial"/>
              <a:cs typeface="Arial"/>
            </a:endParaRPr>
          </a:p>
          <a:p>
            <a:pPr marL="285750" indent="-285750">
              <a:spcBef>
                <a:spcPts val="300"/>
              </a:spcBef>
              <a:spcAft>
                <a:spcPts val="600"/>
              </a:spcAft>
              <a:buClr>
                <a:srgbClr val="001A70"/>
              </a:buClr>
              <a:buFont typeface="Wingdings" panose="05000000000000000000" pitchFamily="2" charset="2"/>
              <a:buChar char="§"/>
              <a:defRPr/>
            </a:pPr>
            <a:r>
              <a:rPr lang="fr-FR" sz="2000" dirty="0">
                <a:solidFill>
                  <a:srgbClr val="002060"/>
                </a:solidFill>
                <a:latin typeface="Arial"/>
                <a:cs typeface="Arial"/>
              </a:rPr>
              <a:t>La grammaire MDM permet d’employer et de référencer des types définis par l'utilisateur</a:t>
            </a:r>
            <a:endParaRPr lang="fr-FR" sz="2000" dirty="0">
              <a:latin typeface="Arial"/>
              <a:cs typeface="Arial"/>
            </a:endParaRPr>
          </a:p>
          <a:p>
            <a:pPr marL="285750" indent="-285750">
              <a:spcBef>
                <a:spcPts val="300"/>
              </a:spcBef>
              <a:spcAft>
                <a:spcPts val="600"/>
              </a:spcAft>
              <a:buClr>
                <a:srgbClr val="001A70"/>
              </a:buClr>
              <a:buFont typeface="Wingdings" panose="05000000000000000000" pitchFamily="2" charset="2"/>
              <a:buChar char="§"/>
              <a:defRPr/>
            </a:pPr>
            <a:r>
              <a:rPr lang="fr-FR" sz="2000" dirty="0">
                <a:solidFill>
                  <a:srgbClr val="002060"/>
                </a:solidFill>
                <a:latin typeface="Arial"/>
                <a:cs typeface="Arial"/>
              </a:rPr>
              <a:t>La projection XSD est pensée pour être adaptée à l'utilisation d'outils de génération de drivers</a:t>
            </a:r>
            <a:endParaRPr lang="en-US" sz="2000" dirty="0">
              <a:latin typeface="Arial"/>
              <a:cs typeface="Arial"/>
            </a:endParaRPr>
          </a:p>
          <a:p>
            <a:pPr marL="1007745" indent="-457200">
              <a:spcBef>
                <a:spcPts val="300"/>
              </a:spcBef>
              <a:spcAft>
                <a:spcPts val="600"/>
              </a:spcAft>
              <a:buClr>
                <a:srgbClr val="001A70"/>
              </a:buClr>
              <a:buFont typeface="Wingdings" panose="05000000000000000000" pitchFamily="2" charset="2"/>
              <a:buChar char="Ø"/>
              <a:defRPr/>
            </a:pPr>
            <a:r>
              <a:rPr lang="fr-FR" dirty="0">
                <a:solidFill>
                  <a:srgbClr val="000000"/>
                </a:solidFill>
                <a:latin typeface="Arial"/>
                <a:cs typeface="Arial"/>
              </a:rPr>
              <a:t>Choix des patterns XSD les plus adaptés</a:t>
            </a:r>
            <a:endParaRPr lang="en-US" dirty="0">
              <a:solidFill>
                <a:srgbClr val="000000"/>
              </a:solidFill>
              <a:latin typeface="Arial"/>
              <a:cs typeface="Arial"/>
            </a:endParaRPr>
          </a:p>
          <a:p>
            <a:pPr marL="1007745" lvl="1" indent="-457200">
              <a:spcBef>
                <a:spcPts val="300"/>
              </a:spcBef>
              <a:spcAft>
                <a:spcPts val="1200"/>
              </a:spcAft>
              <a:buClr>
                <a:srgbClr val="001A70"/>
              </a:buClr>
              <a:buFont typeface="Wingdings" panose="05000000000000000000" pitchFamily="2" charset="2"/>
              <a:buChar char="Ø"/>
              <a:defRPr/>
            </a:pPr>
            <a:r>
              <a:rPr lang="fr-FR" dirty="0">
                <a:solidFill>
                  <a:srgbClr val="000000"/>
                </a:solidFill>
                <a:latin typeface="Arial"/>
                <a:cs typeface="Arial"/>
              </a:rPr>
              <a:t>Algorithme de factorisation pour enlever les ambiguïtés potentielles quand un même nom apparaît plusieurs fois et est de type identique et/ou différent</a:t>
            </a:r>
            <a:endParaRPr lang="fr-FR" dirty="0">
              <a:solidFill>
                <a:srgbClr val="000000"/>
              </a:solidFill>
              <a:cs typeface="Arial"/>
            </a:endParaRPr>
          </a:p>
          <a:p>
            <a:pPr marL="285750" indent="-285750">
              <a:spcBef>
                <a:spcPts val="300"/>
              </a:spcBef>
              <a:spcAft>
                <a:spcPts val="600"/>
              </a:spcAft>
              <a:buClr>
                <a:srgbClr val="001A70"/>
              </a:buClr>
              <a:buFont typeface="Wingdings" panose="05000000000000000000" pitchFamily="2" charset="2"/>
              <a:buChar char="§"/>
              <a:defRPr/>
            </a:pPr>
            <a:r>
              <a:rPr lang="fr-FR" altLang="fr-FR" sz="2000" dirty="0">
                <a:solidFill>
                  <a:srgbClr val="002060"/>
                </a:solidFill>
                <a:latin typeface="Arial"/>
              </a:rPr>
              <a:t> </a:t>
            </a:r>
            <a:r>
              <a:rPr lang="fr-FR" altLang="fr-FR" sz="2000" dirty="0">
                <a:solidFill>
                  <a:srgbClr val="002060"/>
                </a:solidFill>
                <a:latin typeface="Arial"/>
                <a:cs typeface="Arial"/>
              </a:rPr>
              <a:t>MDM harmonise le style du XSD et favorise la composition de modèles</a:t>
            </a:r>
            <a:endParaRPr lang="fr-FR" sz="2000" dirty="0">
              <a:solidFill>
                <a:srgbClr val="002060"/>
              </a:solidFill>
              <a:latin typeface="Arial"/>
              <a:cs typeface="Arial"/>
            </a:endParaRPr>
          </a:p>
          <a:p>
            <a:pPr marL="285750" indent="-285750">
              <a:spcBef>
                <a:spcPts val="300"/>
              </a:spcBef>
              <a:spcAft>
                <a:spcPts val="600"/>
              </a:spcAft>
              <a:buClr>
                <a:srgbClr val="001A70"/>
              </a:buClr>
              <a:buFont typeface="Wingdings" panose="05000000000000000000" pitchFamily="2" charset="2"/>
              <a:buChar char="§"/>
              <a:defRPr/>
            </a:pPr>
            <a:r>
              <a:rPr lang="fr-FR" altLang="fr-FR" sz="2000" dirty="0">
                <a:solidFill>
                  <a:srgbClr val="002060"/>
                </a:solidFill>
                <a:latin typeface="Arial"/>
                <a:cs typeface="Arial"/>
              </a:rPr>
              <a:t> MDM permet d’exprimer la validation dynamique </a:t>
            </a:r>
          </a:p>
          <a:p>
            <a:pPr lvl="1" eaLnBrk="1">
              <a:spcBef>
                <a:spcPts val="300"/>
              </a:spcBef>
              <a:buClr>
                <a:srgbClr val="001A70"/>
              </a:buClr>
              <a:buFont typeface="Wingdings" panose="05000000000000000000" pitchFamily="2" charset="2"/>
              <a:buChar char="Ø"/>
              <a:defRPr/>
            </a:pPr>
            <a:r>
              <a:rPr lang="fr-FR" altLang="fr-FR" dirty="0">
                <a:solidFill>
                  <a:srgbClr val="000000"/>
                </a:solidFill>
              </a:rPr>
              <a:t>Activer une partie du modèle en fonction de la valeur d’un paramètre</a:t>
            </a:r>
          </a:p>
          <a:p>
            <a:pPr lvl="1" eaLnBrk="1">
              <a:spcBef>
                <a:spcPts val="300"/>
              </a:spcBef>
              <a:spcAft>
                <a:spcPts val="1200"/>
              </a:spcAft>
              <a:buClr>
                <a:srgbClr val="001A70"/>
              </a:buClr>
              <a:buFont typeface="Wingdings" panose="05000000000000000000" pitchFamily="2" charset="2"/>
              <a:buChar char="Ø"/>
              <a:defRPr/>
            </a:pPr>
            <a:r>
              <a:rPr lang="fr-FR" altLang="fr-FR" dirty="0">
                <a:solidFill>
                  <a:srgbClr val="000000"/>
                </a:solidFill>
                <a:latin typeface="Arial"/>
              </a:rPr>
              <a:t>Difficile à exprimer avec XSD (même v1.1)</a:t>
            </a:r>
          </a:p>
          <a:p>
            <a:pPr lvl="1" indent="0" eaLnBrk="1">
              <a:spcBef>
                <a:spcPts val="300"/>
              </a:spcBef>
              <a:spcAft>
                <a:spcPts val="600"/>
              </a:spcAft>
              <a:buClr>
                <a:srgbClr val="001A70"/>
              </a:buClr>
              <a:defRPr/>
            </a:pPr>
            <a:endParaRPr lang="fr-FR" altLang="fr-FR" sz="2000" dirty="0">
              <a:solidFill>
                <a:srgbClr val="002060"/>
              </a:solidFill>
            </a:endParaRPr>
          </a:p>
          <a:p>
            <a:pPr marL="457200" lvl="1" indent="0" eaLnBrk="1">
              <a:spcBef>
                <a:spcPts val="300"/>
              </a:spcBef>
              <a:spcAft>
                <a:spcPts val="600"/>
              </a:spcAft>
              <a:buClr>
                <a:srgbClr val="001A70"/>
              </a:buClr>
              <a:defRPr/>
            </a:pPr>
            <a:endParaRPr lang="fr-FR" altLang="fr-FR" dirty="0">
              <a:solidFill>
                <a:srgbClr val="000000"/>
              </a:solidFill>
            </a:endParaRPr>
          </a:p>
          <a:p>
            <a:pPr lvl="1" eaLnBrk="1">
              <a:spcBef>
                <a:spcPts val="300"/>
              </a:spcBef>
              <a:spcAft>
                <a:spcPts val="600"/>
              </a:spcAft>
              <a:buClr>
                <a:srgbClr val="001A70"/>
              </a:buClr>
              <a:buFont typeface="Wingdings" panose="05000000000000000000" pitchFamily="2" charset="2"/>
              <a:buChar char="§"/>
              <a:defRPr/>
            </a:pPr>
            <a:endParaRPr lang="fr-FR" altLang="fr-FR" sz="2000" dirty="0">
              <a:solidFill>
                <a:srgbClr val="002060"/>
              </a:solidFill>
            </a:endParaRPr>
          </a:p>
          <a:p>
            <a:pPr marL="457200" lvl="1" indent="0" eaLnBrk="1">
              <a:spcBef>
                <a:spcPts val="300"/>
              </a:spcBef>
              <a:spcAft>
                <a:spcPts val="600"/>
              </a:spcAft>
              <a:buClr>
                <a:srgbClr val="001A70"/>
              </a:buClr>
              <a:defRPr/>
            </a:pPr>
            <a:r>
              <a:rPr lang="fr-FR" altLang="fr-FR" sz="2000" dirty="0">
                <a:solidFill>
                  <a:srgbClr val="000000"/>
                </a:solidFill>
              </a:rPr>
              <a:t> </a:t>
            </a:r>
          </a:p>
          <a:p>
            <a:pPr lvl="1" indent="0" eaLnBrk="1">
              <a:spcBef>
                <a:spcPts val="300"/>
              </a:spcBef>
              <a:buClr>
                <a:srgbClr val="001A70"/>
              </a:buClr>
              <a:defRPr/>
            </a:pPr>
            <a:endParaRPr lang="fr-FR" altLang="fr-FR" sz="2000" dirty="0">
              <a:solidFill>
                <a:srgbClr val="002060"/>
              </a:solidFill>
            </a:endParaRPr>
          </a:p>
        </p:txBody>
      </p:sp>
    </p:spTree>
    <p:extLst>
      <p:ext uri="{BB962C8B-B14F-4D97-AF65-F5344CB8AC3E}">
        <p14:creationId xmlns:p14="http://schemas.microsoft.com/office/powerpoint/2010/main" val="387566847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34</a:t>
            </a:fld>
            <a:endParaRPr lang="fr-FR" altLang="fr-FR" sz="900">
              <a:latin typeface="Times New Roman" panose="02020603050405020304" pitchFamily="18" charset="0"/>
              <a:cs typeface="Arial" panose="020B0604020202020204" pitchFamily="34" charset="0"/>
            </a:endParaRPr>
          </a:p>
        </p:txBody>
      </p:sp>
      <p:pic>
        <p:nvPicPr>
          <p:cNvPr id="9" name="Imag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383" y="1117536"/>
            <a:ext cx="8780550" cy="4807507"/>
          </a:xfrm>
          <a:prstGeom prst="rect">
            <a:avLst/>
          </a:prstGeom>
        </p:spPr>
      </p:pic>
      <p:sp>
        <p:nvSpPr>
          <p:cNvPr id="10" name="Rectangle 9"/>
          <p:cNvSpPr/>
          <p:nvPr/>
        </p:nvSpPr>
        <p:spPr>
          <a:xfrm>
            <a:off x="207384" y="4876369"/>
            <a:ext cx="8780549" cy="1092607"/>
          </a:xfrm>
          <a:prstGeom prst="rect">
            <a:avLst/>
          </a:prstGeom>
          <a:solidFill>
            <a:srgbClr val="FFFFFF"/>
          </a:solid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Un double usage :</a:t>
            </a:r>
          </a:p>
          <a:p>
            <a:pPr marL="800100" lvl="1" indent="-342900" eaLnBrk="1">
              <a:spcBef>
                <a:spcPts val="300"/>
              </a:spcBef>
              <a:buClr>
                <a:srgbClr val="001A70"/>
              </a:buClr>
              <a:buFont typeface="Wingdings" panose="05000000000000000000" pitchFamily="2" charset="2"/>
              <a:buChar char="Ø"/>
              <a:defRPr/>
            </a:pPr>
            <a:r>
              <a:rPr lang="fr-FR" altLang="fr-FR" sz="2000" dirty="0">
                <a:solidFill>
                  <a:srgbClr val="002060"/>
                </a:solidFill>
                <a:latin typeface="+mj-lt"/>
              </a:rPr>
              <a:t>Une vision graphique immédiate du modèle aidant à la modélisation  </a:t>
            </a:r>
          </a:p>
          <a:p>
            <a:pPr marL="800100" lvl="1" indent="-342900" eaLnBrk="1">
              <a:spcBef>
                <a:spcPts val="300"/>
              </a:spcBef>
              <a:buClr>
                <a:srgbClr val="001A70"/>
              </a:buClr>
              <a:buFont typeface="Wingdings" panose="05000000000000000000" pitchFamily="2" charset="2"/>
              <a:buChar char="Ø"/>
              <a:defRPr/>
            </a:pPr>
            <a:r>
              <a:rPr lang="fr-FR" altLang="fr-FR" sz="2000" dirty="0">
                <a:solidFill>
                  <a:srgbClr val="002060"/>
                </a:solidFill>
                <a:latin typeface="+mj-lt"/>
                <a:cs typeface="Arial"/>
              </a:rPr>
              <a:t>Une </a:t>
            </a:r>
            <a:r>
              <a:rPr lang="fr-FR" altLang="fr-FR" sz="2000" dirty="0" err="1">
                <a:solidFill>
                  <a:srgbClr val="002060"/>
                </a:solidFill>
                <a:latin typeface="+mj-lt"/>
                <a:cs typeface="Arial"/>
              </a:rPr>
              <a:t>Ihm</a:t>
            </a:r>
            <a:r>
              <a:rPr lang="fr-FR" altLang="fr-FR" sz="2000" dirty="0">
                <a:solidFill>
                  <a:srgbClr val="002060"/>
                </a:solidFill>
                <a:latin typeface="+mj-lt"/>
                <a:cs typeface="Arial"/>
              </a:rPr>
              <a:t> de saisie disponible pour </a:t>
            </a:r>
            <a:r>
              <a:rPr lang="fr-FR" altLang="fr-FR" sz="2000">
                <a:solidFill>
                  <a:srgbClr val="002060"/>
                </a:solidFill>
                <a:latin typeface="+mj-lt"/>
                <a:cs typeface="Arial"/>
              </a:rPr>
              <a:t>les utilisateurs</a:t>
            </a:r>
            <a:endParaRPr lang="fr-FR" altLang="fr-FR" sz="2000" dirty="0">
              <a:solidFill>
                <a:srgbClr val="002060"/>
              </a:solidFill>
              <a:latin typeface="+mj-lt"/>
            </a:endParaRPr>
          </a:p>
        </p:txBody>
      </p:sp>
      <p:sp>
        <p:nvSpPr>
          <p:cNvPr id="6"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L’IHM GENEREE</a:t>
            </a:r>
          </a:p>
        </p:txBody>
      </p:sp>
    </p:spTree>
    <p:extLst>
      <p:ext uri="{BB962C8B-B14F-4D97-AF65-F5344CB8AC3E}">
        <p14:creationId xmlns:p14="http://schemas.microsoft.com/office/powerpoint/2010/main" val="296905174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35</a:t>
            </a:fld>
            <a:endParaRPr lang="fr-FR" altLang="fr-FR" sz="900">
              <a:latin typeface="Times New Roman" panose="02020603050405020304" pitchFamily="18" charset="0"/>
              <a:cs typeface="Arial" panose="020B0604020202020204" pitchFamily="34" charset="0"/>
            </a:endParaRPr>
          </a:p>
        </p:txBody>
      </p:sp>
      <p:sp>
        <p:nvSpPr>
          <p:cNvPr id="10" name="Rectangle 9"/>
          <p:cNvSpPr/>
          <p:nvPr/>
        </p:nvSpPr>
        <p:spPr>
          <a:xfrm>
            <a:off x="363452" y="1057023"/>
            <a:ext cx="8506207" cy="746358"/>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Sous forme </a:t>
            </a:r>
            <a:r>
              <a:rPr lang="fr-FR" altLang="fr-FR" sz="2000" dirty="0" err="1">
                <a:solidFill>
                  <a:srgbClr val="002060"/>
                </a:solidFill>
                <a:latin typeface="+mj-lt"/>
              </a:rPr>
              <a:t>xml</a:t>
            </a: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6" name="Textplatzhalter 1"/>
          <p:cNvSpPr txBox="1">
            <a:spLocks/>
          </p:cNvSpPr>
          <p:nvPr/>
        </p:nvSpPr>
        <p:spPr bwMode="auto">
          <a:xfrm>
            <a:off x="446454" y="1484731"/>
            <a:ext cx="8423205" cy="4464549"/>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&lt;?xml version="2.0" ?&gt;</a:t>
            </a:r>
          </a:p>
          <a:p>
            <a:pPr>
              <a:spcAft>
                <a:spcPts val="0"/>
              </a:spcAft>
            </a:pPr>
            <a:r>
              <a:rPr lang="en-US" sz="1050" dirty="0">
                <a:latin typeface="Arial Black" panose="020B0A04020102020204" pitchFamily="34" charset="0"/>
              </a:rPr>
              <a:t>&lt;ns1:Vimmp xmlns:ns1="http://chercheurs.edf.com/</a:t>
            </a:r>
            <a:r>
              <a:rPr lang="en-US" sz="1050" dirty="0" err="1">
                <a:latin typeface="Arial Black" panose="020B0A04020102020204" pitchFamily="34" charset="0"/>
              </a:rPr>
              <a:t>logiciels</a:t>
            </a:r>
            <a:r>
              <a:rPr lang="en-US" sz="1050" dirty="0">
                <a:latin typeface="Arial Black" panose="020B0A04020102020204" pitchFamily="34" charset="0"/>
              </a:rPr>
              <a:t>/</a:t>
            </a:r>
            <a:r>
              <a:rPr lang="en-US" sz="1050" dirty="0" err="1">
                <a:latin typeface="Arial Black" panose="020B0A04020102020204" pitchFamily="34" charset="0"/>
              </a:rPr>
              <a:t>Vimmp</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ns1:CDM</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ns1:Title&gt;My</a:t>
            </a:r>
            <a:r>
              <a:rPr lang="en-US" sz="1050" dirty="0">
                <a:latin typeface="Arial Black" panose="020B0A04020102020204" pitchFamily="34" charset="0"/>
              </a:rPr>
              <a:t> Study&lt;/ns1:Title&gt;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ns1:Simulated_Time_Lapse</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&lt;ns1:Initial_Time&gt;0.0&lt;/ns1:Initial_Time&gt;</a:t>
            </a:r>
          </a:p>
          <a:p>
            <a:pPr>
              <a:spcAft>
                <a:spcPts val="0"/>
              </a:spcAft>
            </a:pPr>
            <a:r>
              <a:rPr lang="en-US" sz="1050" dirty="0">
                <a:latin typeface="Arial Black" panose="020B0A04020102020204" pitchFamily="34" charset="0"/>
              </a:rPr>
              <a:t>                        &lt;ns1:Duration&gt;10.0&lt;/ns1:Duration&gt;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ns1:Simulated_Time_Lapse</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ns1:Geometric_Domain</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ns1:Geometric_Domain</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ns1:System_Component</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&lt;ns1:General_Level_Of_Description&gt;Mesoscopic&lt;/ns1:General_Level_Of_Description&gt;</a:t>
            </a:r>
          </a:p>
          <a:p>
            <a:pPr>
              <a:spcAft>
                <a:spcPts val="0"/>
              </a:spcAft>
            </a:pPr>
            <a:r>
              <a:rPr lang="en-US" sz="1050" dirty="0">
                <a:latin typeface="Arial Black" panose="020B0A04020102020204" pitchFamily="34" charset="0"/>
              </a:rPr>
              <a:t>                        &lt;ns1:Component&gt;</a:t>
            </a:r>
            <a:r>
              <a:rPr lang="en-US" sz="1050" dirty="0" err="1">
                <a:latin typeface="Arial Black" panose="020B0A04020102020204" pitchFamily="34" charset="0"/>
              </a:rPr>
              <a:t>Classical_Particle</a:t>
            </a:r>
            <a:r>
              <a:rPr lang="en-US" sz="1050" dirty="0">
                <a:latin typeface="Arial Black" panose="020B0A04020102020204" pitchFamily="34" charset="0"/>
              </a:rPr>
              <a:t> System&lt;/ns1:Component&gt;</a:t>
            </a:r>
          </a:p>
          <a:p>
            <a:pPr>
              <a:spcAft>
                <a:spcPts val="0"/>
              </a:spcAft>
            </a:pPr>
            <a:r>
              <a:rPr lang="en-US" sz="1050" dirty="0">
                <a:latin typeface="Arial Black" panose="020B0A04020102020204" pitchFamily="34" charset="0"/>
              </a:rPr>
              <a:t>                        &lt;ns1:Physical_Description_Particle&gt;</a:t>
            </a:r>
          </a:p>
          <a:p>
            <a:pPr>
              <a:spcAft>
                <a:spcPts val="0"/>
              </a:spcAft>
            </a:pPr>
            <a:r>
              <a:rPr lang="en-US" sz="1050" dirty="0">
                <a:latin typeface="Arial Black" panose="020B0A04020102020204" pitchFamily="34" charset="0"/>
              </a:rPr>
              <a:t>…</a:t>
            </a:r>
          </a:p>
          <a:p>
            <a:pPr>
              <a:spcAft>
                <a:spcPts val="0"/>
              </a:spcAft>
            </a:pPr>
            <a:r>
              <a:rPr lang="en-US" sz="1050" dirty="0">
                <a:latin typeface="Arial Black" panose="020B0A04020102020204" pitchFamily="34" charset="0"/>
              </a:rPr>
              <a:t>                        &lt;/ns1:Physical_Description_Particle&gt;</a:t>
            </a:r>
          </a:p>
          <a:p>
            <a:pPr>
              <a:spcAft>
                <a:spcPts val="0"/>
              </a:spcAft>
            </a:pPr>
            <a:r>
              <a:rPr lang="en-US" sz="1050" dirty="0">
                <a:latin typeface="Arial Black" panose="020B0A04020102020204" pitchFamily="34" charset="0"/>
              </a:rPr>
              <a:t>                        &lt;ns1:Particle_Representation&gt;</a:t>
            </a:r>
          </a:p>
          <a:p>
            <a:pPr>
              <a:spcAft>
                <a:spcPts val="0"/>
              </a:spcAft>
            </a:pPr>
            <a:r>
              <a:rPr lang="en-US" sz="1050" dirty="0">
                <a:latin typeface="Arial Black" panose="020B0A04020102020204" pitchFamily="34" charset="0"/>
              </a:rPr>
              <a:t>                                &lt;ns1:Representation_Type&gt;</a:t>
            </a:r>
            <a:r>
              <a:rPr lang="en-US" sz="1050" dirty="0" err="1">
                <a:latin typeface="Arial Black" panose="020B0A04020102020204" pitchFamily="34" charset="0"/>
              </a:rPr>
              <a:t>Field_Representation</a:t>
            </a:r>
            <a:r>
              <a:rPr lang="en-US" sz="1050" dirty="0">
                <a:latin typeface="Arial Black" panose="020B0A04020102020204" pitchFamily="34" charset="0"/>
              </a:rPr>
              <a:t>&lt;/ns1:Representation_Type&gt;</a:t>
            </a:r>
          </a:p>
          <a:p>
            <a:pPr>
              <a:spcAft>
                <a:spcPts val="0"/>
              </a:spcAft>
            </a:pPr>
            <a:r>
              <a:rPr lang="en-US" sz="1050" dirty="0">
                <a:latin typeface="Arial Black" panose="020B0A04020102020204" pitchFamily="34" charset="0"/>
              </a:rPr>
              <a:t>                                &lt;ns1:Type_Of_Entity&gt;Atom&lt;/ns1:Type_Of_Entity&gt;</a:t>
            </a:r>
          </a:p>
          <a:p>
            <a:pPr>
              <a:spcAft>
                <a:spcPts val="0"/>
              </a:spcAft>
            </a:pPr>
            <a:r>
              <a:rPr lang="en-US" sz="1050" dirty="0">
                <a:latin typeface="Arial Black" panose="020B0A04020102020204" pitchFamily="34" charset="0"/>
              </a:rPr>
              <a:t>                        &lt;/ns1:Particle_Representation&gt;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ns1:System_Component</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ns1:CDM</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&lt;/ns1:Vimmp&gt;</a:t>
            </a:r>
          </a:p>
          <a:p>
            <a:pPr>
              <a:spcAft>
                <a:spcPts val="0"/>
              </a:spcAft>
            </a:pPr>
            <a:endParaRPr lang="en-US" sz="1050" dirty="0">
              <a:latin typeface="Arial Black" panose="020B0A04020102020204" pitchFamily="34" charset="0"/>
            </a:endParaRPr>
          </a:p>
        </p:txBody>
      </p:sp>
      <p:sp>
        <p:nvSpPr>
          <p:cNvPr id="7"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LES FORMATS DES JEUX DE DONNEES 1/2 </a:t>
            </a:r>
          </a:p>
        </p:txBody>
      </p:sp>
    </p:spTree>
    <p:extLst>
      <p:ext uri="{BB962C8B-B14F-4D97-AF65-F5344CB8AC3E}">
        <p14:creationId xmlns:p14="http://schemas.microsoft.com/office/powerpoint/2010/main" val="190586197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36</a:t>
            </a:fld>
            <a:endParaRPr lang="fr-FR" altLang="fr-FR" sz="900">
              <a:latin typeface="Times New Roman" panose="02020603050405020304" pitchFamily="18" charset="0"/>
              <a:cs typeface="Arial" panose="020B0604020202020204" pitchFamily="34" charset="0"/>
            </a:endParaRPr>
          </a:p>
        </p:txBody>
      </p:sp>
      <p:sp>
        <p:nvSpPr>
          <p:cNvPr id="10" name="Rectangle 9"/>
          <p:cNvSpPr/>
          <p:nvPr/>
        </p:nvSpPr>
        <p:spPr>
          <a:xfrm>
            <a:off x="363452" y="1057023"/>
            <a:ext cx="8506207" cy="746358"/>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a:solidFill>
                  <a:srgbClr val="002060"/>
                </a:solidFill>
                <a:latin typeface="+mj-lt"/>
                <a:cs typeface="Arial"/>
              </a:rPr>
              <a:t> Sous </a:t>
            </a:r>
            <a:r>
              <a:rPr lang="fr-FR" altLang="fr-FR" sz="2000" dirty="0">
                <a:solidFill>
                  <a:srgbClr val="002060"/>
                </a:solidFill>
                <a:latin typeface="+mj-lt"/>
                <a:cs typeface="Arial"/>
              </a:rPr>
              <a:t>forme de dictionnaire (de </a:t>
            </a:r>
            <a:r>
              <a:rPr lang="fr-FR" altLang="fr-FR" sz="2000">
                <a:solidFill>
                  <a:srgbClr val="002060"/>
                </a:solidFill>
                <a:latin typeface="+mj-lt"/>
                <a:cs typeface="Arial"/>
              </a:rPr>
              <a:t>dictionnaire) </a:t>
            </a:r>
            <a:r>
              <a:rPr lang="fr-FR" altLang="fr-FR" sz="2000">
                <a:solidFill>
                  <a:srgbClr val="002060"/>
                </a:solidFill>
                <a:latin typeface="+mj-lt"/>
              </a:rPr>
              <a:t> </a:t>
            </a:r>
            <a:r>
              <a:rPr lang="fr-FR" altLang="fr-FR" sz="2000" dirty="0">
                <a:solidFill>
                  <a:srgbClr val="002060"/>
                </a:solidFill>
                <a:latin typeface="+mj-lt"/>
                <a:cs typeface="Arial"/>
              </a:rPr>
              <a:t>python</a:t>
            </a: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6" name="Textplatzhalter 1"/>
          <p:cNvSpPr txBox="1">
            <a:spLocks/>
          </p:cNvSpPr>
          <p:nvPr/>
        </p:nvSpPr>
        <p:spPr bwMode="auto">
          <a:xfrm>
            <a:off x="446454" y="1474457"/>
            <a:ext cx="8423205" cy="2203691"/>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r>
              <a:rPr lang="en-US" sz="1050" dirty="0">
                <a:latin typeface="Arial Black" panose="020B0A04020102020204" pitchFamily="34" charset="0"/>
              </a:rPr>
              <a:t> </a:t>
            </a:r>
            <a:r>
              <a:rPr lang="en-US" sz="1400" dirty="0" err="1">
                <a:solidFill>
                  <a:schemeClr val="tx1"/>
                </a:solidFill>
                <a:latin typeface="+mj-lt"/>
              </a:rPr>
              <a:t>dico</a:t>
            </a:r>
            <a:r>
              <a:rPr lang="en-US" sz="1400" dirty="0">
                <a:solidFill>
                  <a:schemeClr val="tx1"/>
                </a:solidFill>
                <a:latin typeface="+mj-lt"/>
              </a:rPr>
              <a:t> = {'CDM': {'</a:t>
            </a:r>
            <a:r>
              <a:rPr lang="en-US" sz="1400" dirty="0" err="1">
                <a:solidFill>
                  <a:schemeClr val="tx1"/>
                </a:solidFill>
                <a:latin typeface="+mj-lt"/>
              </a:rPr>
              <a:t>Simulated_Time_Lapse</a:t>
            </a:r>
            <a:r>
              <a:rPr lang="en-US" sz="1400" dirty="0">
                <a:solidFill>
                  <a:schemeClr val="tx1"/>
                </a:solidFill>
                <a:latin typeface="+mj-lt"/>
              </a:rPr>
              <a:t>‘ : {'Duration':    10.0, </a:t>
            </a:r>
          </a:p>
          <a:p>
            <a:pPr>
              <a:spcAft>
                <a:spcPts val="0"/>
              </a:spcAft>
            </a:pPr>
            <a:r>
              <a:rPr lang="en-US" sz="1400" dirty="0">
                <a:solidFill>
                  <a:schemeClr val="tx1"/>
                </a:solidFill>
                <a:latin typeface="+mj-lt"/>
              </a:rPr>
              <a:t>                                                                     '</a:t>
            </a:r>
            <a:r>
              <a:rPr lang="en-US" sz="1400" dirty="0" err="1">
                <a:solidFill>
                  <a:schemeClr val="tx1"/>
                </a:solidFill>
                <a:latin typeface="+mj-lt"/>
              </a:rPr>
              <a:t>Initial_Time</a:t>
            </a:r>
            <a:r>
              <a:rPr lang="en-US" sz="1400" dirty="0">
                <a:solidFill>
                  <a:schemeClr val="tx1"/>
                </a:solidFill>
                <a:latin typeface="+mj-lt"/>
              </a:rPr>
              <a:t>': 0.0},</a:t>
            </a:r>
          </a:p>
          <a:p>
            <a:pPr>
              <a:spcAft>
                <a:spcPts val="0"/>
              </a:spcAft>
            </a:pPr>
            <a:r>
              <a:rPr lang="en-US" sz="1400" dirty="0">
                <a:solidFill>
                  <a:schemeClr val="tx1"/>
                </a:solidFill>
                <a:latin typeface="+mj-lt"/>
              </a:rPr>
              <a:t>        		       '</a:t>
            </a:r>
            <a:r>
              <a:rPr lang="en-US" sz="1400" dirty="0" err="1">
                <a:solidFill>
                  <a:schemeClr val="tx1"/>
                </a:solidFill>
                <a:latin typeface="+mj-lt"/>
              </a:rPr>
              <a:t>System_Component</a:t>
            </a:r>
            <a:r>
              <a:rPr lang="en-US" sz="1400" dirty="0">
                <a:solidFill>
                  <a:schemeClr val="tx1"/>
                </a:solidFill>
                <a:latin typeface="+mj-lt"/>
              </a:rPr>
              <a:t>‘      : {'Component': '</a:t>
            </a:r>
            <a:r>
              <a:rPr lang="en-US" sz="1400" dirty="0" err="1">
                <a:solidFill>
                  <a:schemeClr val="tx1"/>
                </a:solidFill>
                <a:latin typeface="+mj-lt"/>
              </a:rPr>
              <a:t>Classical_Particle</a:t>
            </a:r>
            <a:r>
              <a:rPr lang="en-US" sz="1400" dirty="0">
                <a:solidFill>
                  <a:schemeClr val="tx1"/>
                </a:solidFill>
                <a:latin typeface="+mj-lt"/>
              </a:rPr>
              <a:t> System',</a:t>
            </a:r>
          </a:p>
          <a:p>
            <a:pPr>
              <a:spcAft>
                <a:spcPts val="0"/>
              </a:spcAft>
            </a:pPr>
            <a:r>
              <a:rPr lang="en-US" sz="1400" dirty="0">
                <a:solidFill>
                  <a:schemeClr val="tx1"/>
                </a:solidFill>
                <a:latin typeface="+mj-lt"/>
              </a:rPr>
              <a:t>                    		                                '</a:t>
            </a:r>
            <a:r>
              <a:rPr lang="en-US" sz="1400" dirty="0" err="1">
                <a:solidFill>
                  <a:schemeClr val="tx1"/>
                </a:solidFill>
                <a:latin typeface="+mj-lt"/>
              </a:rPr>
              <a:t>General_Level_Of_Description</a:t>
            </a:r>
            <a:r>
              <a:rPr lang="en-US" sz="1400" dirty="0">
                <a:solidFill>
                  <a:schemeClr val="tx1"/>
                </a:solidFill>
                <a:latin typeface="+mj-lt"/>
              </a:rPr>
              <a:t>': 'Mesoscopic',</a:t>
            </a:r>
          </a:p>
          <a:p>
            <a:pPr>
              <a:spcAft>
                <a:spcPts val="0"/>
              </a:spcAft>
            </a:pPr>
            <a:r>
              <a:rPr lang="en-US" sz="1400" dirty="0">
                <a:solidFill>
                  <a:schemeClr val="tx1"/>
                </a:solidFill>
                <a:latin typeface="+mj-lt"/>
              </a:rPr>
              <a:t>                                                                     '</a:t>
            </a:r>
            <a:r>
              <a:rPr lang="en-US" sz="1400" dirty="0" err="1">
                <a:solidFill>
                  <a:schemeClr val="tx1"/>
                </a:solidFill>
                <a:latin typeface="+mj-lt"/>
              </a:rPr>
              <a:t>Particle_Representation</a:t>
            </a:r>
            <a:r>
              <a:rPr lang="en-US" sz="1400" dirty="0">
                <a:solidFill>
                  <a:schemeClr val="tx1"/>
                </a:solidFill>
                <a:latin typeface="+mj-lt"/>
              </a:rPr>
              <a:t>': </a:t>
            </a:r>
          </a:p>
          <a:p>
            <a:pPr>
              <a:spcAft>
                <a:spcPts val="0"/>
              </a:spcAft>
            </a:pPr>
            <a:r>
              <a:rPr lang="en-US" sz="1400" dirty="0">
                <a:solidFill>
                  <a:schemeClr val="tx1"/>
                </a:solidFill>
                <a:latin typeface="+mj-lt"/>
              </a:rPr>
              <a:t>                                                                           {'</a:t>
            </a:r>
            <a:r>
              <a:rPr lang="en-US" sz="1400" dirty="0" err="1">
                <a:solidFill>
                  <a:schemeClr val="tx1"/>
                </a:solidFill>
                <a:latin typeface="+mj-lt"/>
              </a:rPr>
              <a:t>Representation_Type</a:t>
            </a:r>
            <a:r>
              <a:rPr lang="en-US" sz="1400" dirty="0">
                <a:solidFill>
                  <a:schemeClr val="tx1"/>
                </a:solidFill>
                <a:latin typeface="+mj-lt"/>
              </a:rPr>
              <a:t>': '</a:t>
            </a:r>
            <a:r>
              <a:rPr lang="en-US" sz="1400" dirty="0" err="1">
                <a:solidFill>
                  <a:schemeClr val="tx1"/>
                </a:solidFill>
                <a:latin typeface="+mj-lt"/>
              </a:rPr>
              <a:t>Field_Representation</a:t>
            </a:r>
            <a:r>
              <a:rPr lang="en-US" sz="1400" dirty="0">
                <a:solidFill>
                  <a:schemeClr val="tx1"/>
                </a:solidFill>
                <a:latin typeface="+mj-lt"/>
              </a:rPr>
              <a:t>',</a:t>
            </a:r>
          </a:p>
          <a:p>
            <a:pPr>
              <a:spcAft>
                <a:spcPts val="0"/>
              </a:spcAft>
            </a:pPr>
            <a:r>
              <a:rPr lang="en-US" sz="1400" dirty="0">
                <a:solidFill>
                  <a:schemeClr val="tx1"/>
                </a:solidFill>
                <a:latin typeface="+mj-lt"/>
              </a:rPr>
              <a:t>                                                                            '</a:t>
            </a:r>
            <a:r>
              <a:rPr lang="en-US" sz="1400" dirty="0" err="1">
                <a:solidFill>
                  <a:schemeClr val="tx1"/>
                </a:solidFill>
                <a:latin typeface="+mj-lt"/>
              </a:rPr>
              <a:t>Type_Of_Entity</a:t>
            </a:r>
            <a:r>
              <a:rPr lang="en-US" sz="1400" dirty="0">
                <a:solidFill>
                  <a:schemeClr val="tx1"/>
                </a:solidFill>
                <a:latin typeface="+mj-lt"/>
              </a:rPr>
              <a:t>': 'Atom'}},</a:t>
            </a:r>
          </a:p>
          <a:p>
            <a:pPr>
              <a:spcAft>
                <a:spcPts val="0"/>
              </a:spcAft>
            </a:pPr>
            <a:r>
              <a:rPr lang="en-US" sz="1400" dirty="0">
                <a:solidFill>
                  <a:schemeClr val="tx1"/>
                </a:solidFill>
                <a:latin typeface="+mj-lt"/>
              </a:rPr>
              <a:t>                         'Title': 'My Study'}}</a:t>
            </a:r>
          </a:p>
        </p:txBody>
      </p:sp>
      <p:sp>
        <p:nvSpPr>
          <p:cNvPr id="7" name="Rectangle 6"/>
          <p:cNvSpPr/>
          <p:nvPr/>
        </p:nvSpPr>
        <p:spPr>
          <a:xfrm>
            <a:off x="344554" y="3588193"/>
            <a:ext cx="8506207" cy="1061829"/>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Sous forme de fonctions python ou avec un format spécifique</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panose="020B0604020202020204" pitchFamily="34" charset="0"/>
                <a:ea typeface="DejaVu Sans" pitchFamily="34" charset="0"/>
              </a:rPr>
              <a:t>MDM maintient une dualité jeu de données / enchainement de fonctions</a:t>
            </a:r>
          </a:p>
          <a:p>
            <a:pPr eaLnBrk="1">
              <a:spcBef>
                <a:spcPts val="300"/>
              </a:spcBef>
              <a:buClr>
                <a:srgbClr val="001A70"/>
              </a:buClr>
              <a:defRPr/>
            </a:pPr>
            <a:endParaRPr lang="fr-FR" altLang="fr-FR" sz="2000" dirty="0">
              <a:solidFill>
                <a:srgbClr val="002060"/>
              </a:solidFill>
              <a:latin typeface="+mj-lt"/>
            </a:endParaRPr>
          </a:p>
        </p:txBody>
      </p:sp>
      <p:sp>
        <p:nvSpPr>
          <p:cNvPr id="11" name="Rectangle 10"/>
          <p:cNvSpPr/>
          <p:nvPr/>
        </p:nvSpPr>
        <p:spPr>
          <a:xfrm>
            <a:off x="363451" y="4551542"/>
            <a:ext cx="8506207" cy="1377300"/>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Les jeux de données peuvent être écrits :</a:t>
            </a:r>
          </a:p>
          <a:p>
            <a:pPr lvl="1" eaLnBrk="1">
              <a:spcBef>
                <a:spcPts val="300"/>
              </a:spcBef>
              <a:buClr>
                <a:srgbClr val="001A70"/>
              </a:buClr>
              <a:buSzPct val="100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altLang="fr-FR" dirty="0">
                <a:solidFill>
                  <a:srgbClr val="000000"/>
                </a:solidFill>
                <a:latin typeface="Arial" panose="020B0604020202020204" pitchFamily="34" charset="0"/>
                <a:ea typeface="DejaVu Sans" pitchFamily="34" charset="0"/>
              </a:rPr>
              <a:t>soit en utilisant l’IHM</a:t>
            </a:r>
          </a:p>
          <a:p>
            <a:pPr lvl="1" eaLnBrk="1">
              <a:spcBef>
                <a:spcPts val="300"/>
              </a:spcBef>
              <a:buClr>
                <a:srgbClr val="001A70"/>
              </a:buClr>
              <a:buSzPct val="100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altLang="fr-FR" dirty="0">
                <a:solidFill>
                  <a:srgbClr val="000000"/>
                </a:solidFill>
                <a:latin typeface="Arial" panose="020B0604020202020204" pitchFamily="34" charset="0"/>
                <a:ea typeface="DejaVu Sans" pitchFamily="34" charset="0"/>
              </a:rPr>
              <a:t>soit en utilisant les drivers GENERES </a:t>
            </a: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8"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LES FORMATS DES JEUX DE DONNEES 2/2 </a:t>
            </a:r>
          </a:p>
        </p:txBody>
      </p:sp>
    </p:spTree>
    <p:extLst>
      <p:ext uri="{BB962C8B-B14F-4D97-AF65-F5344CB8AC3E}">
        <p14:creationId xmlns:p14="http://schemas.microsoft.com/office/powerpoint/2010/main" val="407477220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37</a:t>
            </a:fld>
            <a:endParaRPr lang="fr-FR" altLang="fr-FR" sz="900">
              <a:latin typeface="Times New Roman" panose="02020603050405020304" pitchFamily="18" charset="0"/>
              <a:cs typeface="Arial" panose="020B0604020202020204" pitchFamily="34" charset="0"/>
            </a:endParaRPr>
          </a:p>
        </p:txBody>
      </p:sp>
      <p:sp>
        <p:nvSpPr>
          <p:cNvPr id="5" name="ZoneTexte 4"/>
          <p:cNvSpPr txBox="1"/>
          <p:nvPr/>
        </p:nvSpPr>
        <p:spPr>
          <a:xfrm>
            <a:off x="418529" y="3938888"/>
            <a:ext cx="5256827" cy="2271391"/>
          </a:xfrm>
          <a:prstGeom prst="rect">
            <a:avLst/>
          </a:prstGeom>
          <a:solidFill>
            <a:srgbClr val="EEFFCC"/>
          </a:solidFill>
        </p:spPr>
        <p:txBody>
          <a:bodyPr wrap="square" rtlCol="0">
            <a:spAutoFit/>
          </a:bodyPr>
          <a:lstStyle/>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&gt;&gt; ('</a:t>
            </a:r>
            <a:r>
              <a:rPr lang="fr-FR" sz="1200" dirty="0" err="1">
                <a:solidFill>
                  <a:srgbClr val="000000"/>
                </a:solidFill>
                <a:latin typeface="Frutiger LT Com 55 Roman" pitchFamily="34" charset="0"/>
                <a:cs typeface="+mn-cs"/>
              </a:rPr>
              <a:t>Initial_Time</a:t>
            </a:r>
            <a:r>
              <a:rPr lang="fr-FR" sz="1200" dirty="0">
                <a:solidFill>
                  <a:srgbClr val="000000"/>
                </a:solidFill>
                <a:latin typeface="Frutiger LT Com 55 Roman" pitchFamily="34" charset="0"/>
                <a:cs typeface="+mn-cs"/>
              </a:rPr>
              <a:t>', 0.0)</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&gt;&gt; ('</a:t>
            </a:r>
            <a:r>
              <a:rPr lang="fr-FR" sz="1200" dirty="0" err="1">
                <a:solidFill>
                  <a:srgbClr val="000000"/>
                </a:solidFill>
                <a:latin typeface="Frutiger LT Com 55 Roman" pitchFamily="34" charset="0"/>
                <a:cs typeface="+mn-cs"/>
              </a:rPr>
              <a:t>Simulated_Time_Lapse.Duration</a:t>
            </a:r>
            <a:r>
              <a:rPr lang="fr-FR" sz="1200" dirty="0">
                <a:solidFill>
                  <a:srgbClr val="000000"/>
                </a:solidFill>
                <a:latin typeface="Frutiger LT Com 55 Roman" pitchFamily="34" charset="0"/>
                <a:cs typeface="+mn-cs"/>
              </a:rPr>
              <a:t>', 10.0)</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a:t>
            </a:r>
            <a:r>
              <a:rPr lang="fr-FR" sz="1200" dirty="0" err="1">
                <a:solidFill>
                  <a:srgbClr val="000000"/>
                </a:solidFill>
                <a:latin typeface="Frutiger LT Com 55 Roman" pitchFamily="34" charset="0"/>
                <a:cs typeface="+mn-cs"/>
              </a:rPr>
              <a:t>xml</a:t>
            </a:r>
            <a:r>
              <a:rPr lang="fr-FR" sz="1200" dirty="0">
                <a:solidFill>
                  <a:srgbClr val="000000"/>
                </a:solidFill>
                <a:latin typeface="Frutiger LT Com 55 Roman" pitchFamily="34" charset="0"/>
                <a:cs typeface="+mn-cs"/>
              </a:rPr>
              <a:t> version="1.0" ?&gt;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&lt;ns1:Vimmp xmlns:ns1="http://chercheurs.edf.com/logiciels/</a:t>
            </a:r>
            <a:r>
              <a:rPr lang="fr-FR" sz="1200" dirty="0" err="1">
                <a:solidFill>
                  <a:srgbClr val="000000"/>
                </a:solidFill>
                <a:latin typeface="Frutiger LT Com 55 Roman" pitchFamily="34" charset="0"/>
                <a:cs typeface="+mn-cs"/>
              </a:rPr>
              <a:t>Vimmp</a:t>
            </a:r>
            <a:r>
              <a:rPr lang="fr-FR" sz="1200" dirty="0">
                <a:solidFill>
                  <a:srgbClr val="000000"/>
                </a:solidFill>
                <a:latin typeface="Frutiger LT Com 55 Roman" pitchFamily="34" charset="0"/>
                <a:cs typeface="+mn-cs"/>
              </a:rPr>
              <a:t>"&gt;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&lt;ns1:CDM&gt;</a:t>
            </a:r>
          </a:p>
          <a:p>
            <a:pPr defTabSz="914400" eaLnBrk="1" hangingPunct="1">
              <a:spcAft>
                <a:spcPts val="0"/>
              </a:spcAft>
              <a:buFont typeface="Wingdings" pitchFamily="2" charset="2"/>
              <a:buNone/>
            </a:pPr>
            <a:r>
              <a:rPr lang="fr-FR" sz="1200" dirty="0">
                <a:solidFill>
                  <a:srgbClr val="000000"/>
                </a:solidFill>
                <a:latin typeface="Frutiger LT Com 55 Roman" pitchFamily="34" charset="0"/>
                <a:cs typeface="+mn-cs"/>
              </a:rPr>
              <a:t>           &lt;ns1:Title&gt;</a:t>
            </a:r>
            <a:r>
              <a:rPr lang="fr-FR" sz="1200" dirty="0" err="1">
                <a:solidFill>
                  <a:srgbClr val="000000"/>
                </a:solidFill>
                <a:latin typeface="Frutiger LT Com 55 Roman" pitchFamily="34" charset="0"/>
                <a:cs typeface="+mn-cs"/>
              </a:rPr>
              <a:t>My</a:t>
            </a:r>
            <a:r>
              <a:rPr lang="fr-FR" sz="1200" dirty="0">
                <a:solidFill>
                  <a:srgbClr val="000000"/>
                </a:solidFill>
                <a:latin typeface="Frutiger LT Com 55 Roman" pitchFamily="34" charset="0"/>
                <a:cs typeface="+mn-cs"/>
              </a:rPr>
              <a:t> </a:t>
            </a:r>
            <a:r>
              <a:rPr lang="fr-FR" sz="1200" dirty="0" err="1">
                <a:solidFill>
                  <a:srgbClr val="000000"/>
                </a:solidFill>
                <a:latin typeface="Frutiger LT Com 55 Roman" pitchFamily="34" charset="0"/>
                <a:cs typeface="+mn-cs"/>
              </a:rPr>
              <a:t>Study</a:t>
            </a:r>
            <a:r>
              <a:rPr lang="fr-FR" sz="1200" dirty="0">
                <a:solidFill>
                  <a:srgbClr val="000000"/>
                </a:solidFill>
                <a:latin typeface="Frutiger LT Com 55 Roman" pitchFamily="34" charset="0"/>
                <a:cs typeface="+mn-cs"/>
              </a:rPr>
              <a:t>&lt;/ns1:Title&gt;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&lt;ns1:Simulated_Time_Lapse&gt;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&lt;ns1:Initial_Time&gt;0.0&lt;/ns1:Initial_Time&gt;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&lt;ns1:Duration&gt;10.0&lt;/ns1:Duration&gt;</a:t>
            </a:r>
          </a:p>
        </p:txBody>
      </p:sp>
      <p:sp>
        <p:nvSpPr>
          <p:cNvPr id="6" name="Rectangle 5"/>
          <p:cNvSpPr/>
          <p:nvPr/>
        </p:nvSpPr>
        <p:spPr>
          <a:xfrm>
            <a:off x="313579" y="895341"/>
            <a:ext cx="8506207" cy="1785104"/>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Les drivers sont générés à partir du XSD grâce à des outils libres</a:t>
            </a:r>
          </a:p>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Le code (à écrire ) :</a:t>
            </a: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4" name="Textplatzhalter 1"/>
          <p:cNvSpPr txBox="1">
            <a:spLocks/>
          </p:cNvSpPr>
          <p:nvPr/>
        </p:nvSpPr>
        <p:spPr bwMode="auto">
          <a:xfrm>
            <a:off x="430924" y="1604758"/>
            <a:ext cx="5970015" cy="2016277"/>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import </a:t>
            </a:r>
            <a:r>
              <a:rPr lang="en-US" sz="1050" dirty="0" err="1">
                <a:latin typeface="Arial Black" panose="020B0A04020102020204" pitchFamily="34" charset="0"/>
              </a:rPr>
              <a:t>cata_gromacs_genere</a:t>
            </a:r>
            <a:r>
              <a:rPr lang="en-US" sz="1050" dirty="0">
                <a:latin typeface="Arial Black" panose="020B0A04020102020204" pitchFamily="34" charset="0"/>
              </a:rPr>
              <a:t> as </a:t>
            </a:r>
            <a:r>
              <a:rPr lang="en-US" sz="1050" dirty="0" err="1">
                <a:latin typeface="Arial Black" panose="020B0A04020102020204" pitchFamily="34" charset="0"/>
              </a:rPr>
              <a:t>mdm</a:t>
            </a: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import </a:t>
            </a:r>
            <a:r>
              <a:rPr lang="en-US" sz="1050" dirty="0" err="1">
                <a:latin typeface="Arial Black" panose="020B0A04020102020204" pitchFamily="34" charset="0"/>
              </a:rPr>
              <a:t>pyxb</a:t>
            </a:r>
            <a:r>
              <a:rPr lang="en-US" sz="1050" dirty="0">
                <a:latin typeface="Arial Black" panose="020B0A04020102020204" pitchFamily="34" charset="0"/>
              </a:rPr>
              <a:t>, </a:t>
            </a:r>
            <a:r>
              <a:rPr lang="en-US" sz="1050" dirty="0" err="1">
                <a:latin typeface="Arial Black" panose="020B0A04020102020204" pitchFamily="34" charset="0"/>
              </a:rPr>
              <a:t>os</a:t>
            </a: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a:p>
            <a:pPr>
              <a:spcAft>
                <a:spcPts val="0"/>
              </a:spcAft>
            </a:pPr>
            <a:r>
              <a:rPr lang="en-US" sz="1050" dirty="0" err="1">
                <a:latin typeface="Arial Black" panose="020B0A04020102020204" pitchFamily="34" charset="0"/>
              </a:rPr>
              <a:t>xmltestpath</a:t>
            </a:r>
            <a:r>
              <a:rPr lang="en-US" sz="1050" dirty="0">
                <a:latin typeface="Arial Black" panose="020B0A04020102020204" pitchFamily="34" charset="0"/>
              </a:rPr>
              <a:t>=‘example_1.xml’</a:t>
            </a:r>
          </a:p>
          <a:p>
            <a:pPr>
              <a:spcAft>
                <a:spcPts val="0"/>
              </a:spcAft>
            </a:pPr>
            <a:r>
              <a:rPr lang="en-US" sz="1050" dirty="0" err="1">
                <a:latin typeface="Arial Black" panose="020B0A04020102020204" pitchFamily="34" charset="0"/>
              </a:rPr>
              <a:t>jdd</a:t>
            </a:r>
            <a:r>
              <a:rPr lang="en-US" sz="1050" dirty="0">
                <a:latin typeface="Arial Black" panose="020B0A04020102020204" pitchFamily="34" charset="0"/>
              </a:rPr>
              <a:t> = </a:t>
            </a:r>
            <a:r>
              <a:rPr lang="en-US" sz="1050" dirty="0" err="1">
                <a:latin typeface="Arial Black" panose="020B0A04020102020204" pitchFamily="34" charset="0"/>
              </a:rPr>
              <a:t>mdm.CreateFromDocument</a:t>
            </a:r>
            <a:r>
              <a:rPr lang="en-US" sz="1050" dirty="0">
                <a:latin typeface="Arial Black" panose="020B0A04020102020204" pitchFamily="34" charset="0"/>
              </a:rPr>
              <a:t>(open(</a:t>
            </a:r>
            <a:r>
              <a:rPr lang="en-US" sz="1050" dirty="0" err="1">
                <a:latin typeface="Arial Black" panose="020B0A04020102020204" pitchFamily="34" charset="0"/>
              </a:rPr>
              <a:t>xmltestpath</a:t>
            </a:r>
            <a:r>
              <a:rPr lang="en-US" sz="1050" dirty="0">
                <a:latin typeface="Arial Black" panose="020B0A04020102020204" pitchFamily="34" charset="0"/>
              </a:rPr>
              <a:t>).read())</a:t>
            </a:r>
          </a:p>
          <a:p>
            <a:pPr>
              <a:spcAft>
                <a:spcPts val="0"/>
              </a:spcAft>
            </a:pPr>
            <a:r>
              <a:rPr lang="en-US" sz="1050" dirty="0" err="1">
                <a:latin typeface="Arial Black" panose="020B0A04020102020204" pitchFamily="34" charset="0"/>
              </a:rPr>
              <a:t>em_mdc</a:t>
            </a:r>
            <a:r>
              <a:rPr lang="en-US" sz="1050" dirty="0">
                <a:latin typeface="Arial Black" panose="020B0A04020102020204" pitchFamily="34" charset="0"/>
              </a:rPr>
              <a:t>=</a:t>
            </a:r>
            <a:r>
              <a:rPr lang="en-US" sz="1050" dirty="0" err="1">
                <a:latin typeface="Arial Black" panose="020B0A04020102020204" pitchFamily="34" charset="0"/>
              </a:rPr>
              <a:t>jdd.CDM</a:t>
            </a:r>
            <a:r>
              <a:rPr lang="en-US" sz="1050" dirty="0">
                <a:latin typeface="Arial Black" panose="020B0A04020102020204" pitchFamily="34" charset="0"/>
              </a:rPr>
              <a:t>[0]</a:t>
            </a:r>
          </a:p>
          <a:p>
            <a:pPr>
              <a:spcAft>
                <a:spcPts val="0"/>
              </a:spcAft>
            </a:pP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print(‘Initial_Time’,</a:t>
            </a:r>
            <a:r>
              <a:rPr lang="en-US" sz="1050" dirty="0" err="1">
                <a:latin typeface="Arial Black" panose="020B0A04020102020204" pitchFamily="34" charset="0"/>
              </a:rPr>
              <a:t>em_mdc.Simulated_Time_Lapse</a:t>
            </a:r>
            <a:r>
              <a:rPr lang="en-US" sz="1050" dirty="0">
                <a:latin typeface="Arial Black" panose="020B0A04020102020204" pitchFamily="34" charset="0"/>
              </a:rPr>
              <a:t>. </a:t>
            </a:r>
            <a:r>
              <a:rPr lang="en-US" sz="1050" dirty="0" err="1">
                <a:latin typeface="Arial Black" panose="020B0A04020102020204" pitchFamily="34" charset="0"/>
              </a:rPr>
              <a:t>Initial_Time</a:t>
            </a:r>
            <a:r>
              <a:rPr lang="en-US" sz="1050" dirty="0">
                <a:latin typeface="Arial Black" panose="020B0A04020102020204" pitchFamily="34" charset="0"/>
              </a:rPr>
              <a:t>)</a:t>
            </a:r>
          </a:p>
          <a:p>
            <a:pPr>
              <a:spcAft>
                <a:spcPts val="0"/>
              </a:spcAft>
            </a:pPr>
            <a:r>
              <a:rPr lang="en-US" sz="1050" dirty="0">
                <a:latin typeface="Arial Black" panose="020B0A04020102020204" pitchFamily="34" charset="0"/>
              </a:rPr>
              <a:t>print(‘Simulated_Time_Lapse.Duration’,em_mdc.Simulated_Time_Lapse.Duration)</a:t>
            </a:r>
          </a:p>
          <a:p>
            <a:pPr>
              <a:spcAft>
                <a:spcPts val="0"/>
              </a:spcAft>
            </a:pPr>
            <a:r>
              <a:rPr lang="en-US" sz="1050" dirty="0">
                <a:latin typeface="Arial Black" panose="020B0A04020102020204" pitchFamily="34" charset="0"/>
              </a:rPr>
              <a:t>print </a:t>
            </a:r>
            <a:r>
              <a:rPr lang="en-US" sz="1050" dirty="0" err="1">
                <a:latin typeface="Arial Black" panose="020B0A04020102020204" pitchFamily="34" charset="0"/>
              </a:rPr>
              <a:t>jdd.toDOM</a:t>
            </a:r>
            <a:r>
              <a:rPr lang="en-US" sz="1050" dirty="0">
                <a:latin typeface="Arial Black" panose="020B0A04020102020204" pitchFamily="34" charset="0"/>
              </a:rPr>
              <a:t>().</a:t>
            </a:r>
            <a:r>
              <a:rPr lang="en-US" sz="1050" dirty="0" err="1">
                <a:latin typeface="Arial Black" panose="020B0A04020102020204" pitchFamily="34" charset="0"/>
              </a:rPr>
              <a:t>toprettyxml</a:t>
            </a:r>
            <a:r>
              <a:rPr lang="en-US" sz="1050" dirty="0">
                <a:latin typeface="Arial Black" panose="020B0A04020102020204" pitchFamily="34" charset="0"/>
              </a:rPr>
              <a:t>()</a:t>
            </a:r>
          </a:p>
          <a:p>
            <a:pPr>
              <a:spcAft>
                <a:spcPts val="0"/>
              </a:spcAft>
            </a:pPr>
            <a:endParaRPr lang="en-US" sz="1050" dirty="0">
              <a:latin typeface="Arial Black" panose="020B0A04020102020204" pitchFamily="34" charset="0"/>
            </a:endParaRPr>
          </a:p>
        </p:txBody>
      </p:sp>
      <p:sp>
        <p:nvSpPr>
          <p:cNvPr id="7" name="Textplatzhalter 1"/>
          <p:cNvSpPr txBox="1">
            <a:spLocks/>
          </p:cNvSpPr>
          <p:nvPr/>
        </p:nvSpPr>
        <p:spPr bwMode="auto">
          <a:xfrm>
            <a:off x="6657318" y="1527683"/>
            <a:ext cx="2107884" cy="26644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r>
              <a:rPr lang="en-US" sz="1600" dirty="0">
                <a:solidFill>
                  <a:srgbClr val="002060"/>
                </a:solidFill>
                <a:latin typeface="+mj-lt"/>
                <a:cs typeface="Arial" panose="020B0604020202020204" pitchFamily="34" charset="0"/>
              </a:rPr>
              <a:t>Importer l ‘</a:t>
            </a:r>
            <a:r>
              <a:rPr lang="en-US" sz="1600" dirty="0" err="1">
                <a:solidFill>
                  <a:srgbClr val="002060"/>
                </a:solidFill>
                <a:latin typeface="+mj-lt"/>
                <a:cs typeface="Arial" panose="020B0604020202020204" pitchFamily="34" charset="0"/>
              </a:rPr>
              <a:t>outil</a:t>
            </a:r>
            <a:r>
              <a:rPr lang="en-US" sz="1600" dirty="0">
                <a:solidFill>
                  <a:srgbClr val="002060"/>
                </a:solidFill>
                <a:latin typeface="+mj-lt"/>
                <a:cs typeface="Arial" panose="020B0604020202020204" pitchFamily="34" charset="0"/>
              </a:rPr>
              <a:t> et le catalogue</a:t>
            </a:r>
          </a:p>
          <a:p>
            <a:pPr>
              <a:spcAft>
                <a:spcPts val="0"/>
              </a:spcAft>
            </a:pPr>
            <a:endParaRPr lang="en-US" sz="1600" dirty="0">
              <a:solidFill>
                <a:srgbClr val="002060"/>
              </a:solidFill>
              <a:latin typeface="+mj-lt"/>
              <a:cs typeface="Arial" panose="020B0604020202020204" pitchFamily="34" charset="0"/>
            </a:endParaRPr>
          </a:p>
        </p:txBody>
      </p:sp>
      <p:cxnSp>
        <p:nvCxnSpPr>
          <p:cNvPr id="3" name="Connecteur droit avec flèche 2"/>
          <p:cNvCxnSpPr/>
          <p:nvPr/>
        </p:nvCxnSpPr>
        <p:spPr bwMode="auto">
          <a:xfrm flipV="1">
            <a:off x="3698695" y="1929843"/>
            <a:ext cx="2597329" cy="10274"/>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9" name="Connecteur droit avec flèche 8"/>
          <p:cNvCxnSpPr/>
          <p:nvPr/>
        </p:nvCxnSpPr>
        <p:spPr bwMode="auto">
          <a:xfrm flipV="1">
            <a:off x="4997359" y="2567821"/>
            <a:ext cx="1298665" cy="11973"/>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
        <p:nvSpPr>
          <p:cNvPr id="12" name="Textplatzhalter 1"/>
          <p:cNvSpPr txBox="1">
            <a:spLocks/>
          </p:cNvSpPr>
          <p:nvPr/>
        </p:nvSpPr>
        <p:spPr bwMode="auto">
          <a:xfrm>
            <a:off x="6694188" y="2039506"/>
            <a:ext cx="2034144" cy="54163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600" dirty="0">
              <a:solidFill>
                <a:srgbClr val="002060"/>
              </a:solidFill>
              <a:latin typeface="+mj-lt"/>
              <a:cs typeface="Arial" panose="020B0604020202020204" pitchFamily="34" charset="0"/>
            </a:endParaRPr>
          </a:p>
          <a:p>
            <a:pPr>
              <a:spcAft>
                <a:spcPts val="0"/>
              </a:spcAft>
            </a:pPr>
            <a:r>
              <a:rPr lang="en-US" sz="1600" dirty="0">
                <a:solidFill>
                  <a:srgbClr val="002060"/>
                </a:solidFill>
                <a:latin typeface="+mj-lt"/>
                <a:cs typeface="Arial" panose="020B0604020202020204" pitchFamily="34" charset="0"/>
              </a:rPr>
              <a:t>Lire le </a:t>
            </a:r>
            <a:r>
              <a:rPr lang="en-US" sz="1600" dirty="0" err="1">
                <a:solidFill>
                  <a:srgbClr val="002060"/>
                </a:solidFill>
                <a:latin typeface="+mj-lt"/>
                <a:cs typeface="Arial" panose="020B0604020202020204" pitchFamily="34" charset="0"/>
              </a:rPr>
              <a:t>jeu</a:t>
            </a:r>
            <a:r>
              <a:rPr lang="en-US" sz="1600" dirty="0">
                <a:solidFill>
                  <a:srgbClr val="002060"/>
                </a:solidFill>
                <a:latin typeface="+mj-lt"/>
                <a:cs typeface="Arial" panose="020B0604020202020204" pitchFamily="34" charset="0"/>
              </a:rPr>
              <a:t> de </a:t>
            </a:r>
            <a:r>
              <a:rPr lang="en-US" sz="1600" dirty="0" err="1">
                <a:solidFill>
                  <a:srgbClr val="002060"/>
                </a:solidFill>
                <a:latin typeface="+mj-lt"/>
                <a:cs typeface="Arial" panose="020B0604020202020204" pitchFamily="34" charset="0"/>
              </a:rPr>
              <a:t>données</a:t>
            </a:r>
            <a:r>
              <a:rPr lang="en-US" sz="1600" dirty="0">
                <a:solidFill>
                  <a:srgbClr val="002060"/>
                </a:solidFill>
                <a:latin typeface="+mj-lt"/>
                <a:cs typeface="Arial" panose="020B0604020202020204" pitchFamily="34" charset="0"/>
              </a:rPr>
              <a:t> </a:t>
            </a:r>
            <a:r>
              <a:rPr lang="en-US" sz="1600" dirty="0" err="1">
                <a:solidFill>
                  <a:srgbClr val="002060"/>
                </a:solidFill>
                <a:latin typeface="+mj-lt"/>
                <a:cs typeface="Arial" panose="020B0604020202020204" pitchFamily="34" charset="0"/>
              </a:rPr>
              <a:t>dans</a:t>
            </a:r>
            <a:r>
              <a:rPr lang="en-US" sz="1600" dirty="0">
                <a:solidFill>
                  <a:srgbClr val="002060"/>
                </a:solidFill>
                <a:latin typeface="+mj-lt"/>
                <a:cs typeface="Arial" panose="020B0604020202020204" pitchFamily="34" charset="0"/>
              </a:rPr>
              <a:t> un objet </a:t>
            </a:r>
          </a:p>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p:txBody>
      </p:sp>
      <p:sp>
        <p:nvSpPr>
          <p:cNvPr id="13" name="Textplatzhalter 1"/>
          <p:cNvSpPr txBox="1">
            <a:spLocks/>
          </p:cNvSpPr>
          <p:nvPr/>
        </p:nvSpPr>
        <p:spPr bwMode="auto">
          <a:xfrm>
            <a:off x="6739202" y="2897140"/>
            <a:ext cx="2671925" cy="44395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r>
              <a:rPr lang="en-US" sz="1600" dirty="0" err="1">
                <a:solidFill>
                  <a:srgbClr val="002060"/>
                </a:solidFill>
                <a:latin typeface="+mj-lt"/>
                <a:cs typeface="Arial" panose="020B0604020202020204" pitchFamily="34" charset="0"/>
              </a:rPr>
              <a:t>Utilisation</a:t>
            </a:r>
            <a:r>
              <a:rPr lang="en-US" sz="1600" dirty="0">
                <a:solidFill>
                  <a:srgbClr val="002060"/>
                </a:solidFill>
                <a:latin typeface="+mj-lt"/>
                <a:cs typeface="Arial" panose="020B0604020202020204" pitchFamily="34" charset="0"/>
              </a:rPr>
              <a:t> des </a:t>
            </a:r>
          </a:p>
          <a:p>
            <a:pPr>
              <a:spcAft>
                <a:spcPts val="0"/>
              </a:spcAft>
            </a:pPr>
            <a:r>
              <a:rPr lang="en-US" sz="1600" dirty="0" err="1">
                <a:solidFill>
                  <a:srgbClr val="002060"/>
                </a:solidFill>
                <a:latin typeface="+mj-lt"/>
                <a:cs typeface="Arial" panose="020B0604020202020204" pitchFamily="34" charset="0"/>
              </a:rPr>
              <a:t>noms</a:t>
            </a:r>
            <a:r>
              <a:rPr lang="en-US" sz="1600" dirty="0">
                <a:solidFill>
                  <a:srgbClr val="002060"/>
                </a:solidFill>
                <a:latin typeface="+mj-lt"/>
                <a:cs typeface="Arial" panose="020B0604020202020204" pitchFamily="34" charset="0"/>
              </a:rPr>
              <a:t> métier </a:t>
            </a:r>
          </a:p>
        </p:txBody>
      </p:sp>
      <p:cxnSp>
        <p:nvCxnSpPr>
          <p:cNvPr id="20" name="Connecteur droit avec flèche 19"/>
          <p:cNvCxnSpPr/>
          <p:nvPr/>
        </p:nvCxnSpPr>
        <p:spPr bwMode="auto">
          <a:xfrm>
            <a:off x="4616553" y="3341095"/>
            <a:ext cx="1679471" cy="0"/>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
        <p:nvSpPr>
          <p:cNvPr id="23" name="Rectangle 22"/>
          <p:cNvSpPr/>
          <p:nvPr/>
        </p:nvSpPr>
        <p:spPr>
          <a:xfrm>
            <a:off x="363451" y="3621035"/>
            <a:ext cx="8506207" cy="1092607"/>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Résultat de l’exécution</a:t>
            </a: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15" name="Text Box 2"/>
          <p:cNvSpPr txBox="1">
            <a:spLocks noChangeArrowheads="1"/>
          </p:cNvSpPr>
          <p:nvPr/>
        </p:nvSpPr>
        <p:spPr bwMode="auto">
          <a:xfrm>
            <a:off x="0" y="15028"/>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LECTURE DU XML AVEC LES DRIVERS GENERES</a:t>
            </a:r>
          </a:p>
        </p:txBody>
      </p:sp>
    </p:spTree>
    <p:extLst>
      <p:ext uri="{BB962C8B-B14F-4D97-AF65-F5344CB8AC3E}">
        <p14:creationId xmlns:p14="http://schemas.microsoft.com/office/powerpoint/2010/main" val="92997136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38</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VALIDATION</a:t>
            </a:r>
          </a:p>
        </p:txBody>
      </p:sp>
      <p:sp>
        <p:nvSpPr>
          <p:cNvPr id="2" name="Rectangle 1"/>
          <p:cNvSpPr/>
          <p:nvPr/>
        </p:nvSpPr>
        <p:spPr>
          <a:xfrm>
            <a:off x="10633" y="867062"/>
            <a:ext cx="9133367" cy="7186583"/>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Deux niveaux de validation complémentaires et indépendants des jeux de données:</a:t>
            </a:r>
            <a:endParaRPr lang="fr-FR" altLang="fr-FR" sz="2400"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Modèle XSD :</a:t>
            </a:r>
          </a:p>
          <a:p>
            <a:pPr marL="1188000" lvl="2" indent="-288000" eaLnBrk="1">
              <a:spcBef>
                <a:spcPts val="300"/>
              </a:spcBef>
              <a:buClr>
                <a:srgbClr val="001A70"/>
              </a:buClr>
              <a:buFont typeface="Arial,Sans-Serif" panose="020B0604020202020204" pitchFamily="34" charset="0"/>
              <a:buChar char="•"/>
              <a:defRPr/>
            </a:pPr>
            <a:r>
              <a:rPr lang="fr-FR" dirty="0">
                <a:solidFill>
                  <a:srgbClr val="000000"/>
                </a:solidFill>
                <a:latin typeface="Arial"/>
                <a:cs typeface="Arial"/>
              </a:rPr>
              <a:t>Validation syntaxique du document</a:t>
            </a:r>
            <a:endParaRPr lang="fr-FR" dirty="0">
              <a:latin typeface="Calibri"/>
              <a:cs typeface="Calibri"/>
            </a:endParaRPr>
          </a:p>
          <a:p>
            <a:pPr marL="1188000" lvl="2" indent="-288000">
              <a:spcBef>
                <a:spcPts val="300"/>
              </a:spcBef>
              <a:spcAft>
                <a:spcPts val="0"/>
              </a:spcAft>
              <a:buClr>
                <a:srgbClr val="001A70"/>
              </a:buClr>
              <a:buFont typeface="Arial" panose="020B0604020202020204" pitchFamily="34" charset="0"/>
              <a:buChar char="•"/>
              <a:defRPr/>
            </a:pPr>
            <a:r>
              <a:rPr lang="fr-FR" dirty="0">
                <a:solidFill>
                  <a:srgbClr val="000000"/>
                </a:solidFill>
                <a:latin typeface="Arial"/>
                <a:cs typeface="Arial"/>
              </a:rPr>
              <a:t>Validation de la structure, des types, intégrité des données</a:t>
            </a:r>
            <a:endParaRPr lang="fr-FR" dirty="0"/>
          </a:p>
          <a:p>
            <a:pPr marL="1188000" lvl="2" indent="-288000">
              <a:spcBef>
                <a:spcPts val="300"/>
              </a:spcBef>
              <a:spcAft>
                <a:spcPts val="600"/>
              </a:spcAft>
              <a:buClr>
                <a:srgbClr val="001A70"/>
              </a:buClr>
              <a:buFont typeface="Arial" panose="020B0604020202020204" pitchFamily="34" charset="0"/>
              <a:buChar char="•"/>
              <a:defRPr/>
            </a:pPr>
            <a:r>
              <a:rPr lang="fr-FR" dirty="0">
                <a:solidFill>
                  <a:srgbClr val="000000"/>
                </a:solidFill>
                <a:latin typeface="Arial"/>
                <a:cs typeface="Arial"/>
              </a:rPr>
              <a:t>Validation lancée par des validateurs ou automatiquement par les drivers</a:t>
            </a:r>
          </a:p>
          <a:p>
            <a:pPr lvl="1" eaLnBrk="1">
              <a:spcBef>
                <a:spcPts val="300"/>
              </a:spcBef>
              <a:spcAft>
                <a:spcPts val="600"/>
              </a:spcAft>
              <a:buClr>
                <a:srgbClr val="001A70"/>
              </a:buClr>
              <a:buFont typeface="Wingdings" panose="05000000000000000000" pitchFamily="2" charset="2"/>
              <a:buChar char="Ø"/>
              <a:defRPr/>
            </a:pPr>
            <a:r>
              <a:rPr lang="fr-FR" dirty="0">
                <a:solidFill>
                  <a:srgbClr val="000000"/>
                </a:solidFill>
                <a:latin typeface="Arial"/>
                <a:cs typeface="Arial"/>
              </a:rPr>
              <a:t>Modèle MDM</a:t>
            </a:r>
          </a:p>
          <a:p>
            <a:pPr marL="1188000" lvl="2" indent="-288000">
              <a:spcBef>
                <a:spcPts val="300"/>
              </a:spcBef>
              <a:spcAft>
                <a:spcPts val="300"/>
              </a:spcAft>
              <a:buClr>
                <a:srgbClr val="001A70"/>
              </a:buClr>
              <a:buFont typeface="Arial,Sans-Serif" panose="05000000000000000000" pitchFamily="2" charset="2"/>
              <a:buChar char="•"/>
            </a:pPr>
            <a:r>
              <a:rPr lang="fr-FR" dirty="0">
                <a:solidFill>
                  <a:srgbClr val="000000"/>
                </a:solidFill>
                <a:latin typeface="Arial"/>
                <a:cs typeface="Arial"/>
              </a:rPr>
              <a:t>Validation dynamique de la présence d'une structure </a:t>
            </a:r>
            <a:endParaRPr lang="fr-FR" dirty="0">
              <a:solidFill>
                <a:srgbClr val="FFFFFF"/>
              </a:solidFill>
              <a:latin typeface="Calibri"/>
              <a:cs typeface="Calibri"/>
            </a:endParaRPr>
          </a:p>
          <a:p>
            <a:pPr marL="1188000" lvl="2" indent="-288000">
              <a:spcBef>
                <a:spcPts val="300"/>
              </a:spcBef>
              <a:spcAft>
                <a:spcPts val="300"/>
              </a:spcAft>
              <a:buClr>
                <a:srgbClr val="001A70"/>
              </a:buClr>
              <a:buFont typeface="Arial,Sans-Serif" panose="05000000000000000000" pitchFamily="2" charset="2"/>
              <a:buChar char="•"/>
            </a:pPr>
            <a:r>
              <a:rPr lang="fr-FR" dirty="0">
                <a:solidFill>
                  <a:srgbClr val="000000"/>
                </a:solidFill>
                <a:latin typeface="Arial"/>
                <a:cs typeface="Arial"/>
              </a:rPr>
              <a:t>Expression des conditions par des expressions python plus expressives</a:t>
            </a:r>
          </a:p>
          <a:p>
            <a:pPr marL="1188000" lvl="2" indent="-288000">
              <a:spcBef>
                <a:spcPts val="300"/>
              </a:spcBef>
              <a:buClr>
                <a:srgbClr val="001A70"/>
              </a:buClr>
              <a:buFont typeface="Arial,Sans-Serif" panose="05000000000000000000" pitchFamily="2" charset="2"/>
              <a:buChar char="•"/>
            </a:pPr>
            <a:r>
              <a:rPr lang="fr-FR" dirty="0">
                <a:solidFill>
                  <a:srgbClr val="000000"/>
                </a:solidFill>
                <a:latin typeface="Arial"/>
                <a:cs typeface="Arial"/>
              </a:rPr>
              <a:t>Visualisation graphique du contenu invalide ou édition d’un rapport de validation</a:t>
            </a:r>
          </a:p>
          <a:p>
            <a:pPr marL="457200" lvl="1" indent="0">
              <a:spcBef>
                <a:spcPts val="300"/>
              </a:spcBef>
              <a:buClr>
                <a:srgbClr val="001A70"/>
              </a:buClr>
            </a:pPr>
            <a:endParaRPr lang="fr-FR" dirty="0">
              <a:solidFill>
                <a:srgbClr val="00000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Validation par le module MDM python et/ou par l'IHM générée</a:t>
            </a: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Possibilité d’écrire des jeux de données invalides/incomplets par choix</a:t>
            </a:r>
          </a:p>
          <a:p>
            <a:pPr marL="457200" lvl="1" indent="0" eaLnBrk="1">
              <a:spcBef>
                <a:spcPts val="300"/>
              </a:spcBef>
              <a:buClr>
                <a:srgbClr val="001A70"/>
              </a:buClr>
              <a:defRPr/>
            </a:pPr>
            <a:endParaRPr lang="fr-FR" alt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marL="457200" lvl="1" indent="0" eaLnBrk="1">
              <a:spcBef>
                <a:spcPts val="300"/>
              </a:spcBef>
              <a:buClr>
                <a:srgbClr val="001A70"/>
              </a:buClr>
              <a:defRPr/>
            </a:pPr>
            <a:endParaRPr lang="fr-FR" dirty="0">
              <a:solidFill>
                <a:srgbClr val="000000"/>
              </a:solidFill>
              <a:latin typeface="Arial"/>
              <a:cs typeface="Arial"/>
            </a:endParaRPr>
          </a:p>
        </p:txBody>
      </p:sp>
    </p:spTree>
    <p:extLst>
      <p:ext uri="{BB962C8B-B14F-4D97-AF65-F5344CB8AC3E}">
        <p14:creationId xmlns:p14="http://schemas.microsoft.com/office/powerpoint/2010/main" val="128041807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39</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RE-UTILISATION DES CATALOGUES 1/2</a:t>
            </a:r>
          </a:p>
        </p:txBody>
      </p:sp>
      <p:sp>
        <p:nvSpPr>
          <p:cNvPr id="61" name="Rectangle 60"/>
          <p:cNvSpPr/>
          <p:nvPr/>
        </p:nvSpPr>
        <p:spPr>
          <a:xfrm>
            <a:off x="-1" y="968874"/>
            <a:ext cx="9133367" cy="6163226"/>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Possibilité pour les catalogues de s’inclure :</a:t>
            </a:r>
            <a:endParaRPr lang="fr-FR" sz="2000" dirty="0">
              <a:solidFill>
                <a:srgbClr val="002060"/>
              </a:solidFill>
              <a:latin typeface="Arial"/>
              <a:cs typeface="Arial"/>
            </a:endParaRPr>
          </a:p>
          <a:p>
            <a:pPr marL="791845" lvl="1" indent="-457200"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Chaque catalogue peut rester autoportant et être utilisé de façon indépendante</a:t>
            </a:r>
          </a:p>
          <a:p>
            <a:pPr marL="457200" lvl="1" indent="0">
              <a:spcBef>
                <a:spcPts val="300"/>
              </a:spcBef>
              <a:buClr>
                <a:srgbClr val="001A70"/>
              </a:buClr>
            </a:pPr>
            <a:endParaRPr lang="fr-FR" dirty="0">
              <a:solidFill>
                <a:srgbClr val="00000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Les patterns de </a:t>
            </a:r>
            <a:r>
              <a:rPr lang="fr-FR" altLang="fr-FR" sz="2000" dirty="0" err="1">
                <a:solidFill>
                  <a:srgbClr val="002060"/>
                </a:solidFill>
                <a:latin typeface="Arial"/>
                <a:cs typeface="Arial"/>
              </a:rPr>
              <a:t>mapping</a:t>
            </a:r>
            <a:r>
              <a:rPr lang="fr-FR" altLang="fr-FR" sz="2000" dirty="0">
                <a:solidFill>
                  <a:srgbClr val="002060"/>
                </a:solidFill>
                <a:latin typeface="Arial"/>
                <a:cs typeface="Arial"/>
              </a:rPr>
              <a:t> XSD choisis </a:t>
            </a:r>
          </a:p>
          <a:p>
            <a:pPr marL="791845" lvl="1" indent="-457200">
              <a:spcBef>
                <a:spcPts val="300"/>
              </a:spcBef>
              <a:spcAft>
                <a:spcPct val="25000"/>
              </a:spcAft>
              <a:buClr>
                <a:srgbClr val="001A70"/>
              </a:buClr>
              <a:buFont typeface="Wingdings" panose="05000000000000000000" pitchFamily="2" charset="2"/>
              <a:buChar char="Ø"/>
            </a:pPr>
            <a:r>
              <a:rPr lang="fr-FR" sz="2000" dirty="0">
                <a:solidFill>
                  <a:srgbClr val="000000"/>
                </a:solidFill>
                <a:latin typeface="Arial"/>
                <a:cs typeface="Arial"/>
              </a:rPr>
              <a:t>Enrichissent les paramètres disponibles </a:t>
            </a:r>
          </a:p>
          <a:p>
            <a:pPr marL="791845" lvl="1" indent="-457200">
              <a:spcBef>
                <a:spcPts val="300"/>
              </a:spcBef>
              <a:spcAft>
                <a:spcPct val="25000"/>
              </a:spcAft>
              <a:buClr>
                <a:srgbClr val="001A70"/>
              </a:buClr>
              <a:buFont typeface="Wingdings" panose="05000000000000000000" pitchFamily="2" charset="2"/>
              <a:buChar char="Ø"/>
            </a:pPr>
            <a:r>
              <a:rPr lang="fr-FR" sz="2000" dirty="0">
                <a:solidFill>
                  <a:srgbClr val="000000"/>
                </a:solidFill>
                <a:latin typeface="Arial"/>
                <a:cs typeface="Arial"/>
              </a:rPr>
              <a:t>Utilisent la notion XSD d’extension</a:t>
            </a:r>
          </a:p>
          <a:p>
            <a:pPr marL="342900" indent="-342900">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Pas de notions redéfinies : si deux notions ne sont pas identiques, elles ne portent pas le même nom dans un catalogue partagé</a:t>
            </a: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Permet facilement les ajouts de « nouveaux codes »</a:t>
            </a:r>
          </a:p>
          <a:p>
            <a:pPr marL="457200" lvl="1" indent="0" eaLnBrk="1">
              <a:spcBef>
                <a:spcPts val="300"/>
              </a:spcBef>
              <a:buClr>
                <a:srgbClr val="001A70"/>
              </a:buClr>
              <a:defRPr/>
            </a:pPr>
            <a:endParaRPr lang="fr-FR" alt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marL="457200" lvl="1" indent="0" eaLnBrk="1">
              <a:spcBef>
                <a:spcPts val="300"/>
              </a:spcBef>
              <a:buClr>
                <a:srgbClr val="001A70"/>
              </a:buClr>
              <a:defRPr/>
            </a:pPr>
            <a:endParaRPr lang="fr-FR" dirty="0">
              <a:solidFill>
                <a:srgbClr val="000000"/>
              </a:solidFill>
              <a:latin typeface="Arial"/>
              <a:cs typeface="Arial"/>
            </a:endParaRPr>
          </a:p>
        </p:txBody>
      </p:sp>
    </p:spTree>
    <p:extLst>
      <p:ext uri="{BB962C8B-B14F-4D97-AF65-F5344CB8AC3E}">
        <p14:creationId xmlns:p14="http://schemas.microsoft.com/office/powerpoint/2010/main" val="189272289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40</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RE-UTILISATION DES CATALOGUES 2/2</a:t>
            </a:r>
          </a:p>
        </p:txBody>
      </p:sp>
      <p:sp>
        <p:nvSpPr>
          <p:cNvPr id="50" name="Rectangle 49"/>
          <p:cNvSpPr/>
          <p:nvPr/>
        </p:nvSpPr>
        <p:spPr>
          <a:xfrm>
            <a:off x="11621" y="941489"/>
            <a:ext cx="8332355" cy="400110"/>
          </a:xfrm>
          <a:prstGeom prst="rect">
            <a:avLst/>
          </a:prstGeom>
          <a:noFill/>
        </p:spPr>
        <p:txBody>
          <a:bodyPr wrap="square">
            <a:spAutoFit/>
          </a:bodyPr>
          <a:lstStyle/>
          <a:p>
            <a:pPr marL="342900" indent="-342900"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Exemple de </a:t>
            </a:r>
            <a:r>
              <a:rPr lang="fr-FR" altLang="fr-FR" sz="2000" dirty="0" err="1">
                <a:solidFill>
                  <a:srgbClr val="002060"/>
                </a:solidFill>
                <a:latin typeface="+mj-lt"/>
              </a:rPr>
              <a:t>ré-utilisation</a:t>
            </a:r>
            <a:r>
              <a:rPr lang="fr-FR" altLang="fr-FR" sz="2000" dirty="0">
                <a:solidFill>
                  <a:srgbClr val="002060"/>
                </a:solidFill>
                <a:latin typeface="+mj-lt"/>
              </a:rPr>
              <a:t> de catalogues </a:t>
            </a:r>
          </a:p>
        </p:txBody>
      </p:sp>
      <p:grpSp>
        <p:nvGrpSpPr>
          <p:cNvPr id="5" name="Groupe 4"/>
          <p:cNvGrpSpPr/>
          <p:nvPr/>
        </p:nvGrpSpPr>
        <p:grpSpPr>
          <a:xfrm>
            <a:off x="1750178" y="1666410"/>
            <a:ext cx="5455815" cy="4337561"/>
            <a:chOff x="103749" y="908283"/>
            <a:chExt cx="5455815" cy="4337561"/>
          </a:xfrm>
        </p:grpSpPr>
        <p:grpSp>
          <p:nvGrpSpPr>
            <p:cNvPr id="6147" name="Groupe 6146"/>
            <p:cNvGrpSpPr/>
            <p:nvPr/>
          </p:nvGrpSpPr>
          <p:grpSpPr>
            <a:xfrm>
              <a:off x="103749" y="2061209"/>
              <a:ext cx="5455815" cy="3184635"/>
              <a:chOff x="103749" y="2061209"/>
              <a:chExt cx="5455815" cy="3184635"/>
            </a:xfrm>
          </p:grpSpPr>
          <p:grpSp>
            <p:nvGrpSpPr>
              <p:cNvPr id="6145" name="Groupe 6144"/>
              <p:cNvGrpSpPr/>
              <p:nvPr/>
            </p:nvGrpSpPr>
            <p:grpSpPr>
              <a:xfrm>
                <a:off x="103749" y="2061209"/>
                <a:ext cx="2797106" cy="3172943"/>
                <a:chOff x="103749" y="2061209"/>
                <a:chExt cx="2797106" cy="3172943"/>
              </a:xfrm>
            </p:grpSpPr>
            <p:grpSp>
              <p:nvGrpSpPr>
                <p:cNvPr id="69" name="Groupe 68"/>
                <p:cNvGrpSpPr/>
                <p:nvPr/>
              </p:nvGrpSpPr>
              <p:grpSpPr>
                <a:xfrm>
                  <a:off x="561911" y="2061209"/>
                  <a:ext cx="1880782" cy="755778"/>
                  <a:chOff x="683568" y="2622666"/>
                  <a:chExt cx="864096" cy="936104"/>
                </a:xfrm>
                <a:solidFill>
                  <a:schemeClr val="accent2">
                    <a:lumMod val="40000"/>
                    <a:lumOff val="60000"/>
                  </a:schemeClr>
                </a:solidFill>
              </p:grpSpPr>
              <p:sp>
                <p:nvSpPr>
                  <p:cNvPr id="70" name="Rectangle à coins arrondis 69"/>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71" name="ZoneTexte 70"/>
                  <p:cNvSpPr txBox="1"/>
                  <p:nvPr/>
                </p:nvSpPr>
                <p:spPr>
                  <a:xfrm>
                    <a:off x="791580" y="2699338"/>
                    <a:ext cx="648072" cy="648058"/>
                  </a:xfrm>
                  <a:prstGeom prst="rect">
                    <a:avLst/>
                  </a:prstGeom>
                  <a:grpFill/>
                </p:spPr>
                <p:txBody>
                  <a:bodyPr wrap="square" rtlCol="0">
                    <a:spAutoFit/>
                  </a:bodyPr>
                  <a:lstStyle/>
                  <a:p>
                    <a:pPr algn="ctr"/>
                    <a:r>
                      <a:rPr lang="en-US" sz="1400" dirty="0">
                        <a:latin typeface="+mn-lt"/>
                      </a:rPr>
                      <a:t>CFD </a:t>
                    </a:r>
                  </a:p>
                  <a:p>
                    <a:pPr algn="ctr"/>
                    <a:r>
                      <a:rPr lang="en-US" sz="1400" dirty="0" err="1">
                        <a:latin typeface="+mn-lt"/>
                      </a:rPr>
                      <a:t>commun</a:t>
                    </a:r>
                    <a:endParaRPr lang="en-US" sz="1400" dirty="0">
                      <a:latin typeface="+mn-lt"/>
                    </a:endParaRPr>
                  </a:p>
                </p:txBody>
              </p:sp>
            </p:grpSp>
            <p:grpSp>
              <p:nvGrpSpPr>
                <p:cNvPr id="84" name="Groupe 83"/>
                <p:cNvGrpSpPr/>
                <p:nvPr/>
              </p:nvGrpSpPr>
              <p:grpSpPr>
                <a:xfrm>
                  <a:off x="103749" y="3267954"/>
                  <a:ext cx="2797106" cy="1966198"/>
                  <a:chOff x="1719488" y="3734199"/>
                  <a:chExt cx="3645556" cy="1880782"/>
                </a:xfrm>
                <a:solidFill>
                  <a:schemeClr val="accent2">
                    <a:lumMod val="75000"/>
                  </a:schemeClr>
                </a:solidFill>
              </p:grpSpPr>
              <p:grpSp>
                <p:nvGrpSpPr>
                  <p:cNvPr id="72" name="Groupe 71"/>
                  <p:cNvGrpSpPr/>
                  <p:nvPr/>
                </p:nvGrpSpPr>
                <p:grpSpPr>
                  <a:xfrm rot="16200000">
                    <a:off x="4046764" y="4296701"/>
                    <a:ext cx="1880782" cy="755778"/>
                    <a:chOff x="683568" y="2622666"/>
                    <a:chExt cx="864096" cy="936104"/>
                  </a:xfrm>
                  <a:grpFill/>
                </p:grpSpPr>
                <p:sp>
                  <p:nvSpPr>
                    <p:cNvPr id="73" name="Rectangle à coins arrondis 72"/>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74" name="ZoneTexte 73"/>
                    <p:cNvSpPr txBox="1"/>
                    <p:nvPr/>
                  </p:nvSpPr>
                  <p:spPr>
                    <a:xfrm>
                      <a:off x="761427" y="2900112"/>
                      <a:ext cx="648072" cy="381212"/>
                    </a:xfrm>
                    <a:prstGeom prst="rect">
                      <a:avLst/>
                    </a:prstGeom>
                    <a:grpFill/>
                  </p:spPr>
                  <p:txBody>
                    <a:bodyPr wrap="square" rtlCol="0" anchor="ctr">
                      <a:spAutoFit/>
                    </a:bodyPr>
                    <a:lstStyle/>
                    <a:p>
                      <a:pPr algn="ctr"/>
                      <a:r>
                        <a:rPr lang="en-US" sz="1400" dirty="0">
                          <a:latin typeface="+mn-lt"/>
                        </a:rPr>
                        <a:t>Code CFD  D </a:t>
                      </a:r>
                    </a:p>
                  </p:txBody>
                </p:sp>
              </p:grpSp>
              <p:grpSp>
                <p:nvGrpSpPr>
                  <p:cNvPr id="75" name="Groupe 74"/>
                  <p:cNvGrpSpPr/>
                  <p:nvPr/>
                </p:nvGrpSpPr>
                <p:grpSpPr>
                  <a:xfrm rot="16200000">
                    <a:off x="3066985" y="4296701"/>
                    <a:ext cx="1880782" cy="755778"/>
                    <a:chOff x="683568" y="2622666"/>
                    <a:chExt cx="864096" cy="936104"/>
                  </a:xfrm>
                  <a:grpFill/>
                </p:grpSpPr>
                <p:sp>
                  <p:nvSpPr>
                    <p:cNvPr id="76" name="Rectangle à coins arrondis 75"/>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77" name="ZoneTexte 76"/>
                    <p:cNvSpPr txBox="1"/>
                    <p:nvPr/>
                  </p:nvSpPr>
                  <p:spPr>
                    <a:xfrm>
                      <a:off x="761427" y="2900112"/>
                      <a:ext cx="648072" cy="381212"/>
                    </a:xfrm>
                    <a:prstGeom prst="rect">
                      <a:avLst/>
                    </a:prstGeom>
                    <a:grpFill/>
                  </p:spPr>
                  <p:txBody>
                    <a:bodyPr wrap="square" rtlCol="0" anchor="ctr">
                      <a:spAutoFit/>
                    </a:bodyPr>
                    <a:lstStyle/>
                    <a:p>
                      <a:pPr algn="ctr"/>
                      <a:r>
                        <a:rPr lang="en-US" sz="1400" dirty="0">
                          <a:latin typeface="+mn-lt"/>
                        </a:rPr>
                        <a:t>Code CFD C </a:t>
                      </a:r>
                    </a:p>
                  </p:txBody>
                </p:sp>
              </p:grpSp>
              <p:grpSp>
                <p:nvGrpSpPr>
                  <p:cNvPr id="78" name="Groupe 77"/>
                  <p:cNvGrpSpPr/>
                  <p:nvPr/>
                </p:nvGrpSpPr>
                <p:grpSpPr>
                  <a:xfrm rot="16200000">
                    <a:off x="2124053" y="4296701"/>
                    <a:ext cx="1880782" cy="755778"/>
                    <a:chOff x="683568" y="2622666"/>
                    <a:chExt cx="864096" cy="936104"/>
                  </a:xfrm>
                  <a:grpFill/>
                </p:grpSpPr>
                <p:sp>
                  <p:nvSpPr>
                    <p:cNvPr id="79" name="Rectangle à coins arrondis 78"/>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80" name="ZoneTexte 79"/>
                    <p:cNvSpPr txBox="1"/>
                    <p:nvPr/>
                  </p:nvSpPr>
                  <p:spPr>
                    <a:xfrm>
                      <a:off x="761427" y="2900112"/>
                      <a:ext cx="648072" cy="381212"/>
                    </a:xfrm>
                    <a:prstGeom prst="rect">
                      <a:avLst/>
                    </a:prstGeom>
                    <a:grpFill/>
                  </p:spPr>
                  <p:txBody>
                    <a:bodyPr wrap="square" rtlCol="0" anchor="ctr">
                      <a:spAutoFit/>
                    </a:bodyPr>
                    <a:lstStyle/>
                    <a:p>
                      <a:pPr algn="ctr"/>
                      <a:r>
                        <a:rPr lang="en-US" sz="1400" dirty="0">
                          <a:latin typeface="+mn-lt"/>
                        </a:rPr>
                        <a:t>Code CFD  B </a:t>
                      </a:r>
                    </a:p>
                  </p:txBody>
                </p:sp>
              </p:grpSp>
              <p:grpSp>
                <p:nvGrpSpPr>
                  <p:cNvPr id="81" name="Groupe 80"/>
                  <p:cNvGrpSpPr/>
                  <p:nvPr/>
                </p:nvGrpSpPr>
                <p:grpSpPr>
                  <a:xfrm rot="16200000">
                    <a:off x="1156986" y="4296701"/>
                    <a:ext cx="1880782" cy="755778"/>
                    <a:chOff x="683568" y="2622666"/>
                    <a:chExt cx="864096" cy="936104"/>
                  </a:xfrm>
                  <a:grpFill/>
                </p:grpSpPr>
                <p:sp>
                  <p:nvSpPr>
                    <p:cNvPr id="82" name="Rectangle à coins arrondis 81"/>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83" name="ZoneTexte 82"/>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CFD A </a:t>
                      </a:r>
                    </a:p>
                  </p:txBody>
                </p:sp>
              </p:grpSp>
            </p:grpSp>
          </p:grpSp>
          <p:grpSp>
            <p:nvGrpSpPr>
              <p:cNvPr id="6146" name="Groupe 6145"/>
              <p:cNvGrpSpPr/>
              <p:nvPr/>
            </p:nvGrpSpPr>
            <p:grpSpPr>
              <a:xfrm>
                <a:off x="3514208" y="2072901"/>
                <a:ext cx="2045356" cy="3172943"/>
                <a:chOff x="3917157" y="2061209"/>
                <a:chExt cx="2045356" cy="3172943"/>
              </a:xfrm>
            </p:grpSpPr>
            <p:grpSp>
              <p:nvGrpSpPr>
                <p:cNvPr id="66" name="Groupe 65"/>
                <p:cNvGrpSpPr/>
                <p:nvPr/>
              </p:nvGrpSpPr>
              <p:grpSpPr>
                <a:xfrm>
                  <a:off x="3999444" y="2061209"/>
                  <a:ext cx="1880782" cy="755778"/>
                  <a:chOff x="683568" y="2622666"/>
                  <a:chExt cx="864096" cy="936104"/>
                </a:xfrm>
                <a:solidFill>
                  <a:schemeClr val="accent2">
                    <a:lumMod val="40000"/>
                    <a:lumOff val="60000"/>
                  </a:schemeClr>
                </a:solidFill>
              </p:grpSpPr>
              <p:sp>
                <p:nvSpPr>
                  <p:cNvPr id="67" name="Rectangle à coins arrondis 66"/>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68" name="ZoneTexte 67"/>
                  <p:cNvSpPr txBox="1"/>
                  <p:nvPr/>
                </p:nvSpPr>
                <p:spPr>
                  <a:xfrm>
                    <a:off x="791580" y="2699338"/>
                    <a:ext cx="648072" cy="648058"/>
                  </a:xfrm>
                  <a:prstGeom prst="rect">
                    <a:avLst/>
                  </a:prstGeom>
                  <a:grpFill/>
                </p:spPr>
                <p:txBody>
                  <a:bodyPr wrap="square" rtlCol="0">
                    <a:spAutoFit/>
                  </a:bodyPr>
                  <a:lstStyle/>
                  <a:p>
                    <a:pPr algn="ctr"/>
                    <a:r>
                      <a:rPr lang="en-US" sz="1400" dirty="0">
                        <a:latin typeface="+mn-lt"/>
                      </a:rPr>
                      <a:t>MD </a:t>
                    </a:r>
                  </a:p>
                  <a:p>
                    <a:pPr algn="ctr"/>
                    <a:r>
                      <a:rPr lang="en-US" sz="1400" dirty="0" err="1">
                        <a:latin typeface="+mn-lt"/>
                      </a:rPr>
                      <a:t>commun</a:t>
                    </a:r>
                    <a:endParaRPr lang="en-US" sz="1400" dirty="0">
                      <a:latin typeface="+mn-lt"/>
                    </a:endParaRPr>
                  </a:p>
                </p:txBody>
              </p:sp>
            </p:grpSp>
            <p:grpSp>
              <p:nvGrpSpPr>
                <p:cNvPr id="6144" name="Groupe 6143"/>
                <p:cNvGrpSpPr/>
                <p:nvPr/>
              </p:nvGrpSpPr>
              <p:grpSpPr>
                <a:xfrm>
                  <a:off x="3917157" y="3267954"/>
                  <a:ext cx="2045356" cy="1966198"/>
                  <a:chOff x="3965609" y="3267954"/>
                  <a:chExt cx="2045356" cy="1966198"/>
                </a:xfrm>
              </p:grpSpPr>
              <p:grpSp>
                <p:nvGrpSpPr>
                  <p:cNvPr id="113" name="Groupe 112"/>
                  <p:cNvGrpSpPr/>
                  <p:nvPr/>
                </p:nvGrpSpPr>
                <p:grpSpPr>
                  <a:xfrm rot="16200000">
                    <a:off x="4737925" y="3961112"/>
                    <a:ext cx="1966198" cy="579882"/>
                    <a:chOff x="683568" y="2622666"/>
                    <a:chExt cx="864096" cy="936104"/>
                  </a:xfrm>
                  <a:solidFill>
                    <a:schemeClr val="accent2">
                      <a:lumMod val="75000"/>
                    </a:schemeClr>
                  </a:solidFill>
                </p:grpSpPr>
                <p:sp>
                  <p:nvSpPr>
                    <p:cNvPr id="120" name="Rectangle à coins arrondis 119"/>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21" name="ZoneTexte 120"/>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MD C </a:t>
                      </a:r>
                    </a:p>
                  </p:txBody>
                </p:sp>
              </p:grpSp>
              <p:grpSp>
                <p:nvGrpSpPr>
                  <p:cNvPr id="114" name="Groupe 113"/>
                  <p:cNvGrpSpPr/>
                  <p:nvPr/>
                </p:nvGrpSpPr>
                <p:grpSpPr>
                  <a:xfrm rot="16200000">
                    <a:off x="4014447" y="3961112"/>
                    <a:ext cx="1966198" cy="579882"/>
                    <a:chOff x="683568" y="2622666"/>
                    <a:chExt cx="864096" cy="936104"/>
                  </a:xfrm>
                  <a:solidFill>
                    <a:schemeClr val="accent2">
                      <a:lumMod val="75000"/>
                    </a:schemeClr>
                  </a:solidFill>
                </p:grpSpPr>
                <p:sp>
                  <p:nvSpPr>
                    <p:cNvPr id="118" name="Rectangle à coins arrondis 117"/>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19" name="ZoneTexte 118"/>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MD  B </a:t>
                      </a:r>
                    </a:p>
                  </p:txBody>
                </p:sp>
              </p:grpSp>
              <p:grpSp>
                <p:nvGrpSpPr>
                  <p:cNvPr id="115" name="Groupe 114"/>
                  <p:cNvGrpSpPr/>
                  <p:nvPr/>
                </p:nvGrpSpPr>
                <p:grpSpPr>
                  <a:xfrm rot="16200000">
                    <a:off x="3272451" y="3961112"/>
                    <a:ext cx="1966198" cy="579882"/>
                    <a:chOff x="683568" y="2622666"/>
                    <a:chExt cx="864096" cy="936104"/>
                  </a:xfrm>
                  <a:solidFill>
                    <a:schemeClr val="accent2">
                      <a:lumMod val="75000"/>
                    </a:schemeClr>
                  </a:solidFill>
                </p:grpSpPr>
                <p:sp>
                  <p:nvSpPr>
                    <p:cNvPr id="116" name="Rectangle à coins arrondis 115"/>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17" name="ZoneTexte 116"/>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MD A </a:t>
                      </a:r>
                    </a:p>
                  </p:txBody>
                </p:sp>
              </p:grpSp>
            </p:grpSp>
          </p:grpSp>
        </p:grpSp>
        <p:grpSp>
          <p:nvGrpSpPr>
            <p:cNvPr id="2" name="Groupe 1"/>
            <p:cNvGrpSpPr/>
            <p:nvPr/>
          </p:nvGrpSpPr>
          <p:grpSpPr>
            <a:xfrm>
              <a:off x="393690" y="908283"/>
              <a:ext cx="4875933" cy="2384311"/>
              <a:chOff x="393690" y="908283"/>
              <a:chExt cx="4875933" cy="2384311"/>
            </a:xfrm>
          </p:grpSpPr>
          <p:grpSp>
            <p:nvGrpSpPr>
              <p:cNvPr id="6" name="Groupe 5"/>
              <p:cNvGrpSpPr/>
              <p:nvPr/>
            </p:nvGrpSpPr>
            <p:grpSpPr>
              <a:xfrm>
                <a:off x="1960465" y="908283"/>
                <a:ext cx="1880782" cy="755778"/>
                <a:chOff x="683568" y="2622666"/>
                <a:chExt cx="864096" cy="936104"/>
              </a:xfrm>
              <a:solidFill>
                <a:schemeClr val="accent2">
                  <a:lumMod val="40000"/>
                  <a:lumOff val="60000"/>
                </a:schemeClr>
              </a:solidFill>
            </p:grpSpPr>
            <p:sp>
              <p:nvSpPr>
                <p:cNvPr id="42" name="Rectangle à coins arrondis 41"/>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3" name="ZoneTexte 42"/>
                <p:cNvSpPr txBox="1"/>
                <p:nvPr/>
              </p:nvSpPr>
              <p:spPr>
                <a:xfrm>
                  <a:off x="791580" y="2699338"/>
                  <a:ext cx="648072" cy="307777"/>
                </a:xfrm>
                <a:prstGeom prst="rect">
                  <a:avLst/>
                </a:prstGeom>
                <a:grpFill/>
              </p:spPr>
              <p:txBody>
                <a:bodyPr wrap="square" rtlCol="0">
                  <a:spAutoFit/>
                </a:bodyPr>
                <a:lstStyle/>
                <a:p>
                  <a:pPr algn="ctr"/>
                  <a:r>
                    <a:rPr lang="en-US" sz="1400" dirty="0" err="1">
                      <a:latin typeface="+mn-lt"/>
                    </a:rPr>
                    <a:t>Modele</a:t>
                  </a:r>
                  <a:r>
                    <a:rPr lang="en-US" sz="1400" dirty="0">
                      <a:latin typeface="+mn-lt"/>
                    </a:rPr>
                    <a:t> </a:t>
                  </a:r>
                  <a:r>
                    <a:rPr lang="en-US" sz="1400" dirty="0" err="1">
                      <a:latin typeface="+mn-lt"/>
                    </a:rPr>
                    <a:t>commun</a:t>
                  </a:r>
                  <a:endParaRPr lang="en-US" sz="1400" dirty="0">
                    <a:latin typeface="+mn-lt"/>
                  </a:endParaRPr>
                </a:p>
              </p:txBody>
            </p:sp>
          </p:grpSp>
          <p:cxnSp>
            <p:nvCxnSpPr>
              <p:cNvPr id="6163" name="Connecteur en angle 6162"/>
              <p:cNvCxnSpPr>
                <a:endCxn id="67" idx="1"/>
              </p:cNvCxnSpPr>
              <p:nvPr/>
            </p:nvCxnSpPr>
            <p:spPr bwMode="auto">
              <a:xfrm rot="16200000" flipH="1">
                <a:off x="2997202" y="1851497"/>
                <a:ext cx="786728" cy="411857"/>
              </a:xfrm>
              <a:prstGeom prst="bentConnector2">
                <a:avLst/>
              </a:prstGeom>
              <a:solidFill>
                <a:srgbClr val="00B8FF"/>
              </a:solidFill>
              <a:ln w="9525" cap="flat" cmpd="sng" algn="ctr">
                <a:solidFill>
                  <a:schemeClr val="tx1"/>
                </a:solidFill>
                <a:prstDash val="solid"/>
                <a:round/>
                <a:headEnd type="none" w="med" len="med"/>
                <a:tailEnd type="triangle"/>
              </a:ln>
              <a:effectLst/>
            </p:spPr>
          </p:cxnSp>
          <p:cxnSp>
            <p:nvCxnSpPr>
              <p:cNvPr id="147" name="Connecteur en angle 146"/>
              <p:cNvCxnSpPr>
                <a:endCxn id="70" idx="3"/>
              </p:cNvCxnSpPr>
              <p:nvPr/>
            </p:nvCxnSpPr>
            <p:spPr bwMode="auto">
              <a:xfrm rot="5400000">
                <a:off x="2244298" y="1862456"/>
                <a:ext cx="775037" cy="378246"/>
              </a:xfrm>
              <a:prstGeom prst="bentConnector2">
                <a:avLst/>
              </a:prstGeom>
              <a:solidFill>
                <a:srgbClr val="00B8FF"/>
              </a:solidFill>
              <a:ln w="9525" cap="flat" cmpd="sng" algn="ctr">
                <a:solidFill>
                  <a:schemeClr val="tx1"/>
                </a:solidFill>
                <a:prstDash val="solid"/>
                <a:round/>
                <a:headEnd type="none" w="med" len="med"/>
                <a:tailEnd type="triangle"/>
              </a:ln>
              <a:effectLst/>
            </p:spPr>
          </p:cxnSp>
          <p:cxnSp>
            <p:nvCxnSpPr>
              <p:cNvPr id="3" name="Connecteur droit avec flèche 2"/>
              <p:cNvCxnSpPr/>
              <p:nvPr/>
            </p:nvCxnSpPr>
            <p:spPr bwMode="auto">
              <a:xfrm flipH="1">
                <a:off x="3837159" y="2841627"/>
                <a:ext cx="368458" cy="450967"/>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7" name="Connecteur droit avec flèche 6"/>
              <p:cNvCxnSpPr>
                <a:endCxn id="118" idx="3"/>
              </p:cNvCxnSpPr>
              <p:nvPr/>
            </p:nvCxnSpPr>
            <p:spPr bwMode="auto">
              <a:xfrm>
                <a:off x="4536886" y="2816987"/>
                <a:ext cx="9259" cy="462659"/>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1" name="Connecteur droit avec flèche 10"/>
              <p:cNvCxnSpPr>
                <a:endCxn id="120" idx="3"/>
              </p:cNvCxnSpPr>
              <p:nvPr/>
            </p:nvCxnSpPr>
            <p:spPr bwMode="auto">
              <a:xfrm>
                <a:off x="4979682" y="2828679"/>
                <a:ext cx="289941" cy="450967"/>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5" name="Connecteur droit avec flèche 14"/>
              <p:cNvCxnSpPr>
                <a:endCxn id="82" idx="3"/>
              </p:cNvCxnSpPr>
              <p:nvPr/>
            </p:nvCxnSpPr>
            <p:spPr bwMode="auto">
              <a:xfrm flipH="1">
                <a:off x="393690" y="2828679"/>
                <a:ext cx="452054" cy="439275"/>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7" name="Connecteur droit avec flèche 16"/>
              <p:cNvCxnSpPr>
                <a:endCxn id="73" idx="3"/>
              </p:cNvCxnSpPr>
              <p:nvPr/>
            </p:nvCxnSpPr>
            <p:spPr bwMode="auto">
              <a:xfrm>
                <a:off x="2068049" y="2828679"/>
                <a:ext cx="542865" cy="439275"/>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9" name="Connecteur droit avec flèche 18"/>
              <p:cNvCxnSpPr>
                <a:endCxn id="79" idx="3"/>
              </p:cNvCxnSpPr>
              <p:nvPr/>
            </p:nvCxnSpPr>
            <p:spPr bwMode="auto">
              <a:xfrm flipH="1">
                <a:off x="1135686" y="2816987"/>
                <a:ext cx="46772" cy="450967"/>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21" name="Connecteur droit avec flèche 20"/>
              <p:cNvCxnSpPr>
                <a:endCxn id="76" idx="3"/>
              </p:cNvCxnSpPr>
              <p:nvPr/>
            </p:nvCxnSpPr>
            <p:spPr bwMode="auto">
              <a:xfrm>
                <a:off x="1789906" y="2828679"/>
                <a:ext cx="69258" cy="439275"/>
              </a:xfrm>
              <a:prstGeom prst="straightConnector1">
                <a:avLst/>
              </a:prstGeom>
              <a:solidFill>
                <a:srgbClr val="00B8FF"/>
              </a:solidFill>
              <a:ln w="9525" cap="flat" cmpd="sng" algn="ctr">
                <a:solidFill>
                  <a:schemeClr val="tx1"/>
                </a:solidFill>
                <a:prstDash val="solid"/>
                <a:round/>
                <a:headEnd type="none" w="med" len="med"/>
                <a:tailEnd type="triangle"/>
              </a:ln>
              <a:effectLst/>
            </p:spPr>
          </p:cxnSp>
        </p:grpSp>
      </p:grpSp>
      <p:sp>
        <p:nvSpPr>
          <p:cNvPr id="60" name="Textplatzhalter 1"/>
          <p:cNvSpPr txBox="1">
            <a:spLocks/>
          </p:cNvSpPr>
          <p:nvPr/>
        </p:nvSpPr>
        <p:spPr bwMode="auto">
          <a:xfrm>
            <a:off x="7315782" y="2633561"/>
            <a:ext cx="1488455" cy="1227291"/>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600" dirty="0">
              <a:solidFill>
                <a:srgbClr val="002060"/>
              </a:solidFill>
              <a:latin typeface="+mj-lt"/>
              <a:cs typeface="Arial" panose="020B0604020202020204" pitchFamily="34" charset="0"/>
            </a:endParaRPr>
          </a:p>
          <a:p>
            <a:pPr>
              <a:spcAft>
                <a:spcPts val="0"/>
              </a:spcAft>
            </a:pPr>
            <a:r>
              <a:rPr lang="fr-FR" sz="1600" dirty="0">
                <a:solidFill>
                  <a:srgbClr val="002060"/>
                </a:solidFill>
                <a:latin typeface="+mj-lt"/>
                <a:cs typeface="Arial" panose="020B0604020202020204" pitchFamily="34" charset="0"/>
              </a:rPr>
              <a:t>Un modèle pour chaque échelle </a:t>
            </a:r>
          </a:p>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p:txBody>
      </p:sp>
      <p:sp>
        <p:nvSpPr>
          <p:cNvPr id="54" name="Textplatzhalter 1"/>
          <p:cNvSpPr txBox="1">
            <a:spLocks/>
          </p:cNvSpPr>
          <p:nvPr/>
        </p:nvSpPr>
        <p:spPr bwMode="auto">
          <a:xfrm>
            <a:off x="329128" y="1375769"/>
            <a:ext cx="2886524" cy="120206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600" dirty="0">
              <a:solidFill>
                <a:srgbClr val="002060"/>
              </a:solidFill>
              <a:latin typeface="+mj-lt"/>
              <a:cs typeface="Arial" panose="020B0604020202020204" pitchFamily="34" charset="0"/>
            </a:endParaRPr>
          </a:p>
          <a:p>
            <a:pPr>
              <a:spcAft>
                <a:spcPts val="0"/>
              </a:spcAft>
            </a:pPr>
            <a:r>
              <a:rPr lang="fr-FR" sz="1600" dirty="0">
                <a:solidFill>
                  <a:srgbClr val="002060"/>
                </a:solidFill>
                <a:latin typeface="+mj-lt"/>
                <a:cs typeface="Arial" panose="020B0604020202020204" pitchFamily="34" charset="0"/>
              </a:rPr>
              <a:t>Un modèle commun regroupe les notions communes à toutes les échelles (par exemple le temps de la simulation)</a:t>
            </a:r>
          </a:p>
        </p:txBody>
      </p:sp>
      <p:sp>
        <p:nvSpPr>
          <p:cNvPr id="57" name="Textplatzhalter 1"/>
          <p:cNvSpPr txBox="1">
            <a:spLocks/>
          </p:cNvSpPr>
          <p:nvPr/>
        </p:nvSpPr>
        <p:spPr bwMode="auto">
          <a:xfrm>
            <a:off x="2929526" y="5964409"/>
            <a:ext cx="2922519" cy="842149"/>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fr-FR" sz="1600" dirty="0">
              <a:solidFill>
                <a:srgbClr val="002060"/>
              </a:solidFill>
              <a:latin typeface="+mj-lt"/>
              <a:cs typeface="Arial" panose="020B0604020202020204" pitchFamily="34" charset="0"/>
            </a:endParaRPr>
          </a:p>
          <a:p>
            <a:pPr>
              <a:spcAft>
                <a:spcPts val="0"/>
              </a:spcAft>
            </a:pPr>
            <a:r>
              <a:rPr lang="fr-FR" sz="1600" dirty="0">
                <a:solidFill>
                  <a:srgbClr val="002060"/>
                </a:solidFill>
                <a:latin typeface="+mj-lt"/>
                <a:cs typeface="Arial" panose="020B0604020202020204" pitchFamily="34" charset="0"/>
              </a:rPr>
              <a:t>Des modèles spécifiques pour chaque code si nécessaire</a:t>
            </a:r>
          </a:p>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p:txBody>
      </p:sp>
    </p:spTree>
    <p:extLst>
      <p:ext uri="{BB962C8B-B14F-4D97-AF65-F5344CB8AC3E}">
        <p14:creationId xmlns:p14="http://schemas.microsoft.com/office/powerpoint/2010/main" val="327204675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41</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 JEU DE DONNEES SOUS FORME </a:t>
            </a:r>
            <a:r>
              <a:rPr lang="en-US" altLang="fr-FR" sz="2800" dirty="0" smtClean="0">
                <a:solidFill>
                  <a:srgbClr val="001A70"/>
                </a:solidFill>
                <a:cs typeface="Arial" panose="020B0604020202020204" pitchFamily="34" charset="0"/>
              </a:rPr>
              <a:t>PYTHON 1/2</a:t>
            </a:r>
            <a:endParaRPr lang="en-US" altLang="fr-FR" sz="2800" dirty="0">
              <a:solidFill>
                <a:srgbClr val="001A70"/>
              </a:solidFill>
              <a:cs typeface="Arial" panose="020B0604020202020204" pitchFamily="34" charset="0"/>
            </a:endParaRPr>
          </a:p>
        </p:txBody>
      </p:sp>
      <p:sp>
        <p:nvSpPr>
          <p:cNvPr id="6" name="Rectangle 5"/>
          <p:cNvSpPr/>
          <p:nvPr/>
        </p:nvSpPr>
        <p:spPr>
          <a:xfrm>
            <a:off x="255095" y="774704"/>
            <a:ext cx="8332355" cy="400110"/>
          </a:xfrm>
          <a:prstGeom prst="rect">
            <a:avLst/>
          </a:prstGeom>
          <a:noFill/>
        </p:spPr>
        <p:txBody>
          <a:bodyPr wrap="square">
            <a:spAutoFit/>
          </a:bodyPr>
          <a:lstStyle/>
          <a:p>
            <a:pPr marL="342900" indent="-342900"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Le catalogue</a:t>
            </a:r>
            <a:endParaRPr lang="fr-FR" altLang="fr-FR" sz="2000" dirty="0">
              <a:solidFill>
                <a:srgbClr val="002060"/>
              </a:solidFill>
              <a:latin typeface="+mj-lt"/>
            </a:endParaRPr>
          </a:p>
        </p:txBody>
      </p:sp>
      <p:sp>
        <p:nvSpPr>
          <p:cNvPr id="10" name="Rectangle 9"/>
          <p:cNvSpPr/>
          <p:nvPr/>
        </p:nvSpPr>
        <p:spPr>
          <a:xfrm>
            <a:off x="5698608" y="946862"/>
            <a:ext cx="1062555" cy="369332"/>
          </a:xfrm>
          <a:prstGeom prst="rect">
            <a:avLst/>
          </a:prstGeom>
          <a:noFill/>
        </p:spPr>
        <p:txBody>
          <a:bodyPr wrap="square">
            <a:spAutoFit/>
          </a:bodyPr>
          <a:lstStyle/>
          <a:p>
            <a:pPr eaLnBrk="1">
              <a:spcBef>
                <a:spcPts val="300"/>
              </a:spcBef>
              <a:buClr>
                <a:srgbClr val="001A70"/>
              </a:buClr>
              <a:defRPr/>
            </a:pPr>
            <a:r>
              <a:rPr lang="fr-FR" altLang="fr-FR" dirty="0">
                <a:solidFill>
                  <a:srgbClr val="000000"/>
                </a:solidFill>
                <a:latin typeface="Arial"/>
                <a:cs typeface="Arial"/>
              </a:rPr>
              <a:t>Python</a:t>
            </a:r>
          </a:p>
        </p:txBody>
      </p:sp>
      <p:sp>
        <p:nvSpPr>
          <p:cNvPr id="9" name="Textplatzhalter 1"/>
          <p:cNvSpPr txBox="1">
            <a:spLocks/>
          </p:cNvSpPr>
          <p:nvPr/>
        </p:nvSpPr>
        <p:spPr bwMode="auto">
          <a:xfrm>
            <a:off x="127547" y="1366474"/>
            <a:ext cx="8587449" cy="4894477"/>
          </a:xfrm>
          <a:prstGeom prst="rect">
            <a:avLst/>
          </a:prstGeom>
          <a:solidFill>
            <a:srgbClr val="EEFFCC"/>
          </a:solidFill>
          <a:ln w="9525">
            <a:solidFill>
              <a:srgbClr val="00B0F0"/>
            </a:solid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xs:simpleType</a:t>
            </a:r>
            <a:r>
              <a:rPr lang="en-US" sz="1200" dirty="0">
                <a:solidFill>
                  <a:schemeClr val="tx1"/>
                </a:solidFill>
                <a:latin typeface="+mj-lt"/>
              </a:rPr>
              <a:t> name="</a:t>
            </a:r>
            <a:r>
              <a:rPr lang="en-US" sz="1200" dirty="0" err="1">
                <a:solidFill>
                  <a:schemeClr val="tx1"/>
                </a:solidFill>
                <a:latin typeface="+mj-lt"/>
              </a:rPr>
              <a:t>T_SurLeMaillage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 &lt;</a:t>
            </a:r>
            <a:r>
              <a:rPr lang="en-US" sz="1200" dirty="0" err="1">
                <a:solidFill>
                  <a:schemeClr val="tx1"/>
                </a:solidFill>
                <a:latin typeface="+mj-lt"/>
              </a:rPr>
              <a:t>xs:restriction</a:t>
            </a:r>
            <a:r>
              <a:rPr lang="en-US" sz="1200" dirty="0">
                <a:solidFill>
                  <a:schemeClr val="tx1"/>
                </a:solidFill>
                <a:latin typeface="+mj-lt"/>
              </a:rPr>
              <a:t> base="</a:t>
            </a:r>
            <a:r>
              <a:rPr lang="en-US" sz="1200" dirty="0" err="1">
                <a:solidFill>
                  <a:schemeClr val="tx1"/>
                </a:solidFill>
                <a:latin typeface="+mj-lt"/>
              </a:rPr>
              <a:t>xs:string</a:t>
            </a:r>
            <a:r>
              <a:rPr lang="en-US" sz="1200" dirty="0" smtClean="0">
                <a:solidFill>
                  <a:schemeClr val="tx1"/>
                </a:solidFill>
                <a:latin typeface="+mj-lt"/>
              </a:rPr>
              <a:t>"&gt;&lt;/</a:t>
            </a:r>
            <a:r>
              <a:rPr lang="en-US" sz="1200" dirty="0" err="1">
                <a:solidFill>
                  <a:schemeClr val="tx1"/>
                </a:solidFill>
                <a:latin typeface="+mj-lt"/>
              </a:rPr>
              <a:t>xs:restriction</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xs:simpleType</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xs:simpleType</a:t>
            </a:r>
            <a:r>
              <a:rPr lang="en-US" sz="1200" dirty="0">
                <a:solidFill>
                  <a:schemeClr val="tx1"/>
                </a:solidFill>
                <a:latin typeface="+mj-lt"/>
              </a:rPr>
              <a:t> name="</a:t>
            </a:r>
            <a:r>
              <a:rPr lang="en-US" sz="1200" dirty="0" err="1">
                <a:solidFill>
                  <a:schemeClr val="tx1"/>
                </a:solidFill>
                <a:latin typeface="+mj-lt"/>
              </a:rPr>
              <a:t>T_fichier</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xs:restriction</a:t>
            </a:r>
            <a:r>
              <a:rPr lang="en-US" sz="1200" dirty="0">
                <a:solidFill>
                  <a:schemeClr val="tx1"/>
                </a:solidFill>
                <a:latin typeface="+mj-lt"/>
              </a:rPr>
              <a:t> base="</a:t>
            </a:r>
            <a:r>
              <a:rPr lang="en-US" sz="1200" dirty="0" err="1">
                <a:solidFill>
                  <a:schemeClr val="tx1"/>
                </a:solidFill>
                <a:latin typeface="+mj-lt"/>
              </a:rPr>
              <a:t>xs:string</a:t>
            </a:r>
            <a:r>
              <a:rPr lang="en-US" sz="1200" dirty="0" smtClean="0">
                <a:solidFill>
                  <a:schemeClr val="tx1"/>
                </a:solidFill>
                <a:latin typeface="+mj-lt"/>
              </a:rPr>
              <a:t>"&gt; &lt;/</a:t>
            </a:r>
            <a:r>
              <a:rPr lang="en-US" sz="1200" dirty="0" err="1">
                <a:solidFill>
                  <a:schemeClr val="tx1"/>
                </a:solidFill>
                <a:latin typeface="+mj-lt"/>
              </a:rPr>
              <a:t>xs:restriction</a:t>
            </a:r>
            <a:r>
              <a:rPr lang="en-US" sz="1200" dirty="0" smtClean="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smtClean="0">
                <a:solidFill>
                  <a:schemeClr val="tx1"/>
                </a:solidFill>
                <a:latin typeface="+mj-lt"/>
              </a:rPr>
              <a:t>xs:simpleType</a:t>
            </a:r>
            <a:r>
              <a:rPr lang="en-US" sz="1200" dirty="0" smtClean="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xs:complexType</a:t>
            </a:r>
            <a:r>
              <a:rPr lang="en-US" sz="1200" dirty="0">
                <a:solidFill>
                  <a:schemeClr val="tx1"/>
                </a:solidFill>
                <a:latin typeface="+mj-lt"/>
              </a:rPr>
              <a:t> name="</a:t>
            </a:r>
            <a:r>
              <a:rPr lang="en-US" sz="1200" dirty="0" err="1">
                <a:solidFill>
                  <a:schemeClr val="tx1"/>
                </a:solidFill>
                <a:latin typeface="+mj-lt"/>
              </a:rPr>
              <a:t>T_Champ</a:t>
            </a:r>
            <a:r>
              <a:rPr lang="en-US" sz="1200" dirty="0">
                <a:solidFill>
                  <a:schemeClr val="tx1"/>
                </a:solidFill>
                <a:latin typeface="+mj-lt"/>
              </a:rPr>
              <a:t>" &gt;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xs:extension</a:t>
            </a:r>
            <a:r>
              <a:rPr lang="en-US" sz="1200" dirty="0">
                <a:solidFill>
                  <a:schemeClr val="tx1"/>
                </a:solidFill>
                <a:latin typeface="+mj-lt"/>
              </a:rPr>
              <a:t> base="</a:t>
            </a:r>
            <a:r>
              <a:rPr lang="en-US" sz="1200" dirty="0" err="1">
                <a:solidFill>
                  <a:schemeClr val="tx1"/>
                </a:solidFill>
                <a:latin typeface="+mj-lt"/>
              </a:rPr>
              <a:t>T_step_Essai</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xs:element</a:t>
            </a:r>
            <a:r>
              <a:rPr lang="en-US" sz="1200" dirty="0">
                <a:solidFill>
                  <a:schemeClr val="tx1"/>
                </a:solidFill>
                <a:latin typeface="+mj-lt"/>
              </a:rPr>
              <a:t> name="</a:t>
            </a:r>
            <a:r>
              <a:rPr lang="en-US" sz="1200" dirty="0" err="1">
                <a:solidFill>
                  <a:schemeClr val="tx1"/>
                </a:solidFill>
                <a:latin typeface="+mj-lt"/>
              </a:rPr>
              <a:t>SurLeMaillage</a:t>
            </a:r>
            <a:r>
              <a:rPr lang="en-US" sz="1200" dirty="0">
                <a:solidFill>
                  <a:schemeClr val="tx1"/>
                </a:solidFill>
                <a:latin typeface="+mj-lt"/>
              </a:rPr>
              <a:t>" type="</a:t>
            </a:r>
            <a:r>
              <a:rPr lang="en-US" sz="1200" dirty="0" err="1">
                <a:solidFill>
                  <a:schemeClr val="tx1"/>
                </a:solidFill>
                <a:latin typeface="+mj-lt"/>
              </a:rPr>
              <a:t>Essai:T_SurLeMaillage</a:t>
            </a:r>
            <a:r>
              <a:rPr lang="en-US" sz="1200" dirty="0">
                <a:solidFill>
                  <a:schemeClr val="tx1"/>
                </a:solidFill>
                <a:latin typeface="+mj-lt"/>
              </a:rPr>
              <a:t>" minOccurs="</a:t>
            </a:r>
            <a:r>
              <a:rPr lang="en-US" sz="1200" dirty="0" smtClean="0">
                <a:solidFill>
                  <a:schemeClr val="tx1"/>
                </a:solidFill>
                <a:latin typeface="+mj-lt"/>
              </a:rPr>
              <a:t>1“ </a:t>
            </a:r>
            <a:r>
              <a:rPr lang="en-US" sz="1200" dirty="0" err="1" smtClean="0">
                <a:solidFill>
                  <a:schemeClr val="tx1"/>
                </a:solidFill>
                <a:latin typeface="+mj-lt"/>
              </a:rPr>
              <a:t>maxOccurs</a:t>
            </a:r>
            <a:r>
              <a:rPr lang="en-US" sz="1200" dirty="0">
                <a:solidFill>
                  <a:schemeClr val="tx1"/>
                </a:solidFill>
                <a:latin typeface="+mj-lt"/>
              </a:rPr>
              <a:t>="1"/&gt;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xs:attribute</a:t>
            </a:r>
            <a:r>
              <a:rPr lang="en-US" sz="1200" dirty="0">
                <a:solidFill>
                  <a:schemeClr val="tx1"/>
                </a:solidFill>
                <a:latin typeface="+mj-lt"/>
              </a:rPr>
              <a:t> name="name" type="</a:t>
            </a:r>
            <a:r>
              <a:rPr lang="en-US" sz="1200" dirty="0" err="1">
                <a:solidFill>
                  <a:schemeClr val="tx1"/>
                </a:solidFill>
                <a:latin typeface="+mj-lt"/>
              </a:rPr>
              <a:t>xs:string</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xs:attribute</a:t>
            </a:r>
            <a:r>
              <a:rPr lang="en-US" sz="1200" dirty="0">
                <a:solidFill>
                  <a:schemeClr val="tx1"/>
                </a:solidFill>
                <a:latin typeface="+mj-lt"/>
              </a:rPr>
              <a:t> name="</a:t>
            </a:r>
            <a:r>
              <a:rPr lang="en-US" sz="1200" dirty="0" err="1">
                <a:solidFill>
                  <a:schemeClr val="tx1"/>
                </a:solidFill>
                <a:latin typeface="+mj-lt"/>
              </a:rPr>
              <a:t>typeUtilisateur</a:t>
            </a:r>
            <a:r>
              <a:rPr lang="en-US" sz="1200" dirty="0">
                <a:solidFill>
                  <a:schemeClr val="tx1"/>
                </a:solidFill>
                <a:latin typeface="+mj-lt"/>
              </a:rPr>
              <a:t>" type="</a:t>
            </a:r>
            <a:r>
              <a:rPr lang="en-US" sz="1200" dirty="0" err="1">
                <a:solidFill>
                  <a:schemeClr val="tx1"/>
                </a:solidFill>
                <a:latin typeface="+mj-lt"/>
              </a:rPr>
              <a:t>xs:string</a:t>
            </a:r>
            <a:r>
              <a:rPr lang="en-US" sz="1200" dirty="0">
                <a:solidFill>
                  <a:schemeClr val="tx1"/>
                </a:solidFill>
                <a:latin typeface="+mj-lt"/>
              </a:rPr>
              <a:t>" fixed="champ"/&gt;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 </a:t>
            </a:r>
            <a:r>
              <a:rPr lang="en-US" sz="1200" dirty="0">
                <a:solidFill>
                  <a:schemeClr val="tx1"/>
                </a:solidFill>
                <a:latin typeface="+mj-lt"/>
              </a:rPr>
              <a:t>&lt;/</a:t>
            </a:r>
            <a:r>
              <a:rPr lang="en-US" sz="1200" dirty="0" err="1">
                <a:solidFill>
                  <a:schemeClr val="tx1"/>
                </a:solidFill>
                <a:latin typeface="+mj-lt"/>
              </a:rPr>
              <a:t>xs:extension</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xs:complexType</a:t>
            </a:r>
            <a:r>
              <a:rPr lang="en-US" sz="1200" dirty="0" smtClean="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xs:complexType</a:t>
            </a:r>
            <a:r>
              <a:rPr lang="en-US" sz="1200" dirty="0">
                <a:solidFill>
                  <a:schemeClr val="tx1"/>
                </a:solidFill>
                <a:latin typeface="+mj-lt"/>
              </a:rPr>
              <a:t> name="</a:t>
            </a:r>
            <a:r>
              <a:rPr lang="en-US" sz="1200" dirty="0" err="1">
                <a:solidFill>
                  <a:schemeClr val="tx1"/>
                </a:solidFill>
                <a:latin typeface="+mj-lt"/>
              </a:rPr>
              <a:t>T_Maillage</a:t>
            </a:r>
            <a:r>
              <a:rPr lang="en-US" sz="1200" dirty="0">
                <a:solidFill>
                  <a:schemeClr val="tx1"/>
                </a:solidFill>
                <a:latin typeface="+mj-lt"/>
              </a:rPr>
              <a:t>" &gt;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xs:extension</a:t>
            </a:r>
            <a:r>
              <a:rPr lang="en-US" sz="1200" dirty="0">
                <a:solidFill>
                  <a:schemeClr val="tx1"/>
                </a:solidFill>
                <a:latin typeface="+mj-lt"/>
              </a:rPr>
              <a:t> base="</a:t>
            </a:r>
            <a:r>
              <a:rPr lang="en-US" sz="1200" dirty="0" err="1">
                <a:solidFill>
                  <a:schemeClr val="tx1"/>
                </a:solidFill>
                <a:latin typeface="+mj-lt"/>
              </a:rPr>
              <a:t>T_step_Essai</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xs:element</a:t>
            </a:r>
            <a:r>
              <a:rPr lang="en-US" sz="1200" dirty="0">
                <a:solidFill>
                  <a:schemeClr val="tx1"/>
                </a:solidFill>
                <a:latin typeface="+mj-lt"/>
              </a:rPr>
              <a:t> name="</a:t>
            </a:r>
            <a:r>
              <a:rPr lang="en-US" sz="1200" dirty="0" err="1">
                <a:solidFill>
                  <a:schemeClr val="tx1"/>
                </a:solidFill>
                <a:latin typeface="+mj-lt"/>
              </a:rPr>
              <a:t>fichier</a:t>
            </a:r>
            <a:r>
              <a:rPr lang="en-US" sz="1200" dirty="0">
                <a:solidFill>
                  <a:schemeClr val="tx1"/>
                </a:solidFill>
                <a:latin typeface="+mj-lt"/>
              </a:rPr>
              <a:t>" type="</a:t>
            </a:r>
            <a:r>
              <a:rPr lang="en-US" sz="1200" dirty="0" err="1">
                <a:solidFill>
                  <a:schemeClr val="tx1"/>
                </a:solidFill>
                <a:latin typeface="+mj-lt"/>
              </a:rPr>
              <a:t>Essai:T_fichier</a:t>
            </a:r>
            <a:r>
              <a:rPr lang="en-US" sz="1200" dirty="0">
                <a:solidFill>
                  <a:schemeClr val="tx1"/>
                </a:solidFill>
                <a:latin typeface="+mj-lt"/>
              </a:rPr>
              <a:t>" minOccurs="1" </a:t>
            </a:r>
            <a:r>
              <a:rPr lang="en-US" sz="1200" dirty="0" err="1">
                <a:solidFill>
                  <a:schemeClr val="tx1"/>
                </a:solidFill>
                <a:latin typeface="+mj-lt"/>
              </a:rPr>
              <a:t>maxOccurs</a:t>
            </a:r>
            <a:r>
              <a:rPr lang="en-US" sz="1200" dirty="0">
                <a:solidFill>
                  <a:schemeClr val="tx1"/>
                </a:solidFill>
                <a:latin typeface="+mj-lt"/>
              </a:rPr>
              <a:t>="1"/&gt;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xs:attribute</a:t>
            </a:r>
            <a:r>
              <a:rPr lang="en-US" sz="1200" dirty="0">
                <a:solidFill>
                  <a:schemeClr val="tx1"/>
                </a:solidFill>
                <a:latin typeface="+mj-lt"/>
              </a:rPr>
              <a:t> name="name" type="</a:t>
            </a:r>
            <a:r>
              <a:rPr lang="en-US" sz="1200" dirty="0" err="1">
                <a:solidFill>
                  <a:schemeClr val="tx1"/>
                </a:solidFill>
                <a:latin typeface="+mj-lt"/>
              </a:rPr>
              <a:t>xs:string</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xs:attribute</a:t>
            </a:r>
            <a:r>
              <a:rPr lang="en-US" sz="1200" dirty="0">
                <a:solidFill>
                  <a:schemeClr val="tx1"/>
                </a:solidFill>
                <a:latin typeface="+mj-lt"/>
              </a:rPr>
              <a:t> name="</a:t>
            </a:r>
            <a:r>
              <a:rPr lang="en-US" sz="1200" dirty="0" err="1">
                <a:solidFill>
                  <a:schemeClr val="tx1"/>
                </a:solidFill>
                <a:latin typeface="+mj-lt"/>
              </a:rPr>
              <a:t>typeUtilisateur</a:t>
            </a:r>
            <a:r>
              <a:rPr lang="en-US" sz="1200" dirty="0">
                <a:solidFill>
                  <a:schemeClr val="tx1"/>
                </a:solidFill>
                <a:latin typeface="+mj-lt"/>
              </a:rPr>
              <a:t>" type="</a:t>
            </a:r>
            <a:r>
              <a:rPr lang="en-US" sz="1200" dirty="0" err="1">
                <a:solidFill>
                  <a:schemeClr val="tx1"/>
                </a:solidFill>
                <a:latin typeface="+mj-lt"/>
              </a:rPr>
              <a:t>xs:string</a:t>
            </a:r>
            <a:r>
              <a:rPr lang="en-US" sz="1200" dirty="0">
                <a:solidFill>
                  <a:schemeClr val="tx1"/>
                </a:solidFill>
                <a:latin typeface="+mj-lt"/>
              </a:rPr>
              <a:t>" fixed="</a:t>
            </a:r>
            <a:r>
              <a:rPr lang="en-US" sz="1200" dirty="0" err="1">
                <a:solidFill>
                  <a:schemeClr val="tx1"/>
                </a:solidFill>
                <a:latin typeface="+mj-lt"/>
              </a:rPr>
              <a:t>maillage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xs:extension</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p:txBody>
      </p:sp>
      <p:sp>
        <p:nvSpPr>
          <p:cNvPr id="12" name="Rectangle 11"/>
          <p:cNvSpPr/>
          <p:nvPr/>
        </p:nvSpPr>
        <p:spPr>
          <a:xfrm>
            <a:off x="782371" y="1026496"/>
            <a:ext cx="1062555" cy="369332"/>
          </a:xfrm>
          <a:prstGeom prst="rect">
            <a:avLst/>
          </a:prstGeom>
          <a:noFill/>
        </p:spPr>
        <p:txBody>
          <a:bodyPr wrap="square">
            <a:spAutoFit/>
          </a:bodyPr>
          <a:lstStyle/>
          <a:p>
            <a:pPr eaLnBrk="1">
              <a:spcBef>
                <a:spcPts val="300"/>
              </a:spcBef>
              <a:buClr>
                <a:srgbClr val="001A70"/>
              </a:buClr>
              <a:defRPr/>
            </a:pPr>
            <a:r>
              <a:rPr lang="fr-FR" altLang="fr-FR" dirty="0" smtClean="0">
                <a:solidFill>
                  <a:srgbClr val="000000"/>
                </a:solidFill>
                <a:latin typeface="Arial"/>
                <a:cs typeface="Arial"/>
              </a:rPr>
              <a:t>XSD</a:t>
            </a:r>
            <a:endParaRPr lang="fr-FR" altLang="fr-FR" dirty="0">
              <a:solidFill>
                <a:srgbClr val="000000"/>
              </a:solidFill>
              <a:latin typeface="Arial"/>
              <a:cs typeface="Arial"/>
            </a:endParaRPr>
          </a:p>
        </p:txBody>
      </p:sp>
      <p:sp>
        <p:nvSpPr>
          <p:cNvPr id="2" name="Rectangle 1"/>
          <p:cNvSpPr/>
          <p:nvPr/>
        </p:nvSpPr>
        <p:spPr>
          <a:xfrm>
            <a:off x="6211320" y="824984"/>
            <a:ext cx="248786" cy="369332"/>
          </a:xfrm>
          <a:prstGeom prst="rect">
            <a:avLst/>
          </a:prstGeom>
        </p:spPr>
        <p:txBody>
          <a:bodyPr wrap="none">
            <a:spAutoFit/>
          </a:bodyPr>
          <a:lstStyle/>
          <a:p>
            <a:r>
              <a:rPr lang="en-US" dirty="0">
                <a:solidFill>
                  <a:schemeClr val="tx1"/>
                </a:solidFill>
                <a:latin typeface="+mj-lt"/>
              </a:rPr>
              <a:t> </a:t>
            </a:r>
            <a:endParaRPr lang="fr-FR" dirty="0"/>
          </a:p>
        </p:txBody>
      </p:sp>
      <p:sp>
        <p:nvSpPr>
          <p:cNvPr id="3" name="ZoneTexte 2"/>
          <p:cNvSpPr txBox="1"/>
          <p:nvPr/>
        </p:nvSpPr>
        <p:spPr>
          <a:xfrm>
            <a:off x="3883511" y="1346972"/>
            <a:ext cx="4830183" cy="1831435"/>
          </a:xfrm>
          <a:prstGeom prst="rect">
            <a:avLst/>
          </a:prstGeom>
          <a:solidFill>
            <a:schemeClr val="bg1"/>
          </a:solidFill>
        </p:spPr>
        <p:txBody>
          <a:bodyPr wrap="square" rtlCol="0">
            <a:spAutoFit/>
          </a:bodyPr>
          <a:lstStyle/>
          <a:p>
            <a:endParaRPr lang="fr-FR" dirty="0"/>
          </a:p>
        </p:txBody>
      </p:sp>
      <p:sp>
        <p:nvSpPr>
          <p:cNvPr id="5" name="Textplatzhalter 1"/>
          <p:cNvSpPr txBox="1">
            <a:spLocks/>
          </p:cNvSpPr>
          <p:nvPr/>
        </p:nvSpPr>
        <p:spPr bwMode="auto">
          <a:xfrm>
            <a:off x="4361319" y="1385565"/>
            <a:ext cx="4037744" cy="1091855"/>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r>
              <a:rPr lang="en-US" sz="1200" dirty="0">
                <a:solidFill>
                  <a:schemeClr val="tx1"/>
                </a:solidFill>
                <a:latin typeface="+mj-lt"/>
              </a:rPr>
              <a:t>class </a:t>
            </a:r>
            <a:r>
              <a:rPr lang="en-US" sz="1200" dirty="0" err="1">
                <a:solidFill>
                  <a:schemeClr val="tx1"/>
                </a:solidFill>
                <a:latin typeface="+mj-lt"/>
              </a:rPr>
              <a:t>maillage</a:t>
            </a:r>
            <a:r>
              <a:rPr lang="en-US" sz="1200" dirty="0">
                <a:solidFill>
                  <a:schemeClr val="tx1"/>
                </a:solidFill>
                <a:latin typeface="+mj-lt"/>
              </a:rPr>
              <a:t>(ASSD):pass</a:t>
            </a:r>
          </a:p>
          <a:p>
            <a:pPr>
              <a:spcAft>
                <a:spcPts val="0"/>
              </a:spcAft>
            </a:pPr>
            <a:r>
              <a:rPr lang="en-US" sz="1200" dirty="0">
                <a:solidFill>
                  <a:schemeClr val="tx1"/>
                </a:solidFill>
                <a:latin typeface="+mj-lt"/>
              </a:rPr>
              <a:t>class champ(ASSD):pass</a:t>
            </a:r>
          </a:p>
          <a:p>
            <a:pPr>
              <a:spcAft>
                <a:spcPts val="0"/>
              </a:spcAft>
            </a:pPr>
            <a:r>
              <a:rPr lang="en-US" sz="1200" dirty="0" err="1">
                <a:solidFill>
                  <a:schemeClr val="tx1"/>
                </a:solidFill>
                <a:latin typeface="+mj-lt"/>
              </a:rPr>
              <a:t>Maillage</a:t>
            </a:r>
            <a:r>
              <a:rPr lang="en-US" sz="1200" dirty="0">
                <a:solidFill>
                  <a:schemeClr val="tx1"/>
                </a:solidFill>
                <a:latin typeface="+mj-lt"/>
              </a:rPr>
              <a:t> = OPER ( nom='</a:t>
            </a:r>
            <a:r>
              <a:rPr lang="en-US" sz="1200" dirty="0" err="1">
                <a:solidFill>
                  <a:schemeClr val="tx1"/>
                </a:solidFill>
                <a:latin typeface="+mj-lt"/>
              </a:rPr>
              <a:t>Maillage</a:t>
            </a:r>
            <a:r>
              <a:rPr lang="en-US" sz="1200" dirty="0">
                <a:solidFill>
                  <a:schemeClr val="tx1"/>
                </a:solidFill>
                <a:latin typeface="+mj-lt"/>
              </a:rPr>
              <a:t>', </a:t>
            </a:r>
            <a:r>
              <a:rPr lang="en-US" sz="1200" dirty="0" err="1">
                <a:solidFill>
                  <a:schemeClr val="tx1"/>
                </a:solidFill>
                <a:latin typeface="+mj-lt"/>
              </a:rPr>
              <a:t>sd_prod</a:t>
            </a:r>
            <a:r>
              <a:rPr lang="en-US" sz="1200" dirty="0">
                <a:solidFill>
                  <a:schemeClr val="tx1"/>
                </a:solidFill>
                <a:latin typeface="+mj-lt"/>
              </a:rPr>
              <a:t>=</a:t>
            </a:r>
            <a:r>
              <a:rPr lang="en-US" sz="1200" dirty="0" err="1">
                <a:solidFill>
                  <a:schemeClr val="tx1"/>
                </a:solidFill>
                <a:latin typeface="+mj-lt"/>
              </a:rPr>
              <a:t>maillage</a:t>
            </a:r>
            <a:r>
              <a:rPr lang="en-US" sz="1200" dirty="0">
                <a:solidFill>
                  <a:schemeClr val="tx1"/>
                </a:solidFill>
                <a:latin typeface="+mj-lt"/>
              </a:rPr>
              <a:t>,</a:t>
            </a:r>
          </a:p>
          <a:p>
            <a:pPr>
              <a:spcAft>
                <a:spcPts val="0"/>
              </a:spcAft>
            </a:pPr>
            <a:r>
              <a:rPr lang="en-US" sz="1200" dirty="0">
                <a:solidFill>
                  <a:schemeClr val="tx1"/>
                </a:solidFill>
                <a:latin typeface="+mj-lt"/>
              </a:rPr>
              <a:t>    </a:t>
            </a:r>
            <a:r>
              <a:rPr lang="en-US" sz="1200" dirty="0" err="1">
                <a:solidFill>
                  <a:schemeClr val="tx1"/>
                </a:solidFill>
                <a:latin typeface="+mj-lt"/>
              </a:rPr>
              <a:t>fichier</a:t>
            </a:r>
            <a:r>
              <a:rPr lang="en-US" sz="1200" dirty="0">
                <a:solidFill>
                  <a:schemeClr val="tx1"/>
                </a:solidFill>
                <a:latin typeface="+mj-lt"/>
              </a:rPr>
              <a:t> = SIMP( </a:t>
            </a:r>
            <a:r>
              <a:rPr lang="en-US" sz="1200" dirty="0" err="1">
                <a:solidFill>
                  <a:schemeClr val="tx1"/>
                </a:solidFill>
                <a:latin typeface="+mj-lt"/>
              </a:rPr>
              <a:t>statut</a:t>
            </a:r>
            <a:r>
              <a:rPr lang="en-US" sz="1200" dirty="0">
                <a:solidFill>
                  <a:schemeClr val="tx1"/>
                </a:solidFill>
                <a:latin typeface="+mj-lt"/>
              </a:rPr>
              <a:t>='o', </a:t>
            </a:r>
            <a:r>
              <a:rPr lang="en-US" sz="1200" dirty="0" err="1">
                <a:solidFill>
                  <a:schemeClr val="tx1"/>
                </a:solidFill>
                <a:latin typeface="+mj-lt"/>
              </a:rPr>
              <a:t>typ</a:t>
            </a:r>
            <a:r>
              <a:rPr lang="en-US" sz="1200" dirty="0">
                <a:solidFill>
                  <a:schemeClr val="tx1"/>
                </a:solidFill>
                <a:latin typeface="+mj-lt"/>
              </a:rPr>
              <a:t> = ('</a:t>
            </a:r>
            <a:r>
              <a:rPr lang="en-US" sz="1200" dirty="0" err="1">
                <a:solidFill>
                  <a:schemeClr val="tx1"/>
                </a:solidFill>
                <a:latin typeface="+mj-lt"/>
              </a:rPr>
              <a:t>Fichier</a:t>
            </a:r>
            <a:r>
              <a:rPr lang="en-US" sz="1200" dirty="0">
                <a:solidFill>
                  <a:schemeClr val="tx1"/>
                </a:solidFill>
                <a:latin typeface="+mj-lt"/>
              </a:rPr>
              <a:t>','All Files </a:t>
            </a:r>
            <a:r>
              <a:rPr lang="en-US" sz="1200" dirty="0" smtClean="0">
                <a:solidFill>
                  <a:schemeClr val="tx1"/>
                </a:solidFill>
                <a:latin typeface="+mj-lt"/>
              </a:rPr>
              <a:t>(*)')),)</a:t>
            </a:r>
            <a:endParaRPr lang="en-US" sz="1200" dirty="0">
              <a:solidFill>
                <a:schemeClr val="tx1"/>
              </a:solidFill>
              <a:latin typeface="+mj-lt"/>
            </a:endParaRPr>
          </a:p>
          <a:p>
            <a:pPr>
              <a:spcAft>
                <a:spcPts val="0"/>
              </a:spcAft>
            </a:pPr>
            <a:r>
              <a:rPr lang="en-US" sz="1200" dirty="0">
                <a:solidFill>
                  <a:schemeClr val="tx1"/>
                </a:solidFill>
                <a:latin typeface="+mj-lt"/>
              </a:rPr>
              <a:t>Champ = OPER ( nom='Champ', </a:t>
            </a:r>
            <a:r>
              <a:rPr lang="en-US" sz="1200" dirty="0" err="1">
                <a:solidFill>
                  <a:schemeClr val="tx1"/>
                </a:solidFill>
                <a:latin typeface="+mj-lt"/>
              </a:rPr>
              <a:t>sd_prod</a:t>
            </a:r>
            <a:r>
              <a:rPr lang="en-US" sz="1200" dirty="0">
                <a:solidFill>
                  <a:schemeClr val="tx1"/>
                </a:solidFill>
                <a:latin typeface="+mj-lt"/>
              </a:rPr>
              <a:t>=champ,</a:t>
            </a:r>
          </a:p>
          <a:p>
            <a:pPr>
              <a:spcAft>
                <a:spcPts val="0"/>
              </a:spcAft>
            </a:pPr>
            <a:r>
              <a:rPr lang="en-US" sz="1200" dirty="0">
                <a:solidFill>
                  <a:schemeClr val="tx1"/>
                </a:solidFill>
                <a:latin typeface="+mj-lt"/>
              </a:rPr>
              <a:t>    </a:t>
            </a:r>
            <a:r>
              <a:rPr lang="en-US" sz="1200" dirty="0" err="1">
                <a:solidFill>
                  <a:schemeClr val="tx1"/>
                </a:solidFill>
                <a:latin typeface="+mj-lt"/>
              </a:rPr>
              <a:t>SurLeMaillage</a:t>
            </a:r>
            <a:r>
              <a:rPr lang="en-US" sz="1200" dirty="0">
                <a:solidFill>
                  <a:schemeClr val="tx1"/>
                </a:solidFill>
                <a:latin typeface="+mj-lt"/>
              </a:rPr>
              <a:t> = SIMP( </a:t>
            </a:r>
            <a:r>
              <a:rPr lang="en-US" sz="1200" dirty="0" err="1">
                <a:solidFill>
                  <a:schemeClr val="tx1"/>
                </a:solidFill>
                <a:latin typeface="+mj-lt"/>
              </a:rPr>
              <a:t>statut</a:t>
            </a:r>
            <a:r>
              <a:rPr lang="en-US" sz="1200" dirty="0">
                <a:solidFill>
                  <a:schemeClr val="tx1"/>
                </a:solidFill>
                <a:latin typeface="+mj-lt"/>
              </a:rPr>
              <a:t>='o', </a:t>
            </a:r>
            <a:r>
              <a:rPr lang="en-US" sz="1200" dirty="0" err="1">
                <a:solidFill>
                  <a:schemeClr val="tx1"/>
                </a:solidFill>
                <a:latin typeface="+mj-lt"/>
              </a:rPr>
              <a:t>typ</a:t>
            </a:r>
            <a:r>
              <a:rPr lang="en-US" sz="1200" dirty="0">
                <a:solidFill>
                  <a:schemeClr val="tx1"/>
                </a:solidFill>
                <a:latin typeface="+mj-lt"/>
              </a:rPr>
              <a:t> = </a:t>
            </a:r>
            <a:r>
              <a:rPr lang="en-US" sz="1200" dirty="0" err="1">
                <a:solidFill>
                  <a:schemeClr val="tx1"/>
                </a:solidFill>
                <a:latin typeface="+mj-lt"/>
              </a:rPr>
              <a:t>maillage</a:t>
            </a:r>
            <a:r>
              <a:rPr lang="en-US" sz="1200" dirty="0" smtClean="0">
                <a:solidFill>
                  <a:schemeClr val="tx1"/>
                </a:solidFill>
                <a:latin typeface="+mj-lt"/>
              </a:rPr>
              <a:t>),)</a:t>
            </a:r>
            <a:endParaRPr lang="en-US" sz="1200" dirty="0">
              <a:solidFill>
                <a:schemeClr val="tx1"/>
              </a:solidFill>
              <a:latin typeface="+mj-lt"/>
            </a:endParaRPr>
          </a:p>
        </p:txBody>
      </p:sp>
      <p:sp>
        <p:nvSpPr>
          <p:cNvPr id="7" name="Ellipse 6"/>
          <p:cNvSpPr/>
          <p:nvPr/>
        </p:nvSpPr>
        <p:spPr bwMode="auto">
          <a:xfrm>
            <a:off x="3883511" y="861511"/>
            <a:ext cx="4993361" cy="2148817"/>
          </a:xfrm>
          <a:prstGeom prst="ellipse">
            <a:avLst/>
          </a:prstGeom>
          <a:noFill/>
          <a:ln w="19050"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Tree>
    <p:extLst>
      <p:ext uri="{BB962C8B-B14F-4D97-AF65-F5344CB8AC3E}">
        <p14:creationId xmlns:p14="http://schemas.microsoft.com/office/powerpoint/2010/main" val="352908860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42</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 JEU DE DONNEES SOUS FORME </a:t>
            </a:r>
            <a:r>
              <a:rPr lang="en-US" altLang="fr-FR" sz="2800" dirty="0" smtClean="0">
                <a:solidFill>
                  <a:srgbClr val="001A70"/>
                </a:solidFill>
                <a:cs typeface="Arial" panose="020B0604020202020204" pitchFamily="34" charset="0"/>
              </a:rPr>
              <a:t>PYTHON</a:t>
            </a:r>
            <a:endParaRPr lang="en-US" altLang="fr-FR" sz="2800" dirty="0">
              <a:solidFill>
                <a:srgbClr val="001A70"/>
              </a:solidFill>
              <a:cs typeface="Arial" panose="020B0604020202020204" pitchFamily="34" charset="0"/>
            </a:endParaRPr>
          </a:p>
        </p:txBody>
      </p:sp>
      <p:sp>
        <p:nvSpPr>
          <p:cNvPr id="6" name="Rectangle 5"/>
          <p:cNvSpPr/>
          <p:nvPr/>
        </p:nvSpPr>
        <p:spPr>
          <a:xfrm>
            <a:off x="255095" y="774704"/>
            <a:ext cx="8332355" cy="400110"/>
          </a:xfrm>
          <a:prstGeom prst="rect">
            <a:avLst/>
          </a:prstGeom>
          <a:noFill/>
        </p:spPr>
        <p:txBody>
          <a:bodyPr wrap="square" lIns="91440" tIns="45720" rIns="91440" bIns="45720" anchor="t">
            <a:spAutoFit/>
          </a:bodyPr>
          <a:lstStyle/>
          <a:p>
            <a:pPr marL="342900" indent="-342900" eaLnBrk="1">
              <a:spcBef>
                <a:spcPts val="300"/>
              </a:spcBef>
              <a:buClr>
                <a:srgbClr val="001A70"/>
              </a:buClr>
              <a:buFont typeface="Wingdings" panose="05000000000000000000" pitchFamily="2" charset="2"/>
              <a:buChar char="§"/>
              <a:defRPr/>
            </a:pPr>
            <a:r>
              <a:rPr lang="fr-FR" altLang="fr-FR" sz="2000">
                <a:solidFill>
                  <a:srgbClr val="002060"/>
                </a:solidFill>
                <a:latin typeface="+mj-lt"/>
                <a:cs typeface="Arial"/>
              </a:rPr>
              <a:t>Exemple de dualité du</a:t>
            </a:r>
            <a:endParaRPr lang="fr-FR" altLang="fr-FR" sz="2000" dirty="0">
              <a:solidFill>
                <a:srgbClr val="002060"/>
              </a:solidFill>
              <a:latin typeface="+mj-lt"/>
            </a:endParaRPr>
          </a:p>
        </p:txBody>
      </p:sp>
      <p:sp>
        <p:nvSpPr>
          <p:cNvPr id="7" name="Rectangle 6"/>
          <p:cNvSpPr/>
          <p:nvPr/>
        </p:nvSpPr>
        <p:spPr>
          <a:xfrm>
            <a:off x="255096" y="4184080"/>
            <a:ext cx="8426450" cy="2192908"/>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Eventuellement  exécuter le python dans un contexte métier:</a:t>
            </a:r>
            <a:endParaRPr lang="fr-FR" altLang="fr-FR" sz="2400"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Nécessite  d’importer certaines classes MDM</a:t>
            </a:r>
          </a:p>
          <a:p>
            <a:pPr marL="457200" lvl="1" indent="0">
              <a:spcBef>
                <a:spcPts val="300"/>
              </a:spcBef>
              <a:buClr>
                <a:srgbClr val="001A70"/>
              </a:buClr>
            </a:pPr>
            <a:endParaRPr lang="fr-FR" dirty="0">
              <a:solidFill>
                <a:srgbClr val="00000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Utiliser des décorateurs sur les fonctions pour :</a:t>
            </a: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Valider les paramètres d’appel de la fonction par exemple  </a:t>
            </a:r>
          </a:p>
          <a:p>
            <a:pPr lvl="1" indent="0">
              <a:spcBef>
                <a:spcPts val="300"/>
              </a:spcBef>
              <a:spcAft>
                <a:spcPct val="25000"/>
              </a:spcAft>
              <a:buClr>
                <a:srgbClr val="001A70"/>
              </a:buClr>
            </a:pPr>
            <a:endParaRPr lang="fr-FR" altLang="fr-FR" sz="2000" dirty="0">
              <a:solidFill>
                <a:srgbClr val="002060"/>
              </a:solidFill>
              <a:latin typeface="Arial"/>
              <a:cs typeface="Arial"/>
            </a:endParaRPr>
          </a:p>
        </p:txBody>
      </p:sp>
      <p:sp>
        <p:nvSpPr>
          <p:cNvPr id="5" name="Textplatzhalter 1"/>
          <p:cNvSpPr txBox="1">
            <a:spLocks/>
          </p:cNvSpPr>
          <p:nvPr/>
        </p:nvSpPr>
        <p:spPr bwMode="auto">
          <a:xfrm>
            <a:off x="436116" y="3574586"/>
            <a:ext cx="4130567" cy="533429"/>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marL="36000">
              <a:spcBef>
                <a:spcPts val="600"/>
              </a:spcBef>
              <a:spcAft>
                <a:spcPts val="600"/>
              </a:spcAft>
            </a:pPr>
            <a:r>
              <a:rPr lang="en-US" sz="1400" dirty="0" err="1">
                <a:solidFill>
                  <a:schemeClr val="tx1"/>
                </a:solidFill>
                <a:latin typeface="+mj-lt"/>
              </a:rPr>
              <a:t>MonMaillage</a:t>
            </a:r>
            <a:r>
              <a:rPr lang="en-US" sz="1400" dirty="0">
                <a:solidFill>
                  <a:schemeClr val="tx1"/>
                </a:solidFill>
                <a:latin typeface="+mj-lt"/>
              </a:rPr>
              <a:t> = </a:t>
            </a:r>
            <a:r>
              <a:rPr lang="en-US" sz="1400" dirty="0" err="1">
                <a:solidFill>
                  <a:schemeClr val="tx1"/>
                </a:solidFill>
                <a:latin typeface="+mj-lt"/>
              </a:rPr>
              <a:t>Maillage</a:t>
            </a:r>
            <a:r>
              <a:rPr lang="en-US" sz="1400" dirty="0">
                <a:solidFill>
                  <a:schemeClr val="tx1"/>
                </a:solidFill>
                <a:latin typeface="+mj-lt"/>
              </a:rPr>
              <a:t>(</a:t>
            </a:r>
            <a:r>
              <a:rPr lang="en-US" sz="1400" dirty="0" err="1">
                <a:solidFill>
                  <a:schemeClr val="tx1"/>
                </a:solidFill>
                <a:latin typeface="+mj-lt"/>
              </a:rPr>
              <a:t>fichier</a:t>
            </a:r>
            <a:r>
              <a:rPr lang="en-US" sz="1400" dirty="0">
                <a:solidFill>
                  <a:schemeClr val="tx1"/>
                </a:solidFill>
                <a:latin typeface="+mj-lt"/>
              </a:rPr>
              <a:t>=‘/</a:t>
            </a:r>
            <a:r>
              <a:rPr lang="en-US" sz="1400" dirty="0" err="1">
                <a:solidFill>
                  <a:schemeClr val="tx1"/>
                </a:solidFill>
                <a:latin typeface="+mj-lt"/>
              </a:rPr>
              <a:t>tmp</a:t>
            </a:r>
            <a:r>
              <a:rPr lang="en-US" sz="1400" dirty="0">
                <a:solidFill>
                  <a:schemeClr val="tx1"/>
                </a:solidFill>
                <a:latin typeface="+mj-lt"/>
              </a:rPr>
              <a:t>/</a:t>
            </a:r>
            <a:r>
              <a:rPr lang="en-US" sz="1400" dirty="0" err="1">
                <a:solidFill>
                  <a:schemeClr val="tx1"/>
                </a:solidFill>
                <a:latin typeface="+mj-lt"/>
              </a:rPr>
              <a:t>myFile.med</a:t>
            </a:r>
            <a:r>
              <a:rPr lang="en-US" sz="1400" dirty="0">
                <a:solidFill>
                  <a:schemeClr val="tx1"/>
                </a:solidFill>
                <a:latin typeface="+mj-lt"/>
              </a:rPr>
              <a:t>’)</a:t>
            </a:r>
          </a:p>
          <a:p>
            <a:pPr>
              <a:spcAft>
                <a:spcPts val="0"/>
              </a:spcAft>
            </a:pPr>
            <a:r>
              <a:rPr lang="en-US" sz="1400" dirty="0">
                <a:solidFill>
                  <a:schemeClr val="tx1"/>
                </a:solidFill>
                <a:latin typeface="+mj-lt"/>
              </a:rPr>
              <a:t> </a:t>
            </a:r>
            <a:r>
              <a:rPr lang="en-US" sz="1400" dirty="0" err="1">
                <a:solidFill>
                  <a:schemeClr val="tx1"/>
                </a:solidFill>
                <a:latin typeface="+mj-lt"/>
              </a:rPr>
              <a:t>MonChamp</a:t>
            </a:r>
            <a:r>
              <a:rPr lang="en-US" sz="1400" dirty="0">
                <a:solidFill>
                  <a:schemeClr val="tx1"/>
                </a:solidFill>
                <a:latin typeface="+mj-lt"/>
              </a:rPr>
              <a:t>  = Champ(</a:t>
            </a:r>
            <a:r>
              <a:rPr lang="en-US" sz="1400" dirty="0" err="1">
                <a:solidFill>
                  <a:schemeClr val="tx1"/>
                </a:solidFill>
                <a:latin typeface="+mj-lt"/>
              </a:rPr>
              <a:t>surLeMaillage</a:t>
            </a:r>
            <a:r>
              <a:rPr lang="en-US" sz="1400" dirty="0">
                <a:solidFill>
                  <a:schemeClr val="tx1"/>
                </a:solidFill>
                <a:latin typeface="+mj-lt"/>
              </a:rPr>
              <a:t>=</a:t>
            </a:r>
            <a:r>
              <a:rPr lang="en-US" sz="1400" dirty="0" err="1">
                <a:solidFill>
                  <a:schemeClr val="tx1"/>
                </a:solidFill>
                <a:latin typeface="+mj-lt"/>
              </a:rPr>
              <a:t>MonMaillage</a:t>
            </a:r>
            <a:r>
              <a:rPr lang="en-US" sz="1400" dirty="0">
                <a:solidFill>
                  <a:schemeClr val="tx1"/>
                </a:solidFill>
                <a:latin typeface="+mj-lt"/>
              </a:rPr>
              <a:t>)</a:t>
            </a:r>
          </a:p>
          <a:p>
            <a:pPr>
              <a:spcAft>
                <a:spcPts val="0"/>
              </a:spcAft>
            </a:pPr>
            <a:endParaRPr lang="en-US" sz="1400" dirty="0">
              <a:solidFill>
                <a:schemeClr val="tx1"/>
              </a:solidFill>
              <a:latin typeface="+mj-lt"/>
            </a:endParaRPr>
          </a:p>
          <a:p>
            <a:pPr>
              <a:spcAft>
                <a:spcPts val="0"/>
              </a:spcAft>
            </a:pPr>
            <a:endParaRPr lang="en-US" sz="1400" dirty="0">
              <a:solidFill>
                <a:schemeClr val="tx1"/>
              </a:solidFill>
              <a:latin typeface="+mj-lt"/>
            </a:endParaRPr>
          </a:p>
        </p:txBody>
      </p:sp>
      <p:sp>
        <p:nvSpPr>
          <p:cNvPr id="10" name="Rectangle 9"/>
          <p:cNvSpPr/>
          <p:nvPr/>
        </p:nvSpPr>
        <p:spPr>
          <a:xfrm>
            <a:off x="352105" y="3205254"/>
            <a:ext cx="1062555" cy="369332"/>
          </a:xfrm>
          <a:prstGeom prst="rect">
            <a:avLst/>
          </a:prstGeom>
          <a:noFill/>
        </p:spPr>
        <p:txBody>
          <a:bodyPr wrap="square">
            <a:spAutoFit/>
          </a:bodyPr>
          <a:lstStyle/>
          <a:p>
            <a:pPr eaLnBrk="1">
              <a:spcBef>
                <a:spcPts val="300"/>
              </a:spcBef>
              <a:buClr>
                <a:srgbClr val="001A70"/>
              </a:buClr>
              <a:defRPr/>
            </a:pPr>
            <a:r>
              <a:rPr lang="fr-FR" altLang="fr-FR" dirty="0">
                <a:solidFill>
                  <a:srgbClr val="000000"/>
                </a:solidFill>
                <a:latin typeface="Arial"/>
                <a:cs typeface="Arial"/>
              </a:rPr>
              <a:t>Python</a:t>
            </a:r>
          </a:p>
        </p:txBody>
      </p:sp>
      <p:sp>
        <p:nvSpPr>
          <p:cNvPr id="9" name="Textplatzhalter 1"/>
          <p:cNvSpPr txBox="1">
            <a:spLocks/>
          </p:cNvSpPr>
          <p:nvPr/>
        </p:nvSpPr>
        <p:spPr bwMode="auto">
          <a:xfrm>
            <a:off x="352105" y="1568061"/>
            <a:ext cx="8138334" cy="1456200"/>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marL="36000">
              <a:spcBef>
                <a:spcPts val="0"/>
              </a:spcBef>
              <a:spcAft>
                <a:spcPts val="0"/>
              </a:spcAft>
            </a:pPr>
            <a:r>
              <a:rPr lang="en-US" sz="1400" dirty="0">
                <a:solidFill>
                  <a:schemeClr val="tx1"/>
                </a:solidFill>
                <a:latin typeface="+mj-lt"/>
              </a:rPr>
              <a:t>&lt;ns1:Maillage </a:t>
            </a:r>
            <a:r>
              <a:rPr lang="en-US" sz="1400" dirty="0" err="1">
                <a:solidFill>
                  <a:schemeClr val="tx1"/>
                </a:solidFill>
                <a:latin typeface="+mj-lt"/>
              </a:rPr>
              <a:t>accasType</a:t>
            </a:r>
            <a:r>
              <a:rPr lang="en-US" sz="1400" dirty="0">
                <a:solidFill>
                  <a:schemeClr val="tx1"/>
                </a:solidFill>
                <a:latin typeface="+mj-lt"/>
              </a:rPr>
              <a:t>="ASSD" </a:t>
            </a:r>
            <a:r>
              <a:rPr lang="en-US" sz="1400" dirty="0" err="1">
                <a:solidFill>
                  <a:schemeClr val="tx1"/>
                </a:solidFill>
                <a:latin typeface="+mj-lt"/>
              </a:rPr>
              <a:t>typeUtilisateur</a:t>
            </a:r>
            <a:r>
              <a:rPr lang="en-US" sz="1400" dirty="0">
                <a:solidFill>
                  <a:schemeClr val="tx1"/>
                </a:solidFill>
                <a:latin typeface="+mj-lt"/>
              </a:rPr>
              <a:t>=“</a:t>
            </a:r>
            <a:r>
              <a:rPr lang="en-US" sz="1400" dirty="0" err="1">
                <a:solidFill>
                  <a:schemeClr val="tx1"/>
                </a:solidFill>
                <a:latin typeface="+mj-lt"/>
              </a:rPr>
              <a:t>maillage</a:t>
            </a:r>
            <a:r>
              <a:rPr lang="en-US" sz="1400" dirty="0">
                <a:solidFill>
                  <a:schemeClr val="tx1"/>
                </a:solidFill>
                <a:latin typeface="+mj-lt"/>
              </a:rPr>
              <a:t>" name="</a:t>
            </a:r>
            <a:r>
              <a:rPr lang="en-US" sz="1400" dirty="0" err="1">
                <a:solidFill>
                  <a:schemeClr val="tx1"/>
                </a:solidFill>
                <a:latin typeface="+mj-lt"/>
              </a:rPr>
              <a:t>MonMaillage</a:t>
            </a:r>
            <a:r>
              <a:rPr lang="en-US" sz="1400" dirty="0">
                <a:solidFill>
                  <a:schemeClr val="tx1"/>
                </a:solidFill>
                <a:latin typeface="+mj-lt"/>
              </a:rPr>
              <a:t>“ &gt;</a:t>
            </a:r>
          </a:p>
          <a:p>
            <a:pPr marL="36000">
              <a:spcBef>
                <a:spcPts val="0"/>
              </a:spcBef>
              <a:spcAft>
                <a:spcPts val="0"/>
              </a:spcAft>
            </a:pPr>
            <a:r>
              <a:rPr lang="en-US" sz="1400" dirty="0">
                <a:solidFill>
                  <a:schemeClr val="tx1"/>
                </a:solidFill>
                <a:latin typeface="+mj-lt"/>
              </a:rPr>
              <a:t>     &lt; ns1:fichier&gt;/</a:t>
            </a:r>
            <a:r>
              <a:rPr lang="en-US" sz="1400" dirty="0" err="1">
                <a:solidFill>
                  <a:schemeClr val="tx1"/>
                </a:solidFill>
                <a:latin typeface="+mj-lt"/>
              </a:rPr>
              <a:t>tmp</a:t>
            </a:r>
            <a:r>
              <a:rPr lang="en-US" sz="1400" dirty="0">
                <a:solidFill>
                  <a:schemeClr val="tx1"/>
                </a:solidFill>
                <a:latin typeface="+mj-lt"/>
              </a:rPr>
              <a:t>/</a:t>
            </a:r>
            <a:r>
              <a:rPr lang="en-US" sz="1400" dirty="0" err="1">
                <a:solidFill>
                  <a:schemeClr val="tx1"/>
                </a:solidFill>
                <a:latin typeface="+mj-lt"/>
              </a:rPr>
              <a:t>myFile.med</a:t>
            </a:r>
            <a:r>
              <a:rPr lang="en-US" sz="1400" dirty="0">
                <a:solidFill>
                  <a:schemeClr val="tx1"/>
                </a:solidFill>
                <a:latin typeface="+mj-lt"/>
              </a:rPr>
              <a:t>&lt; /ns1:fichier&gt;</a:t>
            </a:r>
          </a:p>
          <a:p>
            <a:pPr marL="36000">
              <a:spcBef>
                <a:spcPts val="0"/>
              </a:spcBef>
              <a:spcAft>
                <a:spcPts val="0"/>
              </a:spcAft>
            </a:pPr>
            <a:r>
              <a:rPr lang="en-US" sz="1400" dirty="0">
                <a:solidFill>
                  <a:schemeClr val="tx1"/>
                </a:solidFill>
                <a:latin typeface="+mj-lt"/>
              </a:rPr>
              <a:t>&lt;/ns1:Maillage&gt;</a:t>
            </a:r>
          </a:p>
          <a:p>
            <a:pPr marL="36000">
              <a:spcBef>
                <a:spcPts val="0"/>
              </a:spcBef>
              <a:spcAft>
                <a:spcPts val="0"/>
              </a:spcAft>
            </a:pPr>
            <a:r>
              <a:rPr lang="en-US" sz="1400" dirty="0">
                <a:solidFill>
                  <a:schemeClr val="tx1"/>
                </a:solidFill>
                <a:latin typeface="+mj-lt"/>
              </a:rPr>
              <a:t>&lt;ns1:Champ </a:t>
            </a:r>
            <a:r>
              <a:rPr lang="en-US" sz="1400" dirty="0" err="1">
                <a:solidFill>
                  <a:schemeClr val="tx1"/>
                </a:solidFill>
                <a:latin typeface="+mj-lt"/>
              </a:rPr>
              <a:t>accasType</a:t>
            </a:r>
            <a:r>
              <a:rPr lang="en-US" sz="1400" dirty="0">
                <a:solidFill>
                  <a:schemeClr val="tx1"/>
                </a:solidFill>
                <a:latin typeface="+mj-lt"/>
              </a:rPr>
              <a:t>="ASSD" </a:t>
            </a:r>
            <a:r>
              <a:rPr lang="en-US" sz="1400" dirty="0" err="1">
                <a:solidFill>
                  <a:schemeClr val="tx1"/>
                </a:solidFill>
                <a:latin typeface="+mj-lt"/>
              </a:rPr>
              <a:t>typeUtilisateur</a:t>
            </a:r>
            <a:r>
              <a:rPr lang="en-US" sz="1400" dirty="0">
                <a:solidFill>
                  <a:schemeClr val="tx1"/>
                </a:solidFill>
                <a:latin typeface="+mj-lt"/>
              </a:rPr>
              <a:t>=“champ" name=“</a:t>
            </a:r>
            <a:r>
              <a:rPr lang="en-US" sz="1400" dirty="0" err="1">
                <a:solidFill>
                  <a:schemeClr val="tx1"/>
                </a:solidFill>
                <a:latin typeface="+mj-lt"/>
              </a:rPr>
              <a:t>MonChamp</a:t>
            </a:r>
            <a:r>
              <a:rPr lang="en-US" sz="1400" dirty="0">
                <a:solidFill>
                  <a:schemeClr val="tx1"/>
                </a:solidFill>
                <a:latin typeface="+mj-lt"/>
              </a:rPr>
              <a:t>"&gt;</a:t>
            </a:r>
          </a:p>
          <a:p>
            <a:pPr marL="36000">
              <a:spcBef>
                <a:spcPts val="0"/>
              </a:spcBef>
              <a:spcAft>
                <a:spcPts val="0"/>
              </a:spcAft>
            </a:pPr>
            <a:r>
              <a:rPr lang="en-US" sz="1400" dirty="0">
                <a:solidFill>
                  <a:schemeClr val="tx1"/>
                </a:solidFill>
                <a:latin typeface="+mj-lt"/>
              </a:rPr>
              <a:t>     &lt;ns1:surLeMaillage&gt;</a:t>
            </a:r>
            <a:r>
              <a:rPr lang="en-US" sz="1400" dirty="0" err="1">
                <a:solidFill>
                  <a:schemeClr val="tx1"/>
                </a:solidFill>
                <a:latin typeface="+mj-lt"/>
              </a:rPr>
              <a:t>MonMaillage</a:t>
            </a:r>
            <a:r>
              <a:rPr lang="en-US" sz="1400" dirty="0">
                <a:solidFill>
                  <a:schemeClr val="tx1"/>
                </a:solidFill>
                <a:latin typeface="+mj-lt"/>
              </a:rPr>
              <a:t>&lt;/ns1:surLeMaillage&gt;</a:t>
            </a:r>
          </a:p>
          <a:p>
            <a:pPr marL="36000">
              <a:spcBef>
                <a:spcPts val="0"/>
              </a:spcBef>
              <a:spcAft>
                <a:spcPts val="0"/>
              </a:spcAft>
            </a:pPr>
            <a:r>
              <a:rPr lang="en-US" sz="1400" dirty="0">
                <a:solidFill>
                  <a:schemeClr val="tx1"/>
                </a:solidFill>
                <a:latin typeface="+mj-lt"/>
              </a:rPr>
              <a:t>&lt;/ns1:Champ&gt;</a:t>
            </a:r>
          </a:p>
        </p:txBody>
      </p:sp>
      <p:sp>
        <p:nvSpPr>
          <p:cNvPr id="12" name="Rectangle 11"/>
          <p:cNvSpPr/>
          <p:nvPr/>
        </p:nvSpPr>
        <p:spPr>
          <a:xfrm>
            <a:off x="432091" y="1154761"/>
            <a:ext cx="1062555" cy="369332"/>
          </a:xfrm>
          <a:prstGeom prst="rect">
            <a:avLst/>
          </a:prstGeom>
          <a:noFill/>
        </p:spPr>
        <p:txBody>
          <a:bodyPr wrap="square">
            <a:spAutoFit/>
          </a:bodyPr>
          <a:lstStyle/>
          <a:p>
            <a:pPr eaLnBrk="1">
              <a:spcBef>
                <a:spcPts val="300"/>
              </a:spcBef>
              <a:buClr>
                <a:srgbClr val="001A70"/>
              </a:buClr>
              <a:defRPr/>
            </a:pPr>
            <a:r>
              <a:rPr lang="fr-FR" altLang="fr-FR" dirty="0">
                <a:solidFill>
                  <a:srgbClr val="000000"/>
                </a:solidFill>
                <a:latin typeface="Arial"/>
                <a:cs typeface="Arial"/>
              </a:rPr>
              <a:t>XML</a:t>
            </a:r>
          </a:p>
        </p:txBody>
      </p:sp>
    </p:spTree>
    <p:extLst>
      <p:ext uri="{BB962C8B-B14F-4D97-AF65-F5344CB8AC3E}">
        <p14:creationId xmlns:p14="http://schemas.microsoft.com/office/powerpoint/2010/main" val="212086113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425450" y="721712"/>
            <a:ext cx="8820472" cy="560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indent="-285750" eaLnBrk="1">
              <a:spcBef>
                <a:spcPts val="300"/>
              </a:spcBef>
              <a:buClr>
                <a:srgbClr val="001A70"/>
              </a:buClr>
            </a:pPr>
            <a:endParaRPr lang="fr-FR" altLang="fr-FR">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fr-FR" altLang="fr-FR">
                <a:solidFill>
                  <a:srgbClr val="000000"/>
                </a:solidFill>
                <a:cs typeface="Arial" panose="020B0604020202020204" pitchFamily="34" charset="0"/>
              </a:rPr>
              <a:t> </a:t>
            </a:r>
            <a:r>
              <a:rPr lang="fr-FR" altLang="fr-FR" sz="2000">
                <a:solidFill>
                  <a:srgbClr val="002060"/>
                </a:solidFill>
                <a:cs typeface="Arial" panose="020B0604020202020204" pitchFamily="34" charset="0"/>
              </a:rPr>
              <a:t>Dans un workflow Salomé pour le projet VIMMP</a:t>
            </a:r>
          </a:p>
        </p:txBody>
      </p:sp>
      <p:sp>
        <p:nvSpPr>
          <p:cNvPr id="8196"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A9BD7D42-A2ED-4565-BD42-F078AED35E70}" type="slidenum">
              <a:rPr lang="fr-FR" altLang="fr-FR" sz="900">
                <a:latin typeface="Times New Roman" panose="02020603050405020304" pitchFamily="18" charset="0"/>
                <a:cs typeface="Arial" panose="020B0604020202020204" pitchFamily="34" charset="0"/>
              </a:rPr>
              <a:pPr algn="r" eaLnBrk="1" hangingPunct="1">
                <a:buClrTx/>
                <a:buFontTx/>
                <a:buNone/>
              </a:pPr>
              <a:t>43</a:t>
            </a:fld>
            <a:endParaRPr lang="fr-FR" altLang="fr-FR" sz="900">
              <a:latin typeface="Times New Roman" panose="02020603050405020304" pitchFamily="18" charset="0"/>
              <a:cs typeface="Arial" panose="020B0604020202020204" pitchFamily="34" charset="0"/>
            </a:endParaRPr>
          </a:p>
        </p:txBody>
      </p:sp>
      <p:grpSp>
        <p:nvGrpSpPr>
          <p:cNvPr id="5" name="Groupe 4"/>
          <p:cNvGrpSpPr/>
          <p:nvPr/>
        </p:nvGrpSpPr>
        <p:grpSpPr>
          <a:xfrm>
            <a:off x="824033" y="1509889"/>
            <a:ext cx="7862767" cy="1712767"/>
            <a:chOff x="467544" y="1789493"/>
            <a:chExt cx="8294815" cy="1712767"/>
          </a:xfrm>
        </p:grpSpPr>
        <p:grpSp>
          <p:nvGrpSpPr>
            <p:cNvPr id="6" name="Groupe 5"/>
            <p:cNvGrpSpPr/>
            <p:nvPr/>
          </p:nvGrpSpPr>
          <p:grpSpPr>
            <a:xfrm>
              <a:off x="467544" y="2271654"/>
              <a:ext cx="864096" cy="936104"/>
              <a:chOff x="683568" y="2492896"/>
              <a:chExt cx="864096" cy="936104"/>
            </a:xfrm>
          </p:grpSpPr>
          <p:sp>
            <p:nvSpPr>
              <p:cNvPr id="42" name="Rectangle à coins arrondis 41"/>
              <p:cNvSpPr/>
              <p:nvPr/>
            </p:nvSpPr>
            <p:spPr bwMode="auto">
              <a:xfrm>
                <a:off x="683568" y="2492896"/>
                <a:ext cx="864096"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3" name="ZoneTexte 42"/>
              <p:cNvSpPr txBox="1"/>
              <p:nvPr/>
            </p:nvSpPr>
            <p:spPr>
              <a:xfrm>
                <a:off x="791580" y="2699338"/>
                <a:ext cx="648072" cy="523220"/>
              </a:xfrm>
              <a:prstGeom prst="rect">
                <a:avLst/>
              </a:prstGeom>
              <a:noFill/>
            </p:spPr>
            <p:txBody>
              <a:bodyPr wrap="square" rtlCol="0">
                <a:spAutoFit/>
              </a:bodyPr>
              <a:lstStyle/>
              <a:p>
                <a:pPr algn="ctr"/>
                <a:r>
                  <a:rPr lang="en-US" sz="1400">
                    <a:latin typeface="+mn-lt"/>
                  </a:rPr>
                  <a:t>Input data</a:t>
                </a:r>
              </a:p>
            </p:txBody>
          </p:sp>
        </p:grpSp>
        <p:cxnSp>
          <p:nvCxnSpPr>
            <p:cNvPr id="7" name="Connecteur droit avec flèche 6"/>
            <p:cNvCxnSpPr/>
            <p:nvPr/>
          </p:nvCxnSpPr>
          <p:spPr bwMode="auto">
            <a:xfrm flipV="1">
              <a:off x="1331640" y="2559686"/>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 name="Groupe 7"/>
            <p:cNvGrpSpPr/>
            <p:nvPr/>
          </p:nvGrpSpPr>
          <p:grpSpPr>
            <a:xfrm>
              <a:off x="1723048" y="2271654"/>
              <a:ext cx="1656184" cy="1010816"/>
              <a:chOff x="2411760" y="2492896"/>
              <a:chExt cx="1656184" cy="1010816"/>
            </a:xfrm>
          </p:grpSpPr>
          <p:sp>
            <p:nvSpPr>
              <p:cNvPr id="37" name="Rectangle à coins arrondis 36"/>
              <p:cNvSpPr/>
              <p:nvPr/>
            </p:nvSpPr>
            <p:spPr bwMode="auto">
              <a:xfrm>
                <a:off x="2411760" y="2492896"/>
                <a:ext cx="1656184"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8" name="Rectangle 37"/>
              <p:cNvSpPr/>
              <p:nvPr/>
            </p:nvSpPr>
            <p:spPr bwMode="auto">
              <a:xfrm>
                <a:off x="2833328" y="2492896"/>
                <a:ext cx="824284" cy="936104"/>
              </a:xfrm>
              <a:prstGeom prst="rect">
                <a:avLst/>
              </a:prstGeom>
              <a:solidFill>
                <a:srgbClr val="4F81BD"/>
              </a:solidFill>
              <a:ln w="9525" algn="ctr">
                <a:solidFill>
                  <a:schemeClr val="tx2"/>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9" name="ZoneTexte 38"/>
              <p:cNvSpPr txBox="1"/>
              <p:nvPr/>
            </p:nvSpPr>
            <p:spPr>
              <a:xfrm>
                <a:off x="2483768" y="2513697"/>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40" name="ZoneTexte 39"/>
              <p:cNvSpPr txBox="1"/>
              <p:nvPr/>
            </p:nvSpPr>
            <p:spPr>
              <a:xfrm>
                <a:off x="3707904" y="2513216"/>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41" name="ZoneTexte 40"/>
              <p:cNvSpPr txBox="1"/>
              <p:nvPr/>
            </p:nvSpPr>
            <p:spPr>
              <a:xfrm>
                <a:off x="2915816" y="2699338"/>
                <a:ext cx="648072" cy="523220"/>
              </a:xfrm>
              <a:prstGeom prst="rect">
                <a:avLst/>
              </a:prstGeom>
              <a:noFill/>
            </p:spPr>
            <p:txBody>
              <a:bodyPr wrap="square" rtlCol="0">
                <a:spAutoFit/>
              </a:bodyPr>
              <a:lstStyle/>
              <a:p>
                <a:pPr algn="ctr"/>
                <a:r>
                  <a:rPr lang="en-US" sz="1400">
                    <a:solidFill>
                      <a:schemeClr val="bg1"/>
                    </a:solidFill>
                    <a:latin typeface="+mn-lt"/>
                  </a:rPr>
                  <a:t>DPD code</a:t>
                </a:r>
              </a:p>
            </p:txBody>
          </p:sp>
        </p:grpSp>
        <p:grpSp>
          <p:nvGrpSpPr>
            <p:cNvPr id="9" name="Groupe 8"/>
            <p:cNvGrpSpPr/>
            <p:nvPr/>
          </p:nvGrpSpPr>
          <p:grpSpPr>
            <a:xfrm>
              <a:off x="7898263" y="2267015"/>
              <a:ext cx="864096" cy="936104"/>
              <a:chOff x="1835696" y="4126153"/>
              <a:chExt cx="864096" cy="936104"/>
            </a:xfrm>
          </p:grpSpPr>
          <p:sp>
            <p:nvSpPr>
              <p:cNvPr id="35" name="Rectangle à coins arrondis 34"/>
              <p:cNvSpPr/>
              <p:nvPr/>
            </p:nvSpPr>
            <p:spPr bwMode="auto">
              <a:xfrm>
                <a:off x="1835696" y="4126153"/>
                <a:ext cx="864096"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6" name="ZoneTexte 35"/>
              <p:cNvSpPr txBox="1"/>
              <p:nvPr/>
            </p:nvSpPr>
            <p:spPr>
              <a:xfrm>
                <a:off x="1835696" y="4332595"/>
                <a:ext cx="864096" cy="523220"/>
              </a:xfrm>
              <a:prstGeom prst="rect">
                <a:avLst/>
              </a:prstGeom>
              <a:noFill/>
            </p:spPr>
            <p:txBody>
              <a:bodyPr wrap="square" rtlCol="0">
                <a:spAutoFit/>
              </a:bodyPr>
              <a:lstStyle/>
              <a:p>
                <a:pPr algn="ctr"/>
                <a:r>
                  <a:rPr lang="en-US" sz="1400">
                    <a:latin typeface="+mn-lt"/>
                  </a:rPr>
                  <a:t>Output data</a:t>
                </a:r>
              </a:p>
            </p:txBody>
          </p:sp>
        </p:grpSp>
        <p:grpSp>
          <p:nvGrpSpPr>
            <p:cNvPr id="10" name="Groupe 9"/>
            <p:cNvGrpSpPr/>
            <p:nvPr/>
          </p:nvGrpSpPr>
          <p:grpSpPr>
            <a:xfrm>
              <a:off x="5820511" y="2271173"/>
              <a:ext cx="1656184" cy="1010816"/>
              <a:chOff x="6660232" y="2492895"/>
              <a:chExt cx="1656184" cy="1010816"/>
            </a:xfrm>
          </p:grpSpPr>
          <p:sp>
            <p:nvSpPr>
              <p:cNvPr id="30" name="Rectangle à coins arrondis 29"/>
              <p:cNvSpPr/>
              <p:nvPr/>
            </p:nvSpPr>
            <p:spPr bwMode="auto">
              <a:xfrm>
                <a:off x="6660232" y="2492895"/>
                <a:ext cx="1656184"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1" name="Rectangle 30"/>
              <p:cNvSpPr/>
              <p:nvPr/>
            </p:nvSpPr>
            <p:spPr bwMode="auto">
              <a:xfrm>
                <a:off x="7081800" y="2492895"/>
                <a:ext cx="824284" cy="936104"/>
              </a:xfrm>
              <a:prstGeom prst="rect">
                <a:avLst/>
              </a:prstGeom>
              <a:solidFill>
                <a:srgbClr val="4F81BD"/>
              </a:solidFill>
              <a:ln w="9525" algn="ctr">
                <a:solidFill>
                  <a:schemeClr val="tx2"/>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2" name="ZoneTexte 31"/>
              <p:cNvSpPr txBox="1"/>
              <p:nvPr/>
            </p:nvSpPr>
            <p:spPr>
              <a:xfrm>
                <a:off x="6732240" y="2513696"/>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33" name="ZoneTexte 32"/>
              <p:cNvSpPr txBox="1"/>
              <p:nvPr/>
            </p:nvSpPr>
            <p:spPr>
              <a:xfrm>
                <a:off x="7956376" y="2513215"/>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34" name="ZoneTexte 33"/>
              <p:cNvSpPr txBox="1"/>
              <p:nvPr/>
            </p:nvSpPr>
            <p:spPr>
              <a:xfrm>
                <a:off x="7164288" y="2699337"/>
                <a:ext cx="648072" cy="523220"/>
              </a:xfrm>
              <a:prstGeom prst="rect">
                <a:avLst/>
              </a:prstGeom>
              <a:noFill/>
            </p:spPr>
            <p:txBody>
              <a:bodyPr wrap="square" rtlCol="0">
                <a:spAutoFit/>
              </a:bodyPr>
              <a:lstStyle/>
              <a:p>
                <a:pPr algn="ctr"/>
                <a:r>
                  <a:rPr lang="en-US" sz="1400">
                    <a:solidFill>
                      <a:schemeClr val="bg1"/>
                    </a:solidFill>
                    <a:latin typeface="+mn-lt"/>
                  </a:rPr>
                  <a:t>CFD code</a:t>
                </a:r>
              </a:p>
            </p:txBody>
          </p:sp>
        </p:grpSp>
        <p:cxnSp>
          <p:nvCxnSpPr>
            <p:cNvPr id="11" name="Connecteur droit avec flèche 10"/>
            <p:cNvCxnSpPr/>
            <p:nvPr/>
          </p:nvCxnSpPr>
          <p:spPr bwMode="auto">
            <a:xfrm flipV="1">
              <a:off x="3383868" y="2735069"/>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avec flèche 11"/>
            <p:cNvCxnSpPr/>
            <p:nvPr/>
          </p:nvCxnSpPr>
          <p:spPr bwMode="auto">
            <a:xfrm flipV="1">
              <a:off x="4859304" y="2556773"/>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droit avec flèche 12"/>
            <p:cNvCxnSpPr/>
            <p:nvPr/>
          </p:nvCxnSpPr>
          <p:spPr bwMode="auto">
            <a:xfrm flipV="1">
              <a:off x="7492171" y="2735067"/>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droit 13"/>
            <p:cNvCxnSpPr/>
            <p:nvPr/>
          </p:nvCxnSpPr>
          <p:spPr bwMode="auto">
            <a:xfrm>
              <a:off x="1331640" y="2996677"/>
              <a:ext cx="205864"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p:cNvCxnSpPr/>
            <p:nvPr/>
          </p:nvCxnSpPr>
          <p:spPr bwMode="auto">
            <a:xfrm>
              <a:off x="1537504" y="2996677"/>
              <a:ext cx="0" cy="4991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droit 15"/>
            <p:cNvCxnSpPr/>
            <p:nvPr/>
          </p:nvCxnSpPr>
          <p:spPr bwMode="auto">
            <a:xfrm flipV="1">
              <a:off x="1537504" y="3490847"/>
              <a:ext cx="4094296" cy="114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p:cNvCxnSpPr/>
            <p:nvPr/>
          </p:nvCxnSpPr>
          <p:spPr bwMode="auto">
            <a:xfrm>
              <a:off x="5631800" y="2991734"/>
              <a:ext cx="0" cy="4991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avec flèche 17"/>
            <p:cNvCxnSpPr/>
            <p:nvPr/>
          </p:nvCxnSpPr>
          <p:spPr bwMode="auto">
            <a:xfrm flipV="1">
              <a:off x="5631879" y="2989318"/>
              <a:ext cx="197872" cy="488"/>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Rectangle 18"/>
            <p:cNvSpPr/>
            <p:nvPr/>
          </p:nvSpPr>
          <p:spPr bwMode="auto">
            <a:xfrm>
              <a:off x="1619672" y="2199646"/>
              <a:ext cx="607432" cy="1081862"/>
            </a:xfrm>
            <a:prstGeom prst="rect">
              <a:avLst/>
            </a:prstGeom>
            <a:noFill/>
            <a:ln w="19050" algn="ctr">
              <a:solidFill>
                <a:srgbClr val="8064A2"/>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0" name="Rectangle 19"/>
            <p:cNvSpPr/>
            <p:nvPr/>
          </p:nvSpPr>
          <p:spPr bwMode="auto">
            <a:xfrm>
              <a:off x="5725095" y="2199646"/>
              <a:ext cx="607432" cy="1081862"/>
            </a:xfrm>
            <a:prstGeom prst="rect">
              <a:avLst/>
            </a:prstGeom>
            <a:noFill/>
            <a:ln w="19050" algn="ctr">
              <a:solidFill>
                <a:srgbClr val="8064A2"/>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1" name="ZoneTexte 20"/>
            <p:cNvSpPr txBox="1"/>
            <p:nvPr/>
          </p:nvSpPr>
          <p:spPr>
            <a:xfrm>
              <a:off x="1441121" y="1789493"/>
              <a:ext cx="1029449" cy="307777"/>
            </a:xfrm>
            <a:prstGeom prst="rect">
              <a:avLst/>
            </a:prstGeom>
            <a:noFill/>
          </p:spPr>
          <p:txBody>
            <a:bodyPr wrap="none" rtlCol="0">
              <a:spAutoFit/>
            </a:bodyPr>
            <a:lstStyle/>
            <a:p>
              <a:r>
                <a:rPr lang="en-US" sz="1400">
                  <a:solidFill>
                    <a:srgbClr val="7030A0"/>
                  </a:solidFill>
                </a:rPr>
                <a:t>Generated</a:t>
              </a:r>
            </a:p>
          </p:txBody>
        </p:sp>
        <p:sp>
          <p:nvSpPr>
            <p:cNvPr id="22" name="ZoneTexte 21"/>
            <p:cNvSpPr txBox="1"/>
            <p:nvPr/>
          </p:nvSpPr>
          <p:spPr>
            <a:xfrm>
              <a:off x="5538584" y="1799107"/>
              <a:ext cx="1029449" cy="307777"/>
            </a:xfrm>
            <a:prstGeom prst="rect">
              <a:avLst/>
            </a:prstGeom>
            <a:noFill/>
          </p:spPr>
          <p:txBody>
            <a:bodyPr wrap="none" rtlCol="0">
              <a:spAutoFit/>
            </a:bodyPr>
            <a:lstStyle/>
            <a:p>
              <a:r>
                <a:rPr lang="en-US" sz="1400">
                  <a:solidFill>
                    <a:srgbClr val="7030A0"/>
                  </a:solidFill>
                </a:rPr>
                <a:t>Generated</a:t>
              </a:r>
            </a:p>
          </p:txBody>
        </p:sp>
        <p:grpSp>
          <p:nvGrpSpPr>
            <p:cNvPr id="23" name="Groupe 22"/>
            <p:cNvGrpSpPr/>
            <p:nvPr/>
          </p:nvGrpSpPr>
          <p:grpSpPr>
            <a:xfrm>
              <a:off x="3767832" y="2281627"/>
              <a:ext cx="1656184" cy="1010816"/>
              <a:chOff x="2411760" y="2492896"/>
              <a:chExt cx="1656184" cy="1010816"/>
            </a:xfrm>
          </p:grpSpPr>
          <p:sp>
            <p:nvSpPr>
              <p:cNvPr id="25" name="Rectangle à coins arrondis 24"/>
              <p:cNvSpPr/>
              <p:nvPr/>
            </p:nvSpPr>
            <p:spPr bwMode="auto">
              <a:xfrm>
                <a:off x="2411760" y="2492896"/>
                <a:ext cx="1656184"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6" name="Rectangle 25"/>
              <p:cNvSpPr/>
              <p:nvPr/>
            </p:nvSpPr>
            <p:spPr bwMode="auto">
              <a:xfrm>
                <a:off x="2833328" y="2492896"/>
                <a:ext cx="824284" cy="936104"/>
              </a:xfrm>
              <a:prstGeom prst="rect">
                <a:avLst/>
              </a:prstGeom>
              <a:solidFill>
                <a:schemeClr val="accent6">
                  <a:lumMod val="50000"/>
                </a:schemeClr>
              </a:solidFill>
              <a:ln w="9525" algn="ctr">
                <a:solidFill>
                  <a:schemeClr val="tx2"/>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7" name="ZoneTexte 26"/>
              <p:cNvSpPr txBox="1"/>
              <p:nvPr/>
            </p:nvSpPr>
            <p:spPr>
              <a:xfrm>
                <a:off x="2483768" y="2513697"/>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28" name="ZoneTexte 27"/>
              <p:cNvSpPr txBox="1"/>
              <p:nvPr/>
            </p:nvSpPr>
            <p:spPr>
              <a:xfrm>
                <a:off x="3707904" y="2513216"/>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29" name="ZoneTexte 28"/>
              <p:cNvSpPr txBox="1"/>
              <p:nvPr/>
            </p:nvSpPr>
            <p:spPr>
              <a:xfrm>
                <a:off x="2729314" y="2702713"/>
                <a:ext cx="987294" cy="523220"/>
              </a:xfrm>
              <a:prstGeom prst="rect">
                <a:avLst/>
              </a:prstGeom>
              <a:noFill/>
            </p:spPr>
            <p:txBody>
              <a:bodyPr wrap="square" rtlCol="0">
                <a:spAutoFit/>
              </a:bodyPr>
              <a:lstStyle/>
              <a:p>
                <a:pPr algn="ctr"/>
                <a:r>
                  <a:rPr lang="en-US" sz="1400">
                    <a:solidFill>
                      <a:schemeClr val="bg1"/>
                    </a:solidFill>
                    <a:latin typeface="+mn-lt"/>
                  </a:rPr>
                  <a:t>MAPPER DPD2CFD</a:t>
                </a:r>
              </a:p>
            </p:txBody>
          </p:sp>
        </p:grpSp>
        <p:cxnSp>
          <p:nvCxnSpPr>
            <p:cNvPr id="24" name="Connecteur droit avec flèche 23"/>
            <p:cNvCxnSpPr/>
            <p:nvPr/>
          </p:nvCxnSpPr>
          <p:spPr bwMode="auto">
            <a:xfrm flipV="1">
              <a:off x="5427074" y="2556773"/>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4" name="Groupe 43"/>
          <p:cNvGrpSpPr/>
          <p:nvPr/>
        </p:nvGrpSpPr>
        <p:grpSpPr>
          <a:xfrm>
            <a:off x="828895" y="3984171"/>
            <a:ext cx="6408712" cy="1944216"/>
            <a:chOff x="683568" y="1124744"/>
            <a:chExt cx="7632848" cy="3312368"/>
          </a:xfrm>
        </p:grpSpPr>
        <p:sp>
          <p:nvSpPr>
            <p:cNvPr id="45" name="Rectangle à coins arrondis 44"/>
            <p:cNvSpPr/>
            <p:nvPr/>
          </p:nvSpPr>
          <p:spPr bwMode="auto">
            <a:xfrm>
              <a:off x="683568" y="1124744"/>
              <a:ext cx="7632848" cy="3312368"/>
            </a:xfrm>
            <a:prstGeom prst="roundRect">
              <a:avLst/>
            </a:prstGeom>
            <a:solidFill>
              <a:schemeClr val="accent6">
                <a:lumMod val="20000"/>
                <a:lumOff val="80000"/>
              </a:schemeClr>
            </a:solidFill>
            <a:ln w="9525" algn="ctr">
              <a:solidFill>
                <a:schemeClr val="accent6">
                  <a:lumMod val="20000"/>
                  <a:lumOff val="80000"/>
                </a:schemeClr>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6" name="Rectangle à coins arrondis 45"/>
            <p:cNvSpPr/>
            <p:nvPr/>
          </p:nvSpPr>
          <p:spPr bwMode="auto">
            <a:xfrm>
              <a:off x="1187624" y="1372126"/>
              <a:ext cx="6761809" cy="369332"/>
            </a:xfrm>
            <a:prstGeom prst="roundRect">
              <a:avLst/>
            </a:prstGeom>
            <a:solidFill>
              <a:schemeClr val="bg1"/>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7" name="ZoneTexte 46"/>
            <p:cNvSpPr txBox="1"/>
            <p:nvPr/>
          </p:nvSpPr>
          <p:spPr>
            <a:xfrm>
              <a:off x="1121807" y="1287262"/>
              <a:ext cx="6756370" cy="524361"/>
            </a:xfrm>
            <a:prstGeom prst="rect">
              <a:avLst/>
            </a:prstGeom>
            <a:noFill/>
          </p:spPr>
          <p:txBody>
            <a:bodyPr wrap="square" rtlCol="0">
              <a:spAutoFit/>
            </a:bodyPr>
            <a:lstStyle/>
            <a:p>
              <a:pPr algn="ctr"/>
              <a:r>
                <a:rPr lang="en-US" sz="1400">
                  <a:latin typeface="+mn-lt"/>
                </a:rPr>
                <a:t>Common catalogue for all VIMMP physics </a:t>
              </a:r>
            </a:p>
          </p:txBody>
        </p:sp>
        <p:sp>
          <p:nvSpPr>
            <p:cNvPr id="48" name="Rectangle à coins arrondis 47"/>
            <p:cNvSpPr/>
            <p:nvPr/>
          </p:nvSpPr>
          <p:spPr bwMode="auto">
            <a:xfrm>
              <a:off x="4781081" y="1957401"/>
              <a:ext cx="3168352" cy="864177"/>
            </a:xfrm>
            <a:prstGeom prst="roundRect">
              <a:avLst/>
            </a:prstGeom>
            <a:solidFill>
              <a:schemeClr val="accent6">
                <a:lumMod val="60000"/>
                <a:lumOff val="40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9" name="ZoneTexte 48"/>
            <p:cNvSpPr txBox="1"/>
            <p:nvPr/>
          </p:nvSpPr>
          <p:spPr>
            <a:xfrm>
              <a:off x="4884091" y="1956235"/>
              <a:ext cx="2831989" cy="307777"/>
            </a:xfrm>
            <a:prstGeom prst="rect">
              <a:avLst/>
            </a:prstGeom>
            <a:noFill/>
          </p:spPr>
          <p:txBody>
            <a:bodyPr wrap="square" rtlCol="0">
              <a:spAutoFit/>
            </a:bodyPr>
            <a:lstStyle/>
            <a:p>
              <a:pPr algn="ctr"/>
              <a:r>
                <a:rPr lang="en-US" sz="1400">
                  <a:latin typeface="+mn-lt"/>
                </a:rPr>
                <a:t>Common catalogue for CFD codes </a:t>
              </a:r>
            </a:p>
          </p:txBody>
        </p:sp>
        <p:sp>
          <p:nvSpPr>
            <p:cNvPr id="50" name="Rectangle à coins arrondis 49"/>
            <p:cNvSpPr/>
            <p:nvPr/>
          </p:nvSpPr>
          <p:spPr bwMode="auto">
            <a:xfrm>
              <a:off x="1196608" y="1947942"/>
              <a:ext cx="3168352" cy="864177"/>
            </a:xfrm>
            <a:prstGeom prst="roundRect">
              <a:avLst/>
            </a:prstGeom>
            <a:solidFill>
              <a:schemeClr val="accent6">
                <a:lumMod val="60000"/>
                <a:lumOff val="40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1" name="ZoneTexte 50"/>
            <p:cNvSpPr txBox="1"/>
            <p:nvPr/>
          </p:nvSpPr>
          <p:spPr>
            <a:xfrm>
              <a:off x="1316331" y="1959760"/>
              <a:ext cx="2831989" cy="307777"/>
            </a:xfrm>
            <a:prstGeom prst="rect">
              <a:avLst/>
            </a:prstGeom>
            <a:noFill/>
          </p:spPr>
          <p:txBody>
            <a:bodyPr wrap="square" rtlCol="0">
              <a:spAutoFit/>
            </a:bodyPr>
            <a:lstStyle/>
            <a:p>
              <a:pPr algn="ctr"/>
              <a:r>
                <a:rPr lang="en-US" sz="1400">
                  <a:latin typeface="+mn-lt"/>
                </a:rPr>
                <a:t>Common catalogue for DPD codes </a:t>
              </a:r>
            </a:p>
          </p:txBody>
        </p:sp>
        <p:sp>
          <p:nvSpPr>
            <p:cNvPr id="52" name="Rectangle à coins arrondis 51"/>
            <p:cNvSpPr/>
            <p:nvPr/>
          </p:nvSpPr>
          <p:spPr bwMode="auto">
            <a:xfrm>
              <a:off x="1484653" y="310250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3" name="ZoneTexte 52"/>
            <p:cNvSpPr txBox="1"/>
            <p:nvPr/>
          </p:nvSpPr>
          <p:spPr>
            <a:xfrm rot="16200000">
              <a:off x="1456670" y="3697167"/>
              <a:ext cx="704039" cy="307778"/>
            </a:xfrm>
            <a:prstGeom prst="rect">
              <a:avLst/>
            </a:prstGeom>
            <a:noFill/>
          </p:spPr>
          <p:txBody>
            <a:bodyPr wrap="none" rtlCol="0">
              <a:spAutoFit/>
            </a:bodyPr>
            <a:lstStyle/>
            <a:p>
              <a:r>
                <a:rPr lang="en-US" sz="1400">
                  <a:solidFill>
                    <a:schemeClr val="bg1"/>
                  </a:solidFill>
                  <a:latin typeface="+mn-lt"/>
                </a:rPr>
                <a:t>Code A</a:t>
              </a:r>
            </a:p>
          </p:txBody>
        </p:sp>
        <p:sp>
          <p:nvSpPr>
            <p:cNvPr id="54" name="Rectangle à coins arrondis 53"/>
            <p:cNvSpPr/>
            <p:nvPr/>
          </p:nvSpPr>
          <p:spPr bwMode="auto">
            <a:xfrm>
              <a:off x="2448077" y="3107048"/>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5" name="ZoneTexte 54"/>
            <p:cNvSpPr txBox="1"/>
            <p:nvPr/>
          </p:nvSpPr>
          <p:spPr>
            <a:xfrm rot="16200000">
              <a:off x="2400055" y="3701713"/>
              <a:ext cx="744115" cy="307778"/>
            </a:xfrm>
            <a:prstGeom prst="rect">
              <a:avLst/>
            </a:prstGeom>
            <a:noFill/>
          </p:spPr>
          <p:txBody>
            <a:bodyPr wrap="none" rtlCol="0">
              <a:spAutoFit/>
            </a:bodyPr>
            <a:lstStyle/>
            <a:p>
              <a:r>
                <a:rPr lang="en-US" sz="1400">
                  <a:solidFill>
                    <a:schemeClr val="bg1"/>
                  </a:solidFill>
                  <a:latin typeface="+mn-lt"/>
                </a:rPr>
                <a:t>Code A’</a:t>
              </a:r>
            </a:p>
          </p:txBody>
        </p:sp>
        <p:sp>
          <p:nvSpPr>
            <p:cNvPr id="56" name="Rectangle à coins arrondis 55"/>
            <p:cNvSpPr/>
            <p:nvPr/>
          </p:nvSpPr>
          <p:spPr bwMode="auto">
            <a:xfrm>
              <a:off x="3419872" y="310250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7" name="ZoneTexte 56"/>
            <p:cNvSpPr txBox="1"/>
            <p:nvPr/>
          </p:nvSpPr>
          <p:spPr>
            <a:xfrm rot="16200000">
              <a:off x="3352840" y="3697167"/>
              <a:ext cx="782136" cy="307778"/>
            </a:xfrm>
            <a:prstGeom prst="rect">
              <a:avLst/>
            </a:prstGeom>
            <a:noFill/>
          </p:spPr>
          <p:txBody>
            <a:bodyPr wrap="none" rtlCol="0">
              <a:spAutoFit/>
            </a:bodyPr>
            <a:lstStyle/>
            <a:p>
              <a:r>
                <a:rPr lang="en-US" sz="1400">
                  <a:solidFill>
                    <a:schemeClr val="bg1"/>
                  </a:solidFill>
                  <a:latin typeface="+mn-lt"/>
                </a:rPr>
                <a:t>Code A’’</a:t>
              </a:r>
            </a:p>
          </p:txBody>
        </p:sp>
        <p:sp>
          <p:nvSpPr>
            <p:cNvPr id="58" name="Rectangle à coins arrondis 57"/>
            <p:cNvSpPr/>
            <p:nvPr/>
          </p:nvSpPr>
          <p:spPr bwMode="auto">
            <a:xfrm>
              <a:off x="5085053" y="310594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9" name="ZoneTexte 58"/>
            <p:cNvSpPr txBox="1"/>
            <p:nvPr/>
          </p:nvSpPr>
          <p:spPr>
            <a:xfrm rot="16200000">
              <a:off x="5060275" y="3700607"/>
              <a:ext cx="697627" cy="307778"/>
            </a:xfrm>
            <a:prstGeom prst="rect">
              <a:avLst/>
            </a:prstGeom>
            <a:noFill/>
          </p:spPr>
          <p:txBody>
            <a:bodyPr wrap="none" rtlCol="0">
              <a:spAutoFit/>
            </a:bodyPr>
            <a:lstStyle/>
            <a:p>
              <a:r>
                <a:rPr lang="en-US" sz="1400">
                  <a:solidFill>
                    <a:schemeClr val="bg1"/>
                  </a:solidFill>
                  <a:latin typeface="+mn-lt"/>
                </a:rPr>
                <a:t>Code B</a:t>
              </a:r>
            </a:p>
          </p:txBody>
        </p:sp>
        <p:sp>
          <p:nvSpPr>
            <p:cNvPr id="60" name="Rectangle à coins arrondis 59"/>
            <p:cNvSpPr/>
            <p:nvPr/>
          </p:nvSpPr>
          <p:spPr bwMode="auto">
            <a:xfrm>
              <a:off x="6048477" y="3110488"/>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61" name="ZoneTexte 60"/>
            <p:cNvSpPr txBox="1"/>
            <p:nvPr/>
          </p:nvSpPr>
          <p:spPr>
            <a:xfrm rot="16200000">
              <a:off x="6001258" y="3705154"/>
              <a:ext cx="742512" cy="307778"/>
            </a:xfrm>
            <a:prstGeom prst="rect">
              <a:avLst/>
            </a:prstGeom>
            <a:noFill/>
          </p:spPr>
          <p:txBody>
            <a:bodyPr wrap="none" rtlCol="0">
              <a:spAutoFit/>
            </a:bodyPr>
            <a:lstStyle/>
            <a:p>
              <a:r>
                <a:rPr lang="en-US" sz="1400">
                  <a:solidFill>
                    <a:schemeClr val="bg1"/>
                  </a:solidFill>
                  <a:latin typeface="+mn-lt"/>
                </a:rPr>
                <a:t>Code B’</a:t>
              </a:r>
            </a:p>
          </p:txBody>
        </p:sp>
        <p:sp>
          <p:nvSpPr>
            <p:cNvPr id="62" name="Rectangle à coins arrondis 61"/>
            <p:cNvSpPr/>
            <p:nvPr/>
          </p:nvSpPr>
          <p:spPr bwMode="auto">
            <a:xfrm>
              <a:off x="7020272" y="310594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63" name="ZoneTexte 62"/>
            <p:cNvSpPr txBox="1"/>
            <p:nvPr/>
          </p:nvSpPr>
          <p:spPr>
            <a:xfrm rot="16200000">
              <a:off x="6950611" y="3700607"/>
              <a:ext cx="787396" cy="307778"/>
            </a:xfrm>
            <a:prstGeom prst="rect">
              <a:avLst/>
            </a:prstGeom>
            <a:noFill/>
          </p:spPr>
          <p:txBody>
            <a:bodyPr wrap="none" rtlCol="0">
              <a:spAutoFit/>
            </a:bodyPr>
            <a:lstStyle/>
            <a:p>
              <a:r>
                <a:rPr lang="en-US" sz="1400">
                  <a:solidFill>
                    <a:schemeClr val="bg1"/>
                  </a:solidFill>
                  <a:latin typeface="+mn-lt"/>
                </a:rPr>
                <a:t>Code B’’</a:t>
              </a:r>
            </a:p>
          </p:txBody>
        </p:sp>
      </p:grpSp>
      <p:sp>
        <p:nvSpPr>
          <p:cNvPr id="65" name="ZoneTexte 64"/>
          <p:cNvSpPr txBox="1"/>
          <p:nvPr/>
        </p:nvSpPr>
        <p:spPr>
          <a:xfrm>
            <a:off x="1127470" y="4112343"/>
            <a:ext cx="5672801" cy="307777"/>
          </a:xfrm>
          <a:prstGeom prst="rect">
            <a:avLst/>
          </a:prstGeom>
          <a:noFill/>
        </p:spPr>
        <p:txBody>
          <a:bodyPr wrap="square" rtlCol="0">
            <a:spAutoFit/>
          </a:bodyPr>
          <a:lstStyle/>
          <a:p>
            <a:pPr algn="ctr" defTabSz="914400" eaLnBrk="1" hangingPunct="1">
              <a:spcAft>
                <a:spcPct val="40000"/>
              </a:spcAft>
              <a:buFont typeface="Wingdings" pitchFamily="2" charset="2"/>
              <a:buNone/>
            </a:pPr>
            <a:r>
              <a:rPr lang="en-US" sz="1400" dirty="0">
                <a:solidFill>
                  <a:srgbClr val="000000"/>
                </a:solidFill>
                <a:latin typeface="Calibri" panose="020F0502020204030204"/>
                <a:cs typeface="+mn-cs"/>
              </a:rPr>
              <a:t>Common catalogue for all VIMMP physics </a:t>
            </a:r>
          </a:p>
        </p:txBody>
      </p:sp>
      <p:sp>
        <p:nvSpPr>
          <p:cNvPr id="66" name="Text Box 2"/>
          <p:cNvSpPr txBox="1">
            <a:spLocks noChangeArrowheads="1"/>
          </p:cNvSpPr>
          <p:nvPr/>
        </p:nvSpPr>
        <p:spPr bwMode="auto">
          <a:xfrm>
            <a:off x="10633" y="8898"/>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MDM : UTILISATION DANS LE PROJET VIMMP</a:t>
            </a:r>
          </a:p>
        </p:txBody>
      </p:sp>
    </p:spTree>
    <p:extLst>
      <p:ext uri="{BB962C8B-B14F-4D97-AF65-F5344CB8AC3E}">
        <p14:creationId xmlns:p14="http://schemas.microsoft.com/office/powerpoint/2010/main" val="284027402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44</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PERSPECTIVES</a:t>
            </a:r>
          </a:p>
        </p:txBody>
      </p:sp>
      <p:sp>
        <p:nvSpPr>
          <p:cNvPr id="5" name="Rectangle 4"/>
          <p:cNvSpPr/>
          <p:nvPr/>
        </p:nvSpPr>
        <p:spPr>
          <a:xfrm>
            <a:off x="-1" y="968874"/>
            <a:ext cx="9133367" cy="2793072"/>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Générer des pages html (et non </a:t>
            </a:r>
            <a:r>
              <a:rPr lang="fr-FR" altLang="fr-FR" sz="2000" dirty="0" err="1">
                <a:solidFill>
                  <a:srgbClr val="002060"/>
                </a:solidFill>
                <a:latin typeface="Arial"/>
                <a:cs typeface="Arial"/>
              </a:rPr>
              <a:t>qt</a:t>
            </a:r>
            <a:r>
              <a:rPr lang="fr-FR" altLang="fr-FR" sz="2000" dirty="0">
                <a:solidFill>
                  <a:srgbClr val="002060"/>
                </a:solidFill>
                <a:latin typeface="Arial"/>
                <a:cs typeface="Arial"/>
              </a:rPr>
              <a:t>) </a:t>
            </a: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Automatisation plus poussée avec un lien vers </a:t>
            </a:r>
            <a:r>
              <a:rPr lang="fr-FR" altLang="fr-FR" sz="2000" dirty="0" err="1">
                <a:solidFill>
                  <a:srgbClr val="002060"/>
                </a:solidFill>
                <a:latin typeface="Arial"/>
                <a:cs typeface="Arial"/>
              </a:rPr>
              <a:t>yacsgen</a:t>
            </a:r>
            <a:endParaRPr lang="fr-FR" alt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marL="457200" lvl="1" indent="0" eaLnBrk="1">
              <a:spcBef>
                <a:spcPts val="300"/>
              </a:spcBef>
              <a:buClr>
                <a:srgbClr val="001A70"/>
              </a:buClr>
              <a:defRPr/>
            </a:pPr>
            <a:endParaRPr lang="fr-FR" dirty="0">
              <a:solidFill>
                <a:srgbClr val="000000"/>
              </a:solidFill>
              <a:latin typeface="Arial"/>
              <a:cs typeface="Arial"/>
            </a:endParaRPr>
          </a:p>
        </p:txBody>
      </p:sp>
    </p:spTree>
    <p:extLst>
      <p:ext uri="{BB962C8B-B14F-4D97-AF65-F5344CB8AC3E}">
        <p14:creationId xmlns:p14="http://schemas.microsoft.com/office/powerpoint/2010/main" val="169403448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odèle par défaut">
      <a:majorFont>
        <a:latin typeface="Arial"/>
        <a:ea typeface="DejaVu Sans"/>
        <a:cs typeface="DejaVu Sans"/>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lnDef>
  </a:objectDefaults>
  <a:extraClrSchemeLst>
    <a:extraClrScheme>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èle par défau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èle par défau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èle par défau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hème 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lnDef>
  </a:objectDefaults>
  <a:extraClrSchemeLst>
    <a:extraClrScheme>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hèm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hèm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hèm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hèm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hèm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hèm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2018-03-27_VIMMP_Powerpoint-template-4-3">
  <a:themeElements>
    <a:clrScheme name="VIMMP colors">
      <a:dk1>
        <a:srgbClr val="000000"/>
      </a:dk1>
      <a:lt1>
        <a:srgbClr val="FFFFFF"/>
      </a:lt1>
      <a:dk2>
        <a:srgbClr val="12235A"/>
      </a:dk2>
      <a:lt2>
        <a:srgbClr val="ACCBF9"/>
      </a:lt2>
      <a:accent1>
        <a:srgbClr val="009F95"/>
      </a:accent1>
      <a:accent2>
        <a:srgbClr val="00D0CD"/>
      </a:accent2>
      <a:accent3>
        <a:srgbClr val="33D1CB"/>
      </a:accent3>
      <a:accent4>
        <a:srgbClr val="7F8FA9"/>
      </a:accent4>
      <a:accent5>
        <a:srgbClr val="5AA2AE"/>
      </a:accent5>
      <a:accent6>
        <a:srgbClr val="0068A3"/>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lgn="ctr">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wrap="square" lIns="72000" tIns="54000" rIns="72000" bIns="54000">
        <a:spAutoFit/>
      </a:bodyPr>
      <a:lstStyle>
        <a:defPPr marL="215900" indent="-215900">
          <a:spcAft>
            <a:spcPts val="563"/>
          </a:spcAft>
          <a:buClr>
            <a:schemeClr val="tx2"/>
          </a:buClr>
          <a:defRPr sz="1400" dirty="0"/>
        </a:defPPr>
      </a:lstStyle>
    </a:spDef>
    <a:lnDef>
      <a:spPr bwMode="auto">
        <a:noFill/>
        <a:ln w="9525" cap="flat" cmpd="sng" algn="ctr">
          <a:solidFill>
            <a:srgbClr val="179C7D"/>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lle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lle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lle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lle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lle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lle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lle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lle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lle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lle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lle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ullets 13">
        <a:dk1>
          <a:srgbClr val="000000"/>
        </a:dk1>
        <a:lt1>
          <a:srgbClr val="FFFFFF"/>
        </a:lt1>
        <a:dk2>
          <a:srgbClr val="000000"/>
        </a:dk2>
        <a:lt2>
          <a:srgbClr val="A8AFAF"/>
        </a:lt2>
        <a:accent1>
          <a:srgbClr val="009475"/>
        </a:accent1>
        <a:accent2>
          <a:srgbClr val="333399"/>
        </a:accent2>
        <a:accent3>
          <a:srgbClr val="FFFFFF"/>
        </a:accent3>
        <a:accent4>
          <a:srgbClr val="000000"/>
        </a:accent4>
        <a:accent5>
          <a:srgbClr val="AAC8B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llets 14">
        <a:dk1>
          <a:srgbClr val="000000"/>
        </a:dk1>
        <a:lt1>
          <a:srgbClr val="FFFFFF"/>
        </a:lt1>
        <a:dk2>
          <a:srgbClr val="000000"/>
        </a:dk2>
        <a:lt2>
          <a:srgbClr val="A8AFAF"/>
        </a:lt2>
        <a:accent1>
          <a:srgbClr val="009475"/>
        </a:accent1>
        <a:accent2>
          <a:srgbClr val="009475"/>
        </a:accent2>
        <a:accent3>
          <a:srgbClr val="FFFFFF"/>
        </a:accent3>
        <a:accent4>
          <a:srgbClr val="000000"/>
        </a:accent4>
        <a:accent5>
          <a:srgbClr val="AAC8BD"/>
        </a:accent5>
        <a:accent6>
          <a:srgbClr val="008669"/>
        </a:accent6>
        <a:hlink>
          <a:srgbClr val="009475"/>
        </a:hlink>
        <a:folHlink>
          <a:srgbClr val="009475"/>
        </a:folHlink>
      </a:clrScheme>
      <a:clrMap bg1="lt1" tx1="dk1" bg2="lt2" tx2="dk2" accent1="accent1" accent2="accent2" accent3="accent3" accent4="accent4" accent5="accent5" accent6="accent6" hlink="hlink" folHlink="folHlink"/>
    </a:extraClrScheme>
    <a:extraClrScheme>
      <a:clrScheme name="Bullets 15">
        <a:dk1>
          <a:srgbClr val="000000"/>
        </a:dk1>
        <a:lt1>
          <a:srgbClr val="FFFFFF"/>
        </a:lt1>
        <a:dk2>
          <a:srgbClr val="009475"/>
        </a:dk2>
        <a:lt2>
          <a:srgbClr val="A8AFAF"/>
        </a:lt2>
        <a:accent1>
          <a:srgbClr val="25BAE2"/>
        </a:accent1>
        <a:accent2>
          <a:srgbClr val="006E92"/>
        </a:accent2>
        <a:accent3>
          <a:srgbClr val="FFFFFF"/>
        </a:accent3>
        <a:accent4>
          <a:srgbClr val="000000"/>
        </a:accent4>
        <a:accent5>
          <a:srgbClr val="ACD9EE"/>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
      <a:clrScheme name="Bullets 16">
        <a:dk1>
          <a:srgbClr val="000000"/>
        </a:dk1>
        <a:lt1>
          <a:srgbClr val="FFFFFF"/>
        </a:lt1>
        <a:dk2>
          <a:srgbClr val="009475"/>
        </a:dk2>
        <a:lt2>
          <a:srgbClr val="25BAE2"/>
        </a:lt2>
        <a:accent1>
          <a:srgbClr val="009475"/>
        </a:accent1>
        <a:accent2>
          <a:srgbClr val="006E92"/>
        </a:accent2>
        <a:accent3>
          <a:srgbClr val="FFFFFF"/>
        </a:accent3>
        <a:accent4>
          <a:srgbClr val="000000"/>
        </a:accent4>
        <a:accent5>
          <a:srgbClr val="AAC8BD"/>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äsentation1" id="{B91A42FA-D4A7-7045-A010-841FBEADC7D3}" vid="{8894B5FA-A845-8249-9E4E-2E58113B8608}"/>
    </a:ext>
  </a:ext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1671</TotalTime>
  <Words>2884</Words>
  <Application>Microsoft Office PowerPoint</Application>
  <PresentationFormat>Affichage à l'écran (4:3)</PresentationFormat>
  <Paragraphs>829</Paragraphs>
  <Slides>44</Slides>
  <Notes>37</Notes>
  <HiddenSlides>0</HiddenSlides>
  <MMClips>0</MMClips>
  <ScaleCrop>false</ScaleCrop>
  <HeadingPairs>
    <vt:vector size="6" baseType="variant">
      <vt:variant>
        <vt:lpstr>Polices utilisées</vt:lpstr>
      </vt:variant>
      <vt:variant>
        <vt:i4>12</vt:i4>
      </vt:variant>
      <vt:variant>
        <vt:lpstr>Thème</vt:lpstr>
      </vt:variant>
      <vt:variant>
        <vt:i4>3</vt:i4>
      </vt:variant>
      <vt:variant>
        <vt:lpstr>Titres des diapositives</vt:lpstr>
      </vt:variant>
      <vt:variant>
        <vt:i4>44</vt:i4>
      </vt:variant>
    </vt:vector>
  </HeadingPairs>
  <TitlesOfParts>
    <vt:vector size="59" baseType="lpstr">
      <vt:lpstr>Arial</vt:lpstr>
      <vt:lpstr>Arial Black</vt:lpstr>
      <vt:lpstr>Arial,Sans-Serif</vt:lpstr>
      <vt:lpstr>Calibri</vt:lpstr>
      <vt:lpstr>Calibri Light</vt:lpstr>
      <vt:lpstr>Courier New</vt:lpstr>
      <vt:lpstr>DejaVu Sans</vt:lpstr>
      <vt:lpstr>Frutiger LT Com 45 Light</vt:lpstr>
      <vt:lpstr>Frutiger LT Com 55 Roman</vt:lpstr>
      <vt:lpstr>Source Han Sans TW Medium</vt:lpstr>
      <vt:lpstr>Times New Roman</vt:lpstr>
      <vt:lpstr>Wingdings</vt:lpstr>
      <vt:lpstr>Modèle par défaut</vt:lpstr>
      <vt:lpstr>Thème Office</vt:lpstr>
      <vt:lpstr>3_2018-03-27_VIMMP_Powerpoint-template-4-3</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Chantier Modèle de Données</dc:title>
  <dc:creator>NOYRET Pascale</dc:creator>
  <cp:lastModifiedBy>NOYRET Pascale</cp:lastModifiedBy>
  <cp:revision>185</cp:revision>
  <cp:lastPrinted>1601-01-01T00:00:00Z</cp:lastPrinted>
  <dcterms:created xsi:type="dcterms:W3CDTF">1601-01-01T00:00:00Z</dcterms:created>
  <dcterms:modified xsi:type="dcterms:W3CDTF">2021-03-10T09:21:44Z</dcterms:modified>
</cp:coreProperties>
</file>